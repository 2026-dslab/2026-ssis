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70"/>
  </p:notesMasterIdLst>
  <p:sldIdLst>
    <p:sldId id="29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6" r:id="rId40"/>
    <p:sldId id="297" r:id="rId41"/>
    <p:sldId id="298" r:id="rId42"/>
    <p:sldId id="307" r:id="rId43"/>
    <p:sldId id="308" r:id="rId44"/>
    <p:sldId id="309" r:id="rId45"/>
    <p:sldId id="310" r:id="rId46"/>
    <p:sldId id="311" r:id="rId47"/>
    <p:sldId id="302" r:id="rId48"/>
    <p:sldId id="299" r:id="rId49"/>
    <p:sldId id="312" r:id="rId50"/>
    <p:sldId id="304" r:id="rId51"/>
    <p:sldId id="313" r:id="rId52"/>
    <p:sldId id="314" r:id="rId53"/>
    <p:sldId id="315" r:id="rId54"/>
    <p:sldId id="305" r:id="rId55"/>
    <p:sldId id="306" r:id="rId56"/>
    <p:sldId id="300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</p:sldIdLst>
  <p:sldSz cx="18288000" cy="10287000"/>
  <p:notesSz cx="6858000" cy="9144000"/>
  <p:embeddedFontLst>
    <p:embeddedFont>
      <p:font typeface="프리텐다드" panose="020B0600000101010101" charset="-127"/>
      <p:regular r:id="rId71"/>
    </p:embeddedFont>
    <p:embeddedFont>
      <p:font typeface="프리텐다드 Bold" panose="020B0600000101010101" charset="-127"/>
      <p:regular r:id="rId72"/>
    </p:embeddedFont>
    <p:embeddedFont>
      <p:font typeface="Pretendard SemiBold" panose="02000703000000020004" pitchFamily="2" charset="-127"/>
      <p:bold r:id="rId73"/>
    </p:embeddedFont>
    <p:embeddedFont>
      <p:font typeface="맑은 고딕" panose="020B0503020000020004" pitchFamily="50" charset="-127"/>
      <p:regular r:id="rId74"/>
      <p:bold r:id="rId7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65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4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C5A1D-2CE7-479A-8854-AA8320BDD488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38380-A593-46E4-A533-F43A82C3D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57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38380-A593-46E4-A533-F43A82C3D4B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852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38380-A593-46E4-A533-F43A82C3D4B5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45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38380-A593-46E4-A533-F43A82C3D4B5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858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017C1-49CE-427D-B9B6-47AC41D41349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7EF6-391B-4B50-8E00-D0035522ACB9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0D33-F54C-4D9A-8349-2089C3B9ECAD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>
            <a:lvl1pPr>
              <a:defRPr b="1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982A-B14A-412C-B057-B0723FF26973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3280B-A909-41C7-AEA1-828BD9C0F77C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19CC-4D81-4777-BD4C-E397EF00C62A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002000" y="9791700"/>
            <a:ext cx="2133600" cy="365125"/>
          </a:xfrm>
        </p:spPr>
        <p:txBody>
          <a:bodyPr/>
          <a:lstStyle>
            <a:lvl1pPr>
              <a:defRPr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1D60-EAD9-46B1-9C4B-8C05046F9491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468600" y="9715500"/>
            <a:ext cx="2743200" cy="4413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sz="1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BB15-7B69-4EF9-8EA0-FC298382E2CD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309CC-F1B9-4BFC-9B8A-1FD4749685BA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1B87-24BB-4714-AA95-17F2E63B2A94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38DDD-1018-4EB9-9D6E-805B595CA454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3A149-1791-424B-8657-493E85CF2F44}" type="datetime1">
              <a:rPr lang="en-US" altLang="ko-KR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4.png"/><Relationship Id="rId7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.png"/><Relationship Id="rId4" Type="http://schemas.openxmlformats.org/officeDocument/2006/relationships/image" Target="../media/image48.png"/><Relationship Id="rId9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0.png"/><Relationship Id="rId7" Type="http://schemas.openxmlformats.org/officeDocument/2006/relationships/image" Target="../media/image5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4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8.png"/><Relationship Id="rId7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44.png"/><Relationship Id="rId4" Type="http://schemas.openxmlformats.org/officeDocument/2006/relationships/image" Target="../media/image59.png"/><Relationship Id="rId9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6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2.png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tribute-signs-nascar-sec.trycloudflare.com/%EC%A7%88%EB%AC%B8%ED%99%94%EB%A9%B4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4.png"/><Relationship Id="rId4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ders-cylinder-soldier-amended.trycloudflare.com/" TargetMode="External"/><Relationship Id="rId2" Type="http://schemas.openxmlformats.org/officeDocument/2006/relationships/hyperlink" Target="https://tribute-signs-nascar-sec.trycloudflare.com/%EC%A7%88%EB%AC%B8%ED%99%94%EB%A9%B4.html" TargetMode="Externa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3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1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F77ED-509E-0EAF-7159-CEEBECB2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43E12D-2A4E-EACF-E7B1-E5373A0D8190}"/>
              </a:ext>
            </a:extLst>
          </p:cNvPr>
          <p:cNvSpPr/>
          <p:nvPr/>
        </p:nvSpPr>
        <p:spPr>
          <a:xfrm rot="-5400000">
            <a:off x="17574786" y="382159"/>
            <a:ext cx="71874" cy="319441"/>
          </a:xfrm>
          <a:custGeom>
            <a:avLst/>
            <a:gdLst/>
            <a:ahLst/>
            <a:cxnLst/>
            <a:rect l="l" t="t" r="r" b="b"/>
            <a:pathLst>
              <a:path w="71874" h="319441">
                <a:moveTo>
                  <a:pt x="0" y="0"/>
                </a:moveTo>
                <a:lnTo>
                  <a:pt x="71875" y="0"/>
                </a:lnTo>
                <a:lnTo>
                  <a:pt x="71875" y="319441"/>
                </a:lnTo>
                <a:lnTo>
                  <a:pt x="0" y="319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A8D4336-04F1-1CC6-8807-1FFDED9EC943}"/>
              </a:ext>
            </a:extLst>
          </p:cNvPr>
          <p:cNvGrpSpPr/>
          <p:nvPr/>
        </p:nvGrpSpPr>
        <p:grpSpPr>
          <a:xfrm>
            <a:off x="1028700" y="6963678"/>
            <a:ext cx="2318646" cy="583671"/>
            <a:chOff x="0" y="0"/>
            <a:chExt cx="610672" cy="1537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A345C9-CC9A-DDD0-AE04-2A7B4ED6F285}"/>
                </a:ext>
              </a:extLst>
            </p:cNvPr>
            <p:cNvSpPr/>
            <p:nvPr/>
          </p:nvSpPr>
          <p:spPr>
            <a:xfrm>
              <a:off x="0" y="0"/>
              <a:ext cx="610672" cy="153724"/>
            </a:xfrm>
            <a:custGeom>
              <a:avLst/>
              <a:gdLst/>
              <a:ahLst/>
              <a:cxnLst/>
              <a:rect l="l" t="t" r="r" b="b"/>
              <a:pathLst>
                <a:path w="610672" h="153724">
                  <a:moveTo>
                    <a:pt x="66780" y="0"/>
                  </a:moveTo>
                  <a:lnTo>
                    <a:pt x="543892" y="0"/>
                  </a:lnTo>
                  <a:cubicBezTo>
                    <a:pt x="580774" y="0"/>
                    <a:pt x="610672" y="29898"/>
                    <a:pt x="610672" y="66780"/>
                  </a:cubicBezTo>
                  <a:lnTo>
                    <a:pt x="610672" y="86944"/>
                  </a:lnTo>
                  <a:cubicBezTo>
                    <a:pt x="610672" y="123826"/>
                    <a:pt x="580774" y="153724"/>
                    <a:pt x="543892" y="153724"/>
                  </a:cubicBezTo>
                  <a:lnTo>
                    <a:pt x="66780" y="153724"/>
                  </a:lnTo>
                  <a:cubicBezTo>
                    <a:pt x="29898" y="153724"/>
                    <a:pt x="0" y="123826"/>
                    <a:pt x="0" y="86944"/>
                  </a:cubicBezTo>
                  <a:lnTo>
                    <a:pt x="0" y="66780"/>
                  </a:lnTo>
                  <a:cubicBezTo>
                    <a:pt x="0" y="29898"/>
                    <a:pt x="29898" y="0"/>
                    <a:pt x="66780" y="0"/>
                  </a:cubicBez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E508B94-2AE8-93C9-12CB-07E5167BFD54}"/>
                </a:ext>
              </a:extLst>
            </p:cNvPr>
            <p:cNvSpPr txBox="1"/>
            <p:nvPr/>
          </p:nvSpPr>
          <p:spPr>
            <a:xfrm>
              <a:off x="0" y="9525"/>
              <a:ext cx="610672" cy="14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b="1" spc="-39" dirty="0" err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호박죽</a:t>
              </a:r>
              <a:endParaRPr lang="en-US" sz="1988" b="1" spc="-39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6B817B6-9159-FD7E-B8C9-3D0F07CCBFBF}"/>
              </a:ext>
            </a:extLst>
          </p:cNvPr>
          <p:cNvSpPr txBox="1"/>
          <p:nvPr/>
        </p:nvSpPr>
        <p:spPr>
          <a:xfrm>
            <a:off x="1028700" y="6339895"/>
            <a:ext cx="9451301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RAG · MCP ·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멀티에이전트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(MAS)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기반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상황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맞춤형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리스크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및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법리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해석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프레임워크</a:t>
            </a:r>
            <a:endParaRPr lang="en-US" sz="2000" b="1" spc="-82" dirty="0">
              <a:solidFill>
                <a:srgbClr val="333333">
                  <a:alpha val="93725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8B1ADE5D-5711-9447-0679-F55919BA9C26}"/>
              </a:ext>
            </a:extLst>
          </p:cNvPr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001BF97B-4240-2B39-9499-E625A6CCC9B5}"/>
              </a:ext>
            </a:extLst>
          </p:cNvPr>
          <p:cNvSpPr txBox="1"/>
          <p:nvPr/>
        </p:nvSpPr>
        <p:spPr>
          <a:xfrm>
            <a:off x="1028700" y="3197850"/>
            <a:ext cx="8402142" cy="43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4"/>
              </a:lnSpc>
            </a:pPr>
            <a:r>
              <a:rPr lang="en-US" sz="3142" b="1" spc="-62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AI 기반 기업 공정거래 리스크 진단 서비스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B338118D-53DA-32D7-D386-E9C3915E90F1}"/>
              </a:ext>
            </a:extLst>
          </p:cNvPr>
          <p:cNvSpPr txBox="1"/>
          <p:nvPr/>
        </p:nvSpPr>
        <p:spPr>
          <a:xfrm>
            <a:off x="1028700" y="4061077"/>
            <a:ext cx="4725650" cy="190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08"/>
              </a:lnSpc>
            </a:pPr>
            <a:r>
              <a:rPr lang="en-US" sz="14027" b="1" spc="-280" dirty="0" err="1">
                <a:solidFill>
                  <a:srgbClr val="454C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</a:t>
            </a:r>
            <a:endParaRPr lang="en-US" sz="14027" b="1" spc="-280" dirty="0">
              <a:solidFill>
                <a:srgbClr val="454CD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3A399149-AEDC-4C25-8887-3B44472C6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001" y="2518511"/>
            <a:ext cx="7744743" cy="688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3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2870" y="711543"/>
            <a:ext cx="6577163" cy="510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4"/>
              </a:lnSpc>
            </a:pPr>
            <a:r>
              <a:rPr lang="en-US" sz="3952" b="1" spc="-7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목차</a:t>
            </a:r>
          </a:p>
        </p:txBody>
      </p:sp>
      <p:sp>
        <p:nvSpPr>
          <p:cNvPr id="3" name="Freeform 3"/>
          <p:cNvSpPr/>
          <p:nvPr/>
        </p:nvSpPr>
        <p:spPr>
          <a:xfrm>
            <a:off x="874643" y="606768"/>
            <a:ext cx="472551" cy="596721"/>
          </a:xfrm>
          <a:custGeom>
            <a:avLst/>
            <a:gdLst/>
            <a:ahLst/>
            <a:cxnLst/>
            <a:rect l="l" t="t" r="r" b="b"/>
            <a:pathLst>
              <a:path w="472551" h="596721">
                <a:moveTo>
                  <a:pt x="0" y="0"/>
                </a:moveTo>
                <a:lnTo>
                  <a:pt x="472551" y="0"/>
                </a:lnTo>
                <a:lnTo>
                  <a:pt x="472551" y="596721"/>
                </a:lnTo>
                <a:lnTo>
                  <a:pt x="0" y="596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-11874" t="-2224" r="-20020" b="-222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2599354" y="2704236"/>
            <a:ext cx="3806749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1.1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아이디어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기획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분야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및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목적</a:t>
            </a:r>
            <a:endParaRPr lang="en-US" sz="2000" spc="-92" dirty="0">
              <a:solidFill>
                <a:srgbClr val="000000">
                  <a:alpha val="6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algn="just">
              <a:lnSpc>
                <a:spcPts val="3000"/>
              </a:lnSpc>
            </a:pP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1.2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배경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및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필요성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  <a:p>
            <a:pPr algn="just">
              <a:lnSpc>
                <a:spcPts val="3000"/>
              </a:lnSpc>
            </a:pP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1.3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아이디어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결과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내용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요약</a:t>
            </a:r>
            <a:endParaRPr lang="en-US" sz="2000" spc="-92" dirty="0">
              <a:solidFill>
                <a:srgbClr val="000000">
                  <a:alpha val="6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72373" y="2262884"/>
            <a:ext cx="104283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913" b="1" spc="-29">
                <a:solidFill>
                  <a:srgbClr val="454C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80304" y="2280495"/>
            <a:ext cx="4350015" cy="4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766" b="1" spc="-127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99354" y="4769544"/>
            <a:ext cx="3806749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2.1 대상 사용자 유형 및 활용 범위</a:t>
            </a:r>
          </a:p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2.2 구축 AI 서비스 모델 구조</a:t>
            </a:r>
          </a:p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2.3 AI 서비스 화면 구성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72373" y="4328191"/>
            <a:ext cx="104283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913" b="1" spc="-29" dirty="0">
                <a:solidFill>
                  <a:srgbClr val="454C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80304" y="4345802"/>
            <a:ext cx="4350015" cy="4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766" b="1" spc="-127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주요 내용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02855" y="6830146"/>
            <a:ext cx="3806749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3.1 문제 정의 및 해결 접근 방식</a:t>
            </a:r>
          </a:p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3.2 서비스 구현 아키텍처</a:t>
            </a:r>
          </a:p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3.3 시나리오</a:t>
            </a:r>
          </a:p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3.4 기술 구현 결과 </a:t>
            </a:r>
          </a:p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3.5 결과 해석 및 시사점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5874" y="6388794"/>
            <a:ext cx="104283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913" b="1" spc="-29">
                <a:solidFill>
                  <a:srgbClr val="454C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83805" y="6406405"/>
            <a:ext cx="4350015" cy="4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766" b="1" spc="-127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문제정의 및 해결방안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64553" y="2704236"/>
            <a:ext cx="3806749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4.1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기본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방향</a:t>
            </a:r>
            <a:endParaRPr lang="en-US" sz="2000" spc="-92" dirty="0">
              <a:solidFill>
                <a:srgbClr val="000000">
                  <a:alpha val="6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algn="just">
              <a:lnSpc>
                <a:spcPts val="3000"/>
              </a:lnSpc>
            </a:pP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4.2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세부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설계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  <a:p>
            <a:pPr algn="just">
              <a:lnSpc>
                <a:spcPts val="3000"/>
              </a:lnSpc>
            </a:pP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4.3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페르소나별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활용</a:t>
            </a:r>
            <a:r>
              <a:rPr lang="en-US" sz="2000" spc="-92" dirty="0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92" dirty="0" err="1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결과</a:t>
            </a:r>
            <a:endParaRPr lang="en-US" sz="2000" spc="-92" dirty="0">
              <a:solidFill>
                <a:srgbClr val="000000">
                  <a:alpha val="6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37572" y="2262884"/>
            <a:ext cx="104283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913" b="1" spc="-29">
                <a:solidFill>
                  <a:srgbClr val="454C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45503" y="2280495"/>
            <a:ext cx="4350015" cy="4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766" b="1" spc="-127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활용 결과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64553" y="4769544"/>
            <a:ext cx="5077511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5.1. 수요자 (국민, 기업, 정부 등)관점 예상 기대효과</a:t>
            </a:r>
          </a:p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5.2 실제 적용한 결과 자체 평가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37572" y="4328191"/>
            <a:ext cx="104283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913" b="1" spc="-29">
                <a:solidFill>
                  <a:srgbClr val="454C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45503" y="4345802"/>
            <a:ext cx="4350015" cy="4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766" b="1" spc="-127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 효과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64553" y="6408372"/>
            <a:ext cx="5077511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6.1 구현의 한계와 교훈 </a:t>
            </a:r>
          </a:p>
          <a:p>
            <a:pPr algn="just">
              <a:lnSpc>
                <a:spcPts val="3000"/>
              </a:lnSpc>
            </a:pPr>
            <a:r>
              <a:rPr lang="en-US" sz="2000" spc="-92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6.2 활용 데이터 및 참고 문헌 출처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37572" y="5967020"/>
            <a:ext cx="104283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913" b="1" spc="-29">
                <a:solidFill>
                  <a:srgbClr val="454C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45503" y="5984631"/>
            <a:ext cx="4350015" cy="4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766" b="1" spc="-127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향후 사항</a:t>
            </a:r>
          </a:p>
        </p:txBody>
      </p:sp>
      <p:sp>
        <p:nvSpPr>
          <p:cNvPr id="22" name="Freeform 22"/>
          <p:cNvSpPr/>
          <p:nvPr/>
        </p:nvSpPr>
        <p:spPr>
          <a:xfrm>
            <a:off x="16008656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245322" y="7958274"/>
            <a:ext cx="1305587" cy="575248"/>
            <a:chOff x="0" y="0"/>
            <a:chExt cx="343858" cy="1515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3858" cy="151506"/>
            </a:xfrm>
            <a:custGeom>
              <a:avLst/>
              <a:gdLst/>
              <a:ahLst/>
              <a:cxnLst/>
              <a:rect l="l" t="t" r="r" b="b"/>
              <a:pathLst>
                <a:path w="343858" h="151506">
                  <a:moveTo>
                    <a:pt x="75753" y="0"/>
                  </a:moveTo>
                  <a:lnTo>
                    <a:pt x="268106" y="0"/>
                  </a:lnTo>
                  <a:cubicBezTo>
                    <a:pt x="288196" y="0"/>
                    <a:pt x="307464" y="7981"/>
                    <a:pt x="321671" y="22187"/>
                  </a:cubicBezTo>
                  <a:cubicBezTo>
                    <a:pt x="335877" y="36394"/>
                    <a:pt x="343858" y="55662"/>
                    <a:pt x="343858" y="75753"/>
                  </a:cubicBezTo>
                  <a:lnTo>
                    <a:pt x="343858" y="75753"/>
                  </a:lnTo>
                  <a:cubicBezTo>
                    <a:pt x="343858" y="117590"/>
                    <a:pt x="309943" y="151506"/>
                    <a:pt x="268106" y="151506"/>
                  </a:cubicBezTo>
                  <a:lnTo>
                    <a:pt x="75753" y="151506"/>
                  </a:lnTo>
                  <a:cubicBezTo>
                    <a:pt x="33916" y="151506"/>
                    <a:pt x="0" y="117590"/>
                    <a:pt x="0" y="75753"/>
                  </a:cubicBezTo>
                  <a:lnTo>
                    <a:pt x="0" y="75753"/>
                  </a:lnTo>
                  <a:cubicBezTo>
                    <a:pt x="0" y="33916"/>
                    <a:pt x="33916" y="0"/>
                    <a:pt x="75753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343858" cy="141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spc="-39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RAG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9383161" y="2697470"/>
            <a:ext cx="8061907" cy="5488898"/>
          </a:xfrm>
          <a:custGeom>
            <a:avLst/>
            <a:gdLst/>
            <a:ahLst/>
            <a:cxnLst/>
            <a:rect l="l" t="t" r="r" b="b"/>
            <a:pathLst>
              <a:path w="8061907" h="5488898">
                <a:moveTo>
                  <a:pt x="0" y="0"/>
                </a:moveTo>
                <a:lnTo>
                  <a:pt x="8061908" y="0"/>
                </a:lnTo>
                <a:lnTo>
                  <a:pt x="8061908" y="5488898"/>
                </a:lnTo>
                <a:lnTo>
                  <a:pt x="0" y="5488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92" t="-25697" r="-15039"/>
            </a:stretch>
          </a:blipFill>
          <a:ln w="19050" cap="rnd">
            <a:solidFill>
              <a:srgbClr val="B5B5B5"/>
            </a:solidFill>
            <a:prstDash val="solid"/>
            <a:rou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304670" y="4885822"/>
            <a:ext cx="348347" cy="348347"/>
          </a:xfrm>
          <a:custGeom>
            <a:avLst/>
            <a:gdLst/>
            <a:ahLst/>
            <a:cxnLst/>
            <a:rect l="l" t="t" r="r" b="b"/>
            <a:pathLst>
              <a:path w="348347" h="348347">
                <a:moveTo>
                  <a:pt x="0" y="0"/>
                </a:moveTo>
                <a:lnTo>
                  <a:pt x="348348" y="0"/>
                </a:lnTo>
                <a:lnTo>
                  <a:pt x="348348" y="348347"/>
                </a:lnTo>
                <a:lnTo>
                  <a:pt x="0" y="348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304670" y="5409697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304670" y="5943097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304670" y="6476497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304670" y="4275622"/>
            <a:ext cx="4268739" cy="33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2519" b="1" spc="-50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핵심</a:t>
            </a:r>
            <a:r>
              <a:rPr lang="en-US" sz="2519" b="1" spc="-50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519" b="1" spc="-50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기능</a:t>
            </a:r>
            <a:endParaRPr lang="en-US" sz="2519" b="1" spc="-50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786247" y="7949523"/>
            <a:ext cx="1305587" cy="575248"/>
            <a:chOff x="0" y="0"/>
            <a:chExt cx="343858" cy="1515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3858" cy="151506"/>
            </a:xfrm>
            <a:custGeom>
              <a:avLst/>
              <a:gdLst/>
              <a:ahLst/>
              <a:cxnLst/>
              <a:rect l="l" t="t" r="r" b="b"/>
              <a:pathLst>
                <a:path w="343858" h="151506">
                  <a:moveTo>
                    <a:pt x="75753" y="0"/>
                  </a:moveTo>
                  <a:lnTo>
                    <a:pt x="268106" y="0"/>
                  </a:lnTo>
                  <a:cubicBezTo>
                    <a:pt x="288196" y="0"/>
                    <a:pt x="307464" y="7981"/>
                    <a:pt x="321671" y="22187"/>
                  </a:cubicBezTo>
                  <a:cubicBezTo>
                    <a:pt x="335877" y="36394"/>
                    <a:pt x="343858" y="55662"/>
                    <a:pt x="343858" y="75753"/>
                  </a:cubicBezTo>
                  <a:lnTo>
                    <a:pt x="343858" y="75753"/>
                  </a:lnTo>
                  <a:cubicBezTo>
                    <a:pt x="343858" y="117590"/>
                    <a:pt x="309943" y="151506"/>
                    <a:pt x="268106" y="151506"/>
                  </a:cubicBezTo>
                  <a:lnTo>
                    <a:pt x="75753" y="151506"/>
                  </a:lnTo>
                  <a:cubicBezTo>
                    <a:pt x="33916" y="151506"/>
                    <a:pt x="0" y="117590"/>
                    <a:pt x="0" y="75753"/>
                  </a:cubicBezTo>
                  <a:lnTo>
                    <a:pt x="0" y="75753"/>
                  </a:lnTo>
                  <a:cubicBezTo>
                    <a:pt x="0" y="33916"/>
                    <a:pt x="33916" y="0"/>
                    <a:pt x="75753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343858" cy="141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spc="-39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MCP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29959" y="7949523"/>
            <a:ext cx="2631037" cy="575248"/>
            <a:chOff x="0" y="0"/>
            <a:chExt cx="692948" cy="1515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2948" cy="151506"/>
            </a:xfrm>
            <a:custGeom>
              <a:avLst/>
              <a:gdLst/>
              <a:ahLst/>
              <a:cxnLst/>
              <a:rect l="l" t="t" r="r" b="b"/>
              <a:pathLst>
                <a:path w="692948" h="151506">
                  <a:moveTo>
                    <a:pt x="58851" y="0"/>
                  </a:moveTo>
                  <a:lnTo>
                    <a:pt x="634097" y="0"/>
                  </a:lnTo>
                  <a:cubicBezTo>
                    <a:pt x="649706" y="0"/>
                    <a:pt x="664674" y="6200"/>
                    <a:pt x="675711" y="17237"/>
                  </a:cubicBezTo>
                  <a:cubicBezTo>
                    <a:pt x="686748" y="28274"/>
                    <a:pt x="692948" y="43243"/>
                    <a:pt x="692948" y="58851"/>
                  </a:cubicBezTo>
                  <a:lnTo>
                    <a:pt x="692948" y="92655"/>
                  </a:lnTo>
                  <a:cubicBezTo>
                    <a:pt x="692948" y="108263"/>
                    <a:pt x="686748" y="123232"/>
                    <a:pt x="675711" y="134269"/>
                  </a:cubicBezTo>
                  <a:cubicBezTo>
                    <a:pt x="664674" y="145305"/>
                    <a:pt x="649706" y="151506"/>
                    <a:pt x="634097" y="151506"/>
                  </a:cubicBezTo>
                  <a:lnTo>
                    <a:pt x="58851" y="151506"/>
                  </a:lnTo>
                  <a:cubicBezTo>
                    <a:pt x="43243" y="151506"/>
                    <a:pt x="28274" y="145305"/>
                    <a:pt x="17237" y="134269"/>
                  </a:cubicBezTo>
                  <a:cubicBezTo>
                    <a:pt x="6200" y="123232"/>
                    <a:pt x="0" y="108263"/>
                    <a:pt x="0" y="92655"/>
                  </a:cubicBezTo>
                  <a:lnTo>
                    <a:pt x="0" y="58851"/>
                  </a:lnTo>
                  <a:cubicBezTo>
                    <a:pt x="0" y="43243"/>
                    <a:pt x="6200" y="28274"/>
                    <a:pt x="17237" y="17237"/>
                  </a:cubicBezTo>
                  <a:cubicBezTo>
                    <a:pt x="28274" y="6200"/>
                    <a:pt x="43243" y="0"/>
                    <a:pt x="58851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692948" cy="141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spc="-39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멀티에이전트 (MAS)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898890" y="4181889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734253" y="4843749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자연어 입력 기반 의결서 사례 자동 검색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4253" y="5375244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상황 유형 선택 기반 맞춤형 진단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4253" y="5906739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스코어(0~100점) + 등급 시각화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87831" y="535322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1.1 아이디어 기획 분야 및 목적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4253" y="6438235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멀티에이전트 기반 법리 해석 및 보고서 제공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5322" y="2868081"/>
            <a:ext cx="9451301" cy="35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 spc="-9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 컴플라이언스 담당자를 위한 AI 기반 공정거래 리스크 진단 서비스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45322" y="2178192"/>
            <a:ext cx="4725650" cy="57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4449" b="1" spc="-88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4670" y="7386948"/>
            <a:ext cx="4268739" cy="33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2519" b="1" spc="-5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활용 기술</a:t>
            </a:r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CFFF1429-B087-B87A-2FC3-1DA57196642C}"/>
              </a:ext>
            </a:extLst>
          </p:cNvPr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376EF11E-6E2E-C710-37DF-17FB48D7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69458" y="3734199"/>
            <a:ext cx="8323097" cy="4161548"/>
          </a:xfrm>
          <a:custGeom>
            <a:avLst/>
            <a:gdLst/>
            <a:ahLst/>
            <a:cxnLst/>
            <a:rect l="l" t="t" r="r" b="b"/>
            <a:pathLst>
              <a:path w="8323097" h="4161548">
                <a:moveTo>
                  <a:pt x="0" y="0"/>
                </a:moveTo>
                <a:lnTo>
                  <a:pt x="8323097" y="0"/>
                </a:lnTo>
                <a:lnTo>
                  <a:pt x="8323097" y="4161548"/>
                </a:lnTo>
                <a:lnTo>
                  <a:pt x="0" y="4161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755699"/>
            <a:ext cx="7762423" cy="295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분야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분쟁조정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접수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2024년 1,795건 / </a:t>
            </a:r>
            <a:r>
              <a:rPr lang="en-US" sz="2199" b="1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전년</a:t>
            </a:r>
            <a:r>
              <a:rPr lang="en-US" sz="2199" b="1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199" b="1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대비</a:t>
            </a:r>
            <a:r>
              <a:rPr lang="en-US" sz="2199" b="1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31% </a:t>
            </a:r>
            <a:r>
              <a:rPr lang="en-US" sz="2199" b="1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증가</a:t>
            </a:r>
            <a:endParaRPr lang="en-US" sz="2199" b="1" spc="-43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760887" y="7909560"/>
            <a:ext cx="5557655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출처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: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한국공정거래조정원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2024년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분쟁조정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실적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발표</a:t>
            </a:r>
            <a:endParaRPr lang="en-US" sz="1100" spc="-22" dirty="0">
              <a:solidFill>
                <a:srgbClr val="333333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7831" y="535322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1.2 배경 및 필요성</a:t>
            </a:r>
          </a:p>
        </p:txBody>
      </p:sp>
      <p:sp>
        <p:nvSpPr>
          <p:cNvPr id="8" name="Freeform 8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빠르게 늘고 있는 공정거래 분쟁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3266601" y="8749187"/>
            <a:ext cx="11754799" cy="566775"/>
            <a:chOff x="0" y="0"/>
            <a:chExt cx="3095914" cy="1492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95914" cy="149274"/>
            </a:xfrm>
            <a:custGeom>
              <a:avLst/>
              <a:gdLst/>
              <a:ahLst/>
              <a:cxnLst/>
              <a:rect l="l" t="t" r="r" b="b"/>
              <a:pathLst>
                <a:path w="3095914" h="149274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136102"/>
                  </a:lnTo>
                  <a:cubicBezTo>
                    <a:pt x="3095914" y="139595"/>
                    <a:pt x="3094526" y="142946"/>
                    <a:pt x="3092056" y="145416"/>
                  </a:cubicBezTo>
                  <a:cubicBezTo>
                    <a:pt x="3089586" y="147886"/>
                    <a:pt x="3086235" y="149274"/>
                    <a:pt x="3082742" y="149274"/>
                  </a:cubicBezTo>
                  <a:lnTo>
                    <a:pt x="13172" y="149274"/>
                  </a:lnTo>
                  <a:cubicBezTo>
                    <a:pt x="9679" y="149274"/>
                    <a:pt x="6328" y="147886"/>
                    <a:pt x="3858" y="145416"/>
                  </a:cubicBezTo>
                  <a:cubicBezTo>
                    <a:pt x="1388" y="142946"/>
                    <a:pt x="0" y="139595"/>
                    <a:pt x="0" y="136102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3095914" cy="12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682971" y="8856017"/>
            <a:ext cx="10922057" cy="31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 분야 분쟁은 최근 3년간 </a:t>
            </a:r>
            <a:r>
              <a:rPr lang="en-US" sz="1847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지속적으로 증가</a:t>
            </a:r>
            <a:r>
              <a:rPr lang="en-US" sz="1847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하고 있음</a:t>
            </a:r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63302C51-1229-250C-B1B3-C2F9A3968208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29B954E9-117E-C693-CCF3-3910BE362ADA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B15CD995-7579-4583-A141-80F2CCC5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03985" y="6461129"/>
            <a:ext cx="5304271" cy="2396688"/>
            <a:chOff x="0" y="0"/>
            <a:chExt cx="1397010" cy="6312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7010" cy="631226"/>
            </a:xfrm>
            <a:custGeom>
              <a:avLst/>
              <a:gdLst/>
              <a:ahLst/>
              <a:cxnLst/>
              <a:rect l="l" t="t" r="r" b="b"/>
              <a:pathLst>
                <a:path w="1397010" h="631226">
                  <a:moveTo>
                    <a:pt x="29191" y="0"/>
                  </a:moveTo>
                  <a:lnTo>
                    <a:pt x="1367818" y="0"/>
                  </a:lnTo>
                  <a:cubicBezTo>
                    <a:pt x="1375560" y="0"/>
                    <a:pt x="1382985" y="3075"/>
                    <a:pt x="1388460" y="8550"/>
                  </a:cubicBezTo>
                  <a:cubicBezTo>
                    <a:pt x="1393934" y="14024"/>
                    <a:pt x="1397010" y="21449"/>
                    <a:pt x="1397010" y="29191"/>
                  </a:cubicBezTo>
                  <a:lnTo>
                    <a:pt x="1397010" y="602035"/>
                  </a:lnTo>
                  <a:cubicBezTo>
                    <a:pt x="1397010" y="609777"/>
                    <a:pt x="1393934" y="617202"/>
                    <a:pt x="1388460" y="622676"/>
                  </a:cubicBezTo>
                  <a:cubicBezTo>
                    <a:pt x="1382985" y="628151"/>
                    <a:pt x="1375560" y="631226"/>
                    <a:pt x="1367818" y="631226"/>
                  </a:cubicBezTo>
                  <a:lnTo>
                    <a:pt x="29191" y="631226"/>
                  </a:lnTo>
                  <a:cubicBezTo>
                    <a:pt x="21449" y="631226"/>
                    <a:pt x="14024" y="628151"/>
                    <a:pt x="8550" y="622676"/>
                  </a:cubicBezTo>
                  <a:cubicBezTo>
                    <a:pt x="3075" y="617202"/>
                    <a:pt x="0" y="609777"/>
                    <a:pt x="0" y="602035"/>
                  </a:cubicBezTo>
                  <a:lnTo>
                    <a:pt x="0" y="29191"/>
                  </a:lnTo>
                  <a:cubicBezTo>
                    <a:pt x="0" y="21449"/>
                    <a:pt x="3075" y="14024"/>
                    <a:pt x="8550" y="8550"/>
                  </a:cubicBezTo>
                  <a:cubicBezTo>
                    <a:pt x="14024" y="3075"/>
                    <a:pt x="21449" y="0"/>
                    <a:pt x="2919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397010" cy="602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22610" y="7024917"/>
            <a:ext cx="1242783" cy="1242783"/>
          </a:xfrm>
          <a:custGeom>
            <a:avLst/>
            <a:gdLst/>
            <a:ahLst/>
            <a:cxnLst/>
            <a:rect l="l" t="t" r="r" b="b"/>
            <a:pathLst>
              <a:path w="1242783" h="1242783">
                <a:moveTo>
                  <a:pt x="0" y="0"/>
                </a:moveTo>
                <a:lnTo>
                  <a:pt x="1242784" y="0"/>
                </a:lnTo>
                <a:lnTo>
                  <a:pt x="1242784" y="1242783"/>
                </a:lnTo>
                <a:lnTo>
                  <a:pt x="0" y="1242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79744" y="6461129"/>
            <a:ext cx="5304271" cy="2396688"/>
            <a:chOff x="0" y="0"/>
            <a:chExt cx="1397010" cy="6312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7010" cy="631226"/>
            </a:xfrm>
            <a:custGeom>
              <a:avLst/>
              <a:gdLst/>
              <a:ahLst/>
              <a:cxnLst/>
              <a:rect l="l" t="t" r="r" b="b"/>
              <a:pathLst>
                <a:path w="1397010" h="631226">
                  <a:moveTo>
                    <a:pt x="29191" y="0"/>
                  </a:moveTo>
                  <a:lnTo>
                    <a:pt x="1367818" y="0"/>
                  </a:lnTo>
                  <a:cubicBezTo>
                    <a:pt x="1375560" y="0"/>
                    <a:pt x="1382985" y="3075"/>
                    <a:pt x="1388460" y="8550"/>
                  </a:cubicBezTo>
                  <a:cubicBezTo>
                    <a:pt x="1393934" y="14024"/>
                    <a:pt x="1397010" y="21449"/>
                    <a:pt x="1397010" y="29191"/>
                  </a:cubicBezTo>
                  <a:lnTo>
                    <a:pt x="1397010" y="602035"/>
                  </a:lnTo>
                  <a:cubicBezTo>
                    <a:pt x="1397010" y="609777"/>
                    <a:pt x="1393934" y="617202"/>
                    <a:pt x="1388460" y="622676"/>
                  </a:cubicBezTo>
                  <a:cubicBezTo>
                    <a:pt x="1382985" y="628151"/>
                    <a:pt x="1375560" y="631226"/>
                    <a:pt x="1367818" y="631226"/>
                  </a:cubicBezTo>
                  <a:lnTo>
                    <a:pt x="29191" y="631226"/>
                  </a:lnTo>
                  <a:cubicBezTo>
                    <a:pt x="21449" y="631226"/>
                    <a:pt x="14024" y="628151"/>
                    <a:pt x="8550" y="622676"/>
                  </a:cubicBezTo>
                  <a:cubicBezTo>
                    <a:pt x="3075" y="617202"/>
                    <a:pt x="0" y="609777"/>
                    <a:pt x="0" y="602035"/>
                  </a:cubicBezTo>
                  <a:lnTo>
                    <a:pt x="0" y="29191"/>
                  </a:lnTo>
                  <a:cubicBezTo>
                    <a:pt x="0" y="21449"/>
                    <a:pt x="3075" y="14024"/>
                    <a:pt x="8550" y="8550"/>
                  </a:cubicBezTo>
                  <a:cubicBezTo>
                    <a:pt x="14024" y="3075"/>
                    <a:pt x="21449" y="0"/>
                    <a:pt x="2919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397010" cy="602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152525" y="2625725"/>
            <a:ext cx="11010020" cy="295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1"/>
              </a:lnSpc>
              <a:spcBef>
                <a:spcPct val="0"/>
              </a:spcBef>
            </a:pPr>
            <a:r>
              <a:rPr lang="en-US" sz="2199" u="none" strike="noStrike" spc="-43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2026년 공정거래위원회 과징금 고시 개정안에 따라 </a:t>
            </a:r>
            <a:r>
              <a:rPr lang="en-US" sz="2199" b="1" u="none" strike="noStrike" spc="-43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기업의 과징금 부담이 크게 강화됨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36486" y="6777699"/>
            <a:ext cx="1142459" cy="34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7"/>
              </a:lnSpc>
            </a:pPr>
            <a:r>
              <a:rPr lang="en-US" sz="2319" b="1" spc="-4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6486" y="7323912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spc="-37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조사·심의 협조 시 최대 20% 감경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36486" y="7796712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u="none" strike="noStrike" spc="-37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자진시정 감경률 30%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37446" y="8269513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u="none" strike="noStrike" spc="-37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가벼운 과실 감경 규정 존재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12245" y="6777699"/>
            <a:ext cx="1142459" cy="34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7"/>
              </a:lnSpc>
            </a:pPr>
            <a:r>
              <a:rPr lang="en-US" sz="2319" b="1" spc="-4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12245" y="7323912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spc="-3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조사·심의 협조 시 총</a:t>
            </a:r>
            <a:r>
              <a:rPr lang="en-US" sz="1899" b="1" spc="-37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10% 감경으로 제한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2245" y="7796712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spc="-3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자진시정 감경률 </a:t>
            </a:r>
            <a:r>
              <a:rPr lang="en-US" sz="1899" b="1" spc="-37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10%로 축소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13204" y="8269513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u="none" strike="noStrike" spc="-3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가벼운 과실 감경 규정 </a:t>
            </a:r>
            <a:r>
              <a:rPr lang="en-US" sz="1899" b="1" u="none" strike="noStrike" spc="-37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삭제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87831" y="535322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1.2 배경 및 필요성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제도적 변화 : 과징금 제재 강화</a:t>
            </a:r>
          </a:p>
        </p:txBody>
      </p:sp>
      <p:sp>
        <p:nvSpPr>
          <p:cNvPr id="25" name="Freeform 25"/>
          <p:cNvSpPr/>
          <p:nvPr/>
        </p:nvSpPr>
        <p:spPr>
          <a:xfrm>
            <a:off x="5405946" y="3572249"/>
            <a:ext cx="7476108" cy="1616708"/>
          </a:xfrm>
          <a:custGeom>
            <a:avLst/>
            <a:gdLst/>
            <a:ahLst/>
            <a:cxnLst/>
            <a:rect l="l" t="t" r="r" b="b"/>
            <a:pathLst>
              <a:path w="7476108" h="1616708">
                <a:moveTo>
                  <a:pt x="0" y="0"/>
                </a:moveTo>
                <a:lnTo>
                  <a:pt x="7476108" y="0"/>
                </a:lnTo>
                <a:lnTo>
                  <a:pt x="7476108" y="1616709"/>
                </a:lnTo>
                <a:lnTo>
                  <a:pt x="0" y="16167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5663651" y="5295900"/>
            <a:ext cx="7218403" cy="24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84"/>
              </a:lnSpc>
            </a:pPr>
            <a:r>
              <a:rPr lang="en-US" sz="1389" spc="-27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공정거래위원회, 「과징금 고시 개정안 행정예고」, 2026.3.9.</a:t>
            </a:r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AD289227-C5D4-653C-6B7E-769D37EF41A3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CF43C833-40CE-623E-276E-DFB4F911706D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04C39F5F-AB4F-75F3-604D-7F1EF91B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5464" y="9031134"/>
            <a:ext cx="14155360" cy="31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2"/>
              </a:lnSpc>
            </a:pPr>
            <a:r>
              <a:rPr lang="en-US" sz="2419" spc="-48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제재 수준이 강화됨에 따라, 위반 발생 이후 대응보다 </a:t>
            </a:r>
            <a:r>
              <a:rPr lang="en-US" sz="2419" b="1" spc="-4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사전 예방의 중요성이 더욱 커짐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703985" y="5930145"/>
            <a:ext cx="5304271" cy="2001921"/>
            <a:chOff x="0" y="0"/>
            <a:chExt cx="1397010" cy="5272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7010" cy="527255"/>
            </a:xfrm>
            <a:custGeom>
              <a:avLst/>
              <a:gdLst/>
              <a:ahLst/>
              <a:cxnLst/>
              <a:rect l="l" t="t" r="r" b="b"/>
              <a:pathLst>
                <a:path w="1397010" h="527255">
                  <a:moveTo>
                    <a:pt x="29191" y="0"/>
                  </a:moveTo>
                  <a:lnTo>
                    <a:pt x="1367818" y="0"/>
                  </a:lnTo>
                  <a:cubicBezTo>
                    <a:pt x="1375560" y="0"/>
                    <a:pt x="1382985" y="3075"/>
                    <a:pt x="1388460" y="8550"/>
                  </a:cubicBezTo>
                  <a:cubicBezTo>
                    <a:pt x="1393934" y="14024"/>
                    <a:pt x="1397010" y="21449"/>
                    <a:pt x="1397010" y="29191"/>
                  </a:cubicBezTo>
                  <a:lnTo>
                    <a:pt x="1397010" y="498064"/>
                  </a:lnTo>
                  <a:cubicBezTo>
                    <a:pt x="1397010" y="505806"/>
                    <a:pt x="1393934" y="513231"/>
                    <a:pt x="1388460" y="518705"/>
                  </a:cubicBezTo>
                  <a:cubicBezTo>
                    <a:pt x="1382985" y="524180"/>
                    <a:pt x="1375560" y="527255"/>
                    <a:pt x="1367818" y="527255"/>
                  </a:cubicBezTo>
                  <a:lnTo>
                    <a:pt x="29191" y="527255"/>
                  </a:lnTo>
                  <a:cubicBezTo>
                    <a:pt x="21449" y="527255"/>
                    <a:pt x="14024" y="524180"/>
                    <a:pt x="8550" y="518705"/>
                  </a:cubicBezTo>
                  <a:cubicBezTo>
                    <a:pt x="3075" y="513231"/>
                    <a:pt x="0" y="505806"/>
                    <a:pt x="0" y="498064"/>
                  </a:cubicBezTo>
                  <a:lnTo>
                    <a:pt x="0" y="29191"/>
                  </a:lnTo>
                  <a:cubicBezTo>
                    <a:pt x="0" y="21449"/>
                    <a:pt x="3075" y="14024"/>
                    <a:pt x="8550" y="8550"/>
                  </a:cubicBezTo>
                  <a:cubicBezTo>
                    <a:pt x="14024" y="3075"/>
                    <a:pt x="21449" y="0"/>
                    <a:pt x="2919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397010" cy="498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522610" y="6286500"/>
            <a:ext cx="1242783" cy="1242783"/>
          </a:xfrm>
          <a:custGeom>
            <a:avLst/>
            <a:gdLst/>
            <a:ahLst/>
            <a:cxnLst/>
            <a:rect l="l" t="t" r="r" b="b"/>
            <a:pathLst>
              <a:path w="1242783" h="1242783">
                <a:moveTo>
                  <a:pt x="0" y="0"/>
                </a:moveTo>
                <a:lnTo>
                  <a:pt x="1242784" y="0"/>
                </a:lnTo>
                <a:lnTo>
                  <a:pt x="1242784" y="1242783"/>
                </a:lnTo>
                <a:lnTo>
                  <a:pt x="0" y="1242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3956721" y="8970291"/>
            <a:ext cx="372720" cy="372720"/>
          </a:xfrm>
          <a:custGeom>
            <a:avLst/>
            <a:gdLst/>
            <a:ahLst/>
            <a:cxnLst/>
            <a:rect l="l" t="t" r="r" b="b"/>
            <a:pathLst>
              <a:path w="372720" h="372720">
                <a:moveTo>
                  <a:pt x="0" y="0"/>
                </a:moveTo>
                <a:lnTo>
                  <a:pt x="372720" y="0"/>
                </a:lnTo>
                <a:lnTo>
                  <a:pt x="372720" y="372720"/>
                </a:lnTo>
                <a:lnTo>
                  <a:pt x="0" y="372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3036486" y="6246715"/>
            <a:ext cx="1142459" cy="34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7"/>
              </a:lnSpc>
            </a:pPr>
            <a:r>
              <a:rPr lang="en-US" sz="2319" b="1" spc="-4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6486" y="6792928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spc="-37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위반</a:t>
            </a:r>
            <a:r>
              <a:rPr lang="en-US" sz="1899" spc="-37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spc="-37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전력</a:t>
            </a:r>
            <a:r>
              <a:rPr lang="en-US" sz="1899" spc="-37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1회 시 10% </a:t>
            </a:r>
            <a:r>
              <a:rPr lang="en-US" sz="1899" spc="-37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가중</a:t>
            </a:r>
            <a:endParaRPr lang="en-US" sz="1899" spc="-37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036486" y="7265728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spc="-3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최대 80% 가중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79744" y="5930145"/>
            <a:ext cx="5304271" cy="2001921"/>
            <a:chOff x="0" y="0"/>
            <a:chExt cx="1397010" cy="5272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7010" cy="527255"/>
            </a:xfrm>
            <a:custGeom>
              <a:avLst/>
              <a:gdLst/>
              <a:ahLst/>
              <a:cxnLst/>
              <a:rect l="l" t="t" r="r" b="b"/>
              <a:pathLst>
                <a:path w="1397010" h="527255">
                  <a:moveTo>
                    <a:pt x="29191" y="0"/>
                  </a:moveTo>
                  <a:lnTo>
                    <a:pt x="1367818" y="0"/>
                  </a:lnTo>
                  <a:cubicBezTo>
                    <a:pt x="1375560" y="0"/>
                    <a:pt x="1382985" y="3075"/>
                    <a:pt x="1388460" y="8550"/>
                  </a:cubicBezTo>
                  <a:cubicBezTo>
                    <a:pt x="1393934" y="14024"/>
                    <a:pt x="1397010" y="21449"/>
                    <a:pt x="1397010" y="29191"/>
                  </a:cubicBezTo>
                  <a:lnTo>
                    <a:pt x="1397010" y="498064"/>
                  </a:lnTo>
                  <a:cubicBezTo>
                    <a:pt x="1397010" y="505806"/>
                    <a:pt x="1393934" y="513231"/>
                    <a:pt x="1388460" y="518705"/>
                  </a:cubicBezTo>
                  <a:cubicBezTo>
                    <a:pt x="1382985" y="524180"/>
                    <a:pt x="1375560" y="527255"/>
                    <a:pt x="1367818" y="527255"/>
                  </a:cubicBezTo>
                  <a:lnTo>
                    <a:pt x="29191" y="527255"/>
                  </a:lnTo>
                  <a:cubicBezTo>
                    <a:pt x="21449" y="527255"/>
                    <a:pt x="14024" y="524180"/>
                    <a:pt x="8550" y="518705"/>
                  </a:cubicBezTo>
                  <a:cubicBezTo>
                    <a:pt x="3075" y="513231"/>
                    <a:pt x="0" y="505806"/>
                    <a:pt x="0" y="498064"/>
                  </a:cubicBezTo>
                  <a:lnTo>
                    <a:pt x="0" y="29191"/>
                  </a:lnTo>
                  <a:cubicBezTo>
                    <a:pt x="0" y="21449"/>
                    <a:pt x="3075" y="14024"/>
                    <a:pt x="8550" y="8550"/>
                  </a:cubicBezTo>
                  <a:cubicBezTo>
                    <a:pt x="14024" y="3075"/>
                    <a:pt x="21449" y="0"/>
                    <a:pt x="2919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397010" cy="498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612245" y="6246715"/>
            <a:ext cx="1142459" cy="34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7"/>
              </a:lnSpc>
            </a:pPr>
            <a:r>
              <a:rPr lang="en-US" sz="2319" b="1" spc="-4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12245" y="6792928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spc="-3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가벼운 과실에 의한 감경 규정(10%) </a:t>
            </a:r>
            <a:r>
              <a:rPr lang="en-US" sz="1899" b="1" spc="-37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삭제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12245" y="7265728"/>
            <a:ext cx="387656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  <a:spcBef>
                <a:spcPct val="0"/>
              </a:spcBef>
            </a:pPr>
            <a:r>
              <a:rPr lang="en-US" sz="1899" spc="-3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누적 위반 횟수에 따라 </a:t>
            </a:r>
            <a:r>
              <a:rPr lang="en-US" sz="1899" b="1" spc="-37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최대 100% 가중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87831" y="535322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1.2 배경 및 필요성</a:t>
            </a:r>
          </a:p>
        </p:txBody>
      </p:sp>
      <p:sp>
        <p:nvSpPr>
          <p:cNvPr id="20" name="Freeform 20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제도적 변화 : 반복 위반 시 제재 강화</a:t>
            </a:r>
          </a:p>
        </p:txBody>
      </p:sp>
      <p:sp>
        <p:nvSpPr>
          <p:cNvPr id="23" name="Freeform 23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Freeform 24"/>
          <p:cNvSpPr/>
          <p:nvPr/>
        </p:nvSpPr>
        <p:spPr>
          <a:xfrm>
            <a:off x="5128639" y="3584594"/>
            <a:ext cx="8030722" cy="1144378"/>
          </a:xfrm>
          <a:custGeom>
            <a:avLst/>
            <a:gdLst/>
            <a:ahLst/>
            <a:cxnLst/>
            <a:rect l="l" t="t" r="r" b="b"/>
            <a:pathLst>
              <a:path w="8030722" h="1144378">
                <a:moveTo>
                  <a:pt x="0" y="0"/>
                </a:moveTo>
                <a:lnTo>
                  <a:pt x="8030722" y="0"/>
                </a:lnTo>
                <a:lnTo>
                  <a:pt x="8030722" y="1144378"/>
                </a:lnTo>
                <a:lnTo>
                  <a:pt x="0" y="1144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5254453" y="4824801"/>
            <a:ext cx="7904908" cy="26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3"/>
              </a:lnSpc>
            </a:pPr>
            <a:r>
              <a:rPr lang="en-US" sz="1402" spc="-28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공정거래위원회, 「과징금 고시 개정안 행정예고」, 2026.3.9.</a:t>
            </a:r>
          </a:p>
        </p:txBody>
      </p:sp>
      <p:sp>
        <p:nvSpPr>
          <p:cNvPr id="27" name="AutoShape 2">
            <a:extLst>
              <a:ext uri="{FF2B5EF4-FFF2-40B4-BE49-F238E27FC236}">
                <a16:creationId xmlns:a16="http://schemas.microsoft.com/office/drawing/2014/main" id="{340A59D1-AE57-9CF9-1743-FA1EE049D530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4485F5BD-BFCB-B1C2-3480-388A1110D58B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0" name="슬라이드 번호 개체 틀 29">
            <a:extLst>
              <a:ext uri="{FF2B5EF4-FFF2-40B4-BE49-F238E27FC236}">
                <a16:creationId xmlns:a16="http://schemas.microsoft.com/office/drawing/2014/main" id="{387E6286-4730-DB4F-4BBB-91C39486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87831" y="535322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1.2 배경 및 필요성</a:t>
            </a:r>
          </a:p>
        </p:txBody>
      </p:sp>
      <p:sp>
        <p:nvSpPr>
          <p:cNvPr id="6" name="Freeform 6"/>
          <p:cNvSpPr/>
          <p:nvPr/>
        </p:nvSpPr>
        <p:spPr>
          <a:xfrm>
            <a:off x="16027706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327850" y="7558288"/>
            <a:ext cx="507741" cy="507741"/>
          </a:xfrm>
          <a:custGeom>
            <a:avLst/>
            <a:gdLst/>
            <a:ahLst/>
            <a:cxnLst/>
            <a:rect l="l" t="t" r="r" b="b"/>
            <a:pathLst>
              <a:path w="507741" h="507741">
                <a:moveTo>
                  <a:pt x="0" y="0"/>
                </a:moveTo>
                <a:lnTo>
                  <a:pt x="507741" y="0"/>
                </a:lnTo>
                <a:lnTo>
                  <a:pt x="507741" y="507741"/>
                </a:lnTo>
                <a:lnTo>
                  <a:pt x="0" y="507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5364739" y="7551679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9412864" y="7551679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3460989" y="7551679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393180" y="8099996"/>
            <a:ext cx="287655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9"/>
              </a:lnSpc>
            </a:pPr>
            <a:r>
              <a:rPr lang="en-US" sz="2199" u="none" strike="noStrike" spc="-43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누적된 의결서 탐색·검토로 </a:t>
            </a:r>
          </a:p>
          <a:p>
            <a:pPr marL="0" lvl="0" indent="0" algn="l">
              <a:lnSpc>
                <a:spcPts val="3189"/>
              </a:lnSpc>
            </a:pPr>
            <a:r>
              <a:rPr lang="en-US" sz="2199" u="none" strike="noStrike" spc="-43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판단 업무 지연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64739" y="8109521"/>
            <a:ext cx="3265704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 u="none" strike="noStrike" spc="-43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위반 여부 판단 및 근거 확보에 </a:t>
            </a:r>
          </a:p>
          <a:p>
            <a:pPr marL="0" lvl="0" indent="0" algn="l">
              <a:lnSpc>
                <a:spcPts val="3079"/>
              </a:lnSpc>
            </a:pPr>
            <a:r>
              <a:rPr lang="en-US" sz="2199" u="none" strike="noStrike" spc="-43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인적 자원 소모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43150" y="8109521"/>
            <a:ext cx="3051717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 u="none" strike="noStrike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 개정·최신 의결서 동향 </a:t>
            </a:r>
          </a:p>
          <a:p>
            <a:pPr marL="0" lvl="0" indent="0" algn="l">
              <a:lnSpc>
                <a:spcPts val="3079"/>
              </a:lnSpc>
            </a:pPr>
            <a:r>
              <a:rPr lang="en-US" sz="2199" u="none" strike="noStrike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파악에 별도 인력 필요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88173" y="8109521"/>
            <a:ext cx="3471977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 u="none" strike="noStrike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범용 AI 활용 시 공정거래 특화 </a:t>
            </a:r>
          </a:p>
          <a:p>
            <a:pPr marL="0" lvl="0" indent="0" algn="l">
              <a:lnSpc>
                <a:spcPts val="3079"/>
              </a:lnSpc>
            </a:pPr>
            <a:r>
              <a:rPr lang="en-US" sz="2199" u="none" strike="noStrike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검증 부재로 신뢰성 확보 어려움</a:t>
            </a:r>
          </a:p>
        </p:txBody>
      </p:sp>
      <p:sp>
        <p:nvSpPr>
          <p:cNvPr id="15" name="Freeform 15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 컴플라이언스 담당자의 어려움</a:t>
            </a:r>
          </a:p>
        </p:txBody>
      </p:sp>
      <p:sp>
        <p:nvSpPr>
          <p:cNvPr id="17" name="Freeform 17"/>
          <p:cNvSpPr/>
          <p:nvPr/>
        </p:nvSpPr>
        <p:spPr>
          <a:xfrm>
            <a:off x="4946495" y="2688453"/>
            <a:ext cx="8395011" cy="3410473"/>
          </a:xfrm>
          <a:custGeom>
            <a:avLst/>
            <a:gdLst/>
            <a:ahLst/>
            <a:cxnLst/>
            <a:rect l="l" t="t" r="r" b="b"/>
            <a:pathLst>
              <a:path w="8395011" h="3410473">
                <a:moveTo>
                  <a:pt x="0" y="0"/>
                </a:moveTo>
                <a:lnTo>
                  <a:pt x="8395010" y="0"/>
                </a:lnTo>
                <a:lnTo>
                  <a:pt x="8395010" y="3410473"/>
                </a:lnTo>
                <a:lnTo>
                  <a:pt x="0" y="34104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5026722" y="6119622"/>
            <a:ext cx="8314784" cy="24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5"/>
              </a:lnSpc>
            </a:pP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매일경제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「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컴플라이언스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어렵지만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꼭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필요한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일」,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안준규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2026.6.12.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0D421FEA-0BB6-D436-9164-E9330E6C4893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0F92582D-1E07-3B02-A658-AE83ED3274BB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492333EC-71F2-8A14-D9D4-8FB37CD9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27706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733248" y="2840393"/>
            <a:ext cx="6736475" cy="2585122"/>
          </a:xfrm>
          <a:custGeom>
            <a:avLst/>
            <a:gdLst/>
            <a:ahLst/>
            <a:cxnLst/>
            <a:rect l="l" t="t" r="r" b="b"/>
            <a:pathLst>
              <a:path w="6736475" h="2585122">
                <a:moveTo>
                  <a:pt x="0" y="0"/>
                </a:moveTo>
                <a:lnTo>
                  <a:pt x="6736476" y="0"/>
                </a:lnTo>
                <a:lnTo>
                  <a:pt x="6736476" y="2585122"/>
                </a:lnTo>
                <a:lnTo>
                  <a:pt x="0" y="2585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2303184" y="7141412"/>
            <a:ext cx="13681632" cy="2276936"/>
            <a:chOff x="0" y="0"/>
            <a:chExt cx="3603393" cy="5996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3393" cy="599687"/>
            </a:xfrm>
            <a:custGeom>
              <a:avLst/>
              <a:gdLst/>
              <a:ahLst/>
              <a:cxnLst/>
              <a:rect l="l" t="t" r="r" b="b"/>
              <a:pathLst>
                <a:path w="3603393" h="599687">
                  <a:moveTo>
                    <a:pt x="11317" y="0"/>
                  </a:moveTo>
                  <a:lnTo>
                    <a:pt x="3592076" y="0"/>
                  </a:lnTo>
                  <a:cubicBezTo>
                    <a:pt x="3595077" y="0"/>
                    <a:pt x="3597956" y="1192"/>
                    <a:pt x="3600078" y="3315"/>
                  </a:cubicBezTo>
                  <a:cubicBezTo>
                    <a:pt x="3602201" y="5437"/>
                    <a:pt x="3603393" y="8316"/>
                    <a:pt x="3603393" y="11317"/>
                  </a:cubicBezTo>
                  <a:lnTo>
                    <a:pt x="3603393" y="588370"/>
                  </a:lnTo>
                  <a:cubicBezTo>
                    <a:pt x="3603393" y="591371"/>
                    <a:pt x="3602201" y="594250"/>
                    <a:pt x="3600078" y="596372"/>
                  </a:cubicBezTo>
                  <a:cubicBezTo>
                    <a:pt x="3597956" y="598495"/>
                    <a:pt x="3595077" y="599687"/>
                    <a:pt x="3592076" y="599687"/>
                  </a:cubicBezTo>
                  <a:lnTo>
                    <a:pt x="11317" y="599687"/>
                  </a:lnTo>
                  <a:cubicBezTo>
                    <a:pt x="8316" y="599687"/>
                    <a:pt x="5437" y="598495"/>
                    <a:pt x="3315" y="596372"/>
                  </a:cubicBezTo>
                  <a:cubicBezTo>
                    <a:pt x="1192" y="594250"/>
                    <a:pt x="0" y="591371"/>
                    <a:pt x="0" y="588370"/>
                  </a:cubicBezTo>
                  <a:lnTo>
                    <a:pt x="0" y="11317"/>
                  </a:lnTo>
                  <a:cubicBezTo>
                    <a:pt x="0" y="8316"/>
                    <a:pt x="1192" y="5437"/>
                    <a:pt x="3315" y="3315"/>
                  </a:cubicBezTo>
                  <a:cubicBezTo>
                    <a:pt x="5437" y="1192"/>
                    <a:pt x="8316" y="0"/>
                    <a:pt x="1131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3603393" cy="571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555335" y="7320990"/>
            <a:ext cx="448461" cy="448461"/>
          </a:xfrm>
          <a:custGeom>
            <a:avLst/>
            <a:gdLst/>
            <a:ahLst/>
            <a:cxnLst/>
            <a:rect l="l" t="t" r="r" b="b"/>
            <a:pathLst>
              <a:path w="448461" h="448461">
                <a:moveTo>
                  <a:pt x="0" y="0"/>
                </a:moveTo>
                <a:lnTo>
                  <a:pt x="448461" y="0"/>
                </a:lnTo>
                <a:lnTo>
                  <a:pt x="448461" y="448460"/>
                </a:lnTo>
                <a:lnTo>
                  <a:pt x="0" y="448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9597971" y="3280631"/>
            <a:ext cx="7661329" cy="1704646"/>
          </a:xfrm>
          <a:custGeom>
            <a:avLst/>
            <a:gdLst/>
            <a:ahLst/>
            <a:cxnLst/>
            <a:rect l="l" t="t" r="r" b="b"/>
            <a:pathLst>
              <a:path w="7661329" h="1704646">
                <a:moveTo>
                  <a:pt x="0" y="0"/>
                </a:moveTo>
                <a:lnTo>
                  <a:pt x="7661329" y="0"/>
                </a:lnTo>
                <a:lnTo>
                  <a:pt x="7661329" y="1704646"/>
                </a:lnTo>
                <a:lnTo>
                  <a:pt x="0" y="17046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987831" y="535322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1.2 배경 및 필요성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49534" y="5502649"/>
            <a:ext cx="4820189" cy="24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5"/>
              </a:lnSpc>
            </a:pPr>
            <a:r>
              <a:rPr lang="en-US" sz="1370" spc="-27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한경, 「법정에 버젓이 등장한 ‘AI 가짜 판례’」, 김유진, 2026.4.8.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02634" y="5052822"/>
            <a:ext cx="8314784" cy="24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5"/>
              </a:lnSpc>
            </a:pPr>
            <a:r>
              <a:rPr lang="en-US" sz="1370" spc="-27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서울경제, 「‘규제 사각지대·환각현상’ 외국 법률 AI 챗봇」, 김유진, 2026.4.8.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왜 공정거래 특화 AI 서비스가 필요한가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55335" y="7807550"/>
            <a:ext cx="13947680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3420"/>
              </a:lnSpc>
              <a:buFont typeface="Arial"/>
              <a:buChar char="•"/>
            </a:pPr>
            <a:r>
              <a:rPr lang="en-US" sz="1900" spc="-38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범용 AI는 탐색 부담을 줄여줄 수 있으나, 공정거래 의결서·법령에 특화된 검증 없이는 </a:t>
            </a:r>
            <a:r>
              <a:rPr lang="en-US" sz="1900" b="1" spc="-3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 결과의 신뢰성을 확보하기 어려움 </a:t>
            </a:r>
          </a:p>
          <a:p>
            <a:pPr marL="410211" lvl="1" indent="-205106" algn="l">
              <a:lnSpc>
                <a:spcPts val="3420"/>
              </a:lnSpc>
              <a:buFont typeface="Arial"/>
              <a:buChar char="•"/>
            </a:pPr>
            <a:r>
              <a:rPr lang="en-US" sz="1900" spc="-38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학습 데이터 컷오프 이후의 최신 법령 개정 및 의결서 반영이 불가하여, 잘못된 진단 결과를 제공할 위험이 있음</a:t>
            </a:r>
          </a:p>
          <a:p>
            <a:pPr marL="410211" lvl="1" indent="-205106" algn="l">
              <a:lnSpc>
                <a:spcPts val="3420"/>
              </a:lnSpc>
              <a:buFont typeface="Arial"/>
              <a:buChar char="•"/>
            </a:pPr>
            <a:r>
              <a:rPr lang="en-US" sz="1900" spc="-38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어떠한 의결서·법령 조문을 근거로 결론을 냈는지 검증할 수 없어, 진단 결과를 실무에 인용하거나 보고서로 활용하기 어려움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90768" y="7336623"/>
            <a:ext cx="1508968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049" b="1" spc="-4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범용 AI의 한계 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BF351B58-37BE-AD89-42CF-291054AC6F39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28D19CB2-48CA-E01F-B512-FCC99E0E1AB7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40EF7F2F-A80C-5D24-9C71-7E4583E3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588536"/>
            <a:ext cx="405278" cy="405278"/>
          </a:xfrm>
          <a:custGeom>
            <a:avLst/>
            <a:gdLst/>
            <a:ahLst/>
            <a:cxnLst/>
            <a:rect l="l" t="t" r="r" b="b"/>
            <a:pathLst>
              <a:path w="405278" h="405278">
                <a:moveTo>
                  <a:pt x="0" y="0"/>
                </a:moveTo>
                <a:lnTo>
                  <a:pt x="405278" y="0"/>
                </a:lnTo>
                <a:lnTo>
                  <a:pt x="405278" y="405279"/>
                </a:lnTo>
                <a:lnTo>
                  <a:pt x="0" y="405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028700" y="3451015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1028700" y="4317790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028700" y="5184565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028700" y="6051340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591404" y="2575911"/>
            <a:ext cx="7646806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4"/>
              </a:lnSpc>
              <a:spcBef>
                <a:spcPct val="0"/>
              </a:spcBef>
            </a:pPr>
            <a:r>
              <a:rPr lang="en-US" sz="2149" u="none" strike="noStrike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자연어</a:t>
            </a:r>
            <a:r>
              <a:rPr lang="en-US" sz="2149" u="none" strike="noStrike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u="none" strike="noStrike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질문</a:t>
            </a:r>
            <a:r>
              <a:rPr lang="en-US" sz="2149" u="none" strike="noStrike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⟶ </a:t>
            </a:r>
            <a:r>
              <a:rPr lang="en-US" sz="2149" u="none" strike="noStrike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관련</a:t>
            </a:r>
            <a:r>
              <a:rPr lang="en-US" sz="2149" u="none" strike="noStrike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u="none" strike="noStrike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</a:t>
            </a:r>
            <a:r>
              <a:rPr lang="en-US" sz="2149" u="none" strike="noStrike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u="none" strike="noStrike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사례</a:t>
            </a:r>
            <a:r>
              <a:rPr lang="en-US" sz="2149" u="none" strike="noStrike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및 </a:t>
            </a:r>
            <a:r>
              <a:rPr lang="en-US" sz="2149" u="none" strike="noStrike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정량적</a:t>
            </a:r>
            <a:r>
              <a:rPr lang="en-US" sz="2149" u="none" strike="noStrike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u="none" strike="noStrike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</a:t>
            </a:r>
            <a:r>
              <a:rPr lang="en-US" sz="2149" u="none" strike="noStrike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u="none" strike="noStrike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수준</a:t>
            </a:r>
            <a:r>
              <a:rPr lang="en-US" sz="2149" u="none" strike="noStrike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u="none" strike="noStrike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</a:t>
            </a:r>
            <a:endParaRPr lang="en-US" sz="2149" u="none" strike="noStrike" spc="-42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91404" y="3440537"/>
            <a:ext cx="5647596" cy="38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4"/>
              </a:lnSpc>
              <a:spcBef>
                <a:spcPct val="0"/>
              </a:spcBef>
            </a:pP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유사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위반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사례와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제재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수준을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근거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문장과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함께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제공</a:t>
            </a:r>
            <a:endParaRPr lang="en-US" sz="2149" spc="-42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91404" y="4307312"/>
            <a:ext cx="4504596" cy="38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4"/>
              </a:lnSpc>
              <a:spcBef>
                <a:spcPct val="0"/>
              </a:spcBef>
            </a:pP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최신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연동으로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개정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자동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반영</a:t>
            </a:r>
            <a:endParaRPr lang="en-US" sz="2149" spc="-42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90241" y="5174087"/>
            <a:ext cx="6365354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4"/>
              </a:lnSpc>
              <a:spcBef>
                <a:spcPct val="0"/>
              </a:spcBef>
            </a:pPr>
            <a:r>
              <a:rPr lang="en-US" sz="2149" u="none" strike="noStrike" spc="-42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멀티에이전트 기반 검증으로 신뢰성 있는 진단 결과 제공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1404" y="6042767"/>
            <a:ext cx="4428396" cy="38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4"/>
              </a:lnSpc>
              <a:spcBef>
                <a:spcPct val="0"/>
              </a:spcBef>
            </a:pP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결과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맞춤형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보고서</a:t>
            </a:r>
            <a:r>
              <a:rPr lang="en-US" sz="2149" spc="-42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49" spc="-42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제공</a:t>
            </a:r>
            <a:endParaRPr lang="en-US" sz="2149" spc="-42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87831" y="535322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1.2 배경 및 필요성</a:t>
            </a:r>
          </a:p>
        </p:txBody>
      </p:sp>
      <p:sp>
        <p:nvSpPr>
          <p:cNvPr id="15" name="Freeform 15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196717" y="1793695"/>
            <a:ext cx="14252649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따라서 공정거래 도메인 특화 AI 서비스에는 다음 기능이 필요함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027706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266601" y="8047363"/>
            <a:ext cx="11754799" cy="1210937"/>
            <a:chOff x="0" y="0"/>
            <a:chExt cx="3095914" cy="3189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95914" cy="318930"/>
            </a:xfrm>
            <a:custGeom>
              <a:avLst/>
              <a:gdLst/>
              <a:ahLst/>
              <a:cxnLst/>
              <a:rect l="l" t="t" r="r" b="b"/>
              <a:pathLst>
                <a:path w="3095914" h="318930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305758"/>
                  </a:lnTo>
                  <a:cubicBezTo>
                    <a:pt x="3095914" y="309251"/>
                    <a:pt x="3094526" y="312602"/>
                    <a:pt x="3092056" y="315072"/>
                  </a:cubicBezTo>
                  <a:cubicBezTo>
                    <a:pt x="3089586" y="317542"/>
                    <a:pt x="3086235" y="318930"/>
                    <a:pt x="3082742" y="318930"/>
                  </a:cubicBezTo>
                  <a:lnTo>
                    <a:pt x="13172" y="318930"/>
                  </a:lnTo>
                  <a:cubicBezTo>
                    <a:pt x="9679" y="318930"/>
                    <a:pt x="6328" y="317542"/>
                    <a:pt x="3858" y="315072"/>
                  </a:cubicBezTo>
                  <a:cubicBezTo>
                    <a:pt x="1388" y="312602"/>
                    <a:pt x="0" y="309251"/>
                    <a:pt x="0" y="305758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3095914" cy="290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682971" y="8260402"/>
            <a:ext cx="10922057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spc="-4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RAG · MCP · 멀티에이전트(MAS) 기반 상황 맞춤형 리스크 진단 및 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spc="-4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법리 해석 프레임워크를 제안하고자 함</a:t>
            </a:r>
          </a:p>
        </p:txBody>
      </p:sp>
      <p:sp>
        <p:nvSpPr>
          <p:cNvPr id="24" name="AutoShape 2">
            <a:extLst>
              <a:ext uri="{FF2B5EF4-FFF2-40B4-BE49-F238E27FC236}">
                <a16:creationId xmlns:a16="http://schemas.microsoft.com/office/drawing/2014/main" id="{9362AC57-E3AA-7B35-7393-2407167A2ECB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90CD19-8341-2992-0965-D21262DCB06B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9908D2AB-62AD-EB35-A262-E6A56F09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912386"/>
            <a:ext cx="515702" cy="515702"/>
          </a:xfrm>
          <a:custGeom>
            <a:avLst/>
            <a:gdLst/>
            <a:ahLst/>
            <a:cxnLst/>
            <a:rect l="l" t="t" r="r" b="b"/>
            <a:pathLst>
              <a:path w="515702" h="515702">
                <a:moveTo>
                  <a:pt x="0" y="0"/>
                </a:moveTo>
                <a:lnTo>
                  <a:pt x="515702" y="0"/>
                </a:lnTo>
                <a:lnTo>
                  <a:pt x="515702" y="515702"/>
                </a:lnTo>
                <a:lnTo>
                  <a:pt x="0" y="515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106062" y="541863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106062" y="3864909"/>
            <a:ext cx="5267038" cy="3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2047" u="none" strike="noStrike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스코어(0~100) 및 맑음·흐림·비 등급 시각화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6062" y="3392657"/>
            <a:ext cx="2876550" cy="39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9"/>
              </a:lnSpc>
            </a:pPr>
            <a:r>
              <a:rPr lang="en-US" sz="2247" b="1" spc="-44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정량적 리스크 진단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6062" y="6442641"/>
            <a:ext cx="9898744" cy="3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6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법령·의결서·판례·사례 4개 에이전트가 독립적으로 분석하여 Confidence Score와 함께 보고서 생성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6062" y="5961558"/>
            <a:ext cx="4324773" cy="39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9"/>
              </a:lnSpc>
            </a:pPr>
            <a:r>
              <a:rPr lang="en-US" sz="2247" b="1" spc="-44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멀티에이전트 기반 다면적 법리 해석</a:t>
            </a:r>
          </a:p>
        </p:txBody>
      </p:sp>
      <p:sp>
        <p:nvSpPr>
          <p:cNvPr id="8" name="Freeform 8"/>
          <p:cNvSpPr/>
          <p:nvPr/>
        </p:nvSpPr>
        <p:spPr>
          <a:xfrm>
            <a:off x="11366756" y="807890"/>
            <a:ext cx="6652472" cy="8853917"/>
          </a:xfrm>
          <a:custGeom>
            <a:avLst/>
            <a:gdLst/>
            <a:ahLst/>
            <a:cxnLst/>
            <a:rect l="l" t="t" r="r" b="b"/>
            <a:pathLst>
              <a:path w="6652472" h="8853917">
                <a:moveTo>
                  <a:pt x="0" y="0"/>
                </a:moveTo>
                <a:lnTo>
                  <a:pt x="6652472" y="0"/>
                </a:lnTo>
                <a:lnTo>
                  <a:pt x="6652472" y="8853917"/>
                </a:lnTo>
                <a:lnTo>
                  <a:pt x="0" y="885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531" b="-29614"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987831" y="535322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1.3 아이디어 결과 내용 요약</a:t>
            </a:r>
          </a:p>
        </p:txBody>
      </p:sp>
      <p:sp>
        <p:nvSpPr>
          <p:cNvPr id="18" name="Freeform 18"/>
          <p:cNvSpPr/>
          <p:nvPr/>
        </p:nvSpPr>
        <p:spPr>
          <a:xfrm>
            <a:off x="1106062" y="7546794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065907" y="8579600"/>
            <a:ext cx="5492468" cy="3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6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필수·권장 점검 항목 체크리스트 자동 생성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6062" y="8098517"/>
            <a:ext cx="2876550" cy="39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9"/>
              </a:lnSpc>
            </a:pPr>
            <a:r>
              <a:rPr lang="en-US" sz="2247" b="1" spc="-44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컴플라이언스 체크리스트</a:t>
            </a:r>
          </a:p>
        </p:txBody>
      </p:sp>
      <p:sp>
        <p:nvSpPr>
          <p:cNvPr id="21" name="Freeform 21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헤아림이 제공하는 진단 결과</a:t>
            </a:r>
          </a:p>
        </p:txBody>
      </p:sp>
      <p:sp>
        <p:nvSpPr>
          <p:cNvPr id="24" name="Freeform 24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2" name="AutoShape 2">
            <a:extLst>
              <a:ext uri="{FF2B5EF4-FFF2-40B4-BE49-F238E27FC236}">
                <a16:creationId xmlns:a16="http://schemas.microsoft.com/office/drawing/2014/main" id="{F38C97A0-E773-CD43-8F2A-953728293504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CADF80D8-6C1F-834C-FABA-37A100BF8B7A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5D4C8D90-863A-D292-3EDB-68CAB67C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F6F6367-1CE5-8716-EAAE-DE5B309DB3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907" y="4276333"/>
            <a:ext cx="4324774" cy="4861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헤아림이 제공하는 진단 결과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87831" y="535322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1.3 아이디어 결과 내용 요약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5308446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028700" y="74906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106062" y="6336387"/>
            <a:ext cx="7447483" cy="3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6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유사 의결서의 핵심 판단 문장과, 실제 적용 가능한 법령 조문을 함께 제시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6062" y="5855305"/>
            <a:ext cx="2876550" cy="39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9"/>
              </a:lnSpc>
            </a:pPr>
            <a:r>
              <a:rPr lang="en-US" sz="2247" b="1" spc="-44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관련 법령 및 의결서 근거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6062" y="8511330"/>
            <a:ext cx="8180036" cy="3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6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4개 에이전트 분석을 종합하여 위반 여부와 예상 과징금·시정조치 가능성을 안내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062" y="8032847"/>
            <a:ext cx="2876550" cy="39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9"/>
              </a:lnSpc>
            </a:pPr>
            <a:r>
              <a:rPr lang="en-US" sz="2247" b="1" spc="-44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법리 해석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8700" y="2916964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137388" y="3946688"/>
            <a:ext cx="7730842" cy="3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6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 DB에서 동일 위반 유형의 실제 제재 사례를 유사도 점수와 함께 제시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7388" y="3468781"/>
            <a:ext cx="2876550" cy="39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9"/>
              </a:lnSpc>
            </a:pPr>
            <a:r>
              <a:rPr lang="en-US" sz="2247" b="1" spc="-44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유사 사례</a:t>
            </a:r>
          </a:p>
        </p:txBody>
      </p:sp>
      <p:sp>
        <p:nvSpPr>
          <p:cNvPr id="15" name="Freeform 15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Freeform 17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>
            <a:off x="11366756" y="807890"/>
            <a:ext cx="6652472" cy="8853917"/>
          </a:xfrm>
          <a:custGeom>
            <a:avLst/>
            <a:gdLst/>
            <a:ahLst/>
            <a:cxnLst/>
            <a:rect l="l" t="t" r="r" b="b"/>
            <a:pathLst>
              <a:path w="6652472" h="8853917">
                <a:moveTo>
                  <a:pt x="0" y="0"/>
                </a:moveTo>
                <a:lnTo>
                  <a:pt x="6652472" y="0"/>
                </a:lnTo>
                <a:lnTo>
                  <a:pt x="6652472" y="8853917"/>
                </a:lnTo>
                <a:lnTo>
                  <a:pt x="0" y="88539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4531" b="-29614"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412395B3-11BB-7DC3-3D14-0338ABF6C552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B54F8AAC-E197-1A70-C37F-C48C808ECB98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4F28FC86-5FA6-94C3-FA9D-CF13DE17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4922" y="3815432"/>
            <a:ext cx="6596943" cy="2391974"/>
            <a:chOff x="0" y="0"/>
            <a:chExt cx="1737466" cy="629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7466" cy="629985"/>
            </a:xfrm>
            <a:custGeom>
              <a:avLst/>
              <a:gdLst/>
              <a:ahLst/>
              <a:cxnLst/>
              <a:rect l="l" t="t" r="r" b="b"/>
              <a:pathLst>
                <a:path w="1737466" h="629985">
                  <a:moveTo>
                    <a:pt x="23471" y="0"/>
                  </a:moveTo>
                  <a:lnTo>
                    <a:pt x="1713995" y="0"/>
                  </a:lnTo>
                  <a:cubicBezTo>
                    <a:pt x="1720220" y="0"/>
                    <a:pt x="1726190" y="2473"/>
                    <a:pt x="1730592" y="6875"/>
                  </a:cubicBezTo>
                  <a:cubicBezTo>
                    <a:pt x="1734994" y="11276"/>
                    <a:pt x="1737466" y="17246"/>
                    <a:pt x="1737466" y="23471"/>
                  </a:cubicBezTo>
                  <a:lnTo>
                    <a:pt x="1737466" y="606514"/>
                  </a:lnTo>
                  <a:cubicBezTo>
                    <a:pt x="1737466" y="619476"/>
                    <a:pt x="1726958" y="629985"/>
                    <a:pt x="1713995" y="629985"/>
                  </a:cubicBezTo>
                  <a:lnTo>
                    <a:pt x="23471" y="629985"/>
                  </a:lnTo>
                  <a:cubicBezTo>
                    <a:pt x="17246" y="629985"/>
                    <a:pt x="11276" y="627512"/>
                    <a:pt x="6875" y="623110"/>
                  </a:cubicBezTo>
                  <a:cubicBezTo>
                    <a:pt x="2473" y="618709"/>
                    <a:pt x="0" y="612739"/>
                    <a:pt x="0" y="606514"/>
                  </a:cubicBezTo>
                  <a:lnTo>
                    <a:pt x="0" y="23471"/>
                  </a:lnTo>
                  <a:cubicBezTo>
                    <a:pt x="0" y="17246"/>
                    <a:pt x="2473" y="11276"/>
                    <a:pt x="6875" y="6875"/>
                  </a:cubicBezTo>
                  <a:cubicBezTo>
                    <a:pt x="11276" y="2473"/>
                    <a:pt x="17246" y="0"/>
                    <a:pt x="2347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737466" cy="601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2663843" y="4208927"/>
            <a:ext cx="535304" cy="535304"/>
          </a:xfrm>
          <a:custGeom>
            <a:avLst/>
            <a:gdLst/>
            <a:ahLst/>
            <a:cxnLst/>
            <a:rect l="l" t="t" r="r" b="b"/>
            <a:pathLst>
              <a:path w="535304" h="535304">
                <a:moveTo>
                  <a:pt x="0" y="0"/>
                </a:moveTo>
                <a:lnTo>
                  <a:pt x="535304" y="0"/>
                </a:lnTo>
                <a:lnTo>
                  <a:pt x="535304" y="535304"/>
                </a:lnTo>
                <a:lnTo>
                  <a:pt x="0" y="535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2374922" y="6445531"/>
            <a:ext cx="6596943" cy="2391974"/>
            <a:chOff x="0" y="0"/>
            <a:chExt cx="1737466" cy="6299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7466" cy="629985"/>
            </a:xfrm>
            <a:custGeom>
              <a:avLst/>
              <a:gdLst/>
              <a:ahLst/>
              <a:cxnLst/>
              <a:rect l="l" t="t" r="r" b="b"/>
              <a:pathLst>
                <a:path w="1737466" h="629985">
                  <a:moveTo>
                    <a:pt x="23471" y="0"/>
                  </a:moveTo>
                  <a:lnTo>
                    <a:pt x="1713995" y="0"/>
                  </a:lnTo>
                  <a:cubicBezTo>
                    <a:pt x="1720220" y="0"/>
                    <a:pt x="1726190" y="2473"/>
                    <a:pt x="1730592" y="6875"/>
                  </a:cubicBezTo>
                  <a:cubicBezTo>
                    <a:pt x="1734994" y="11276"/>
                    <a:pt x="1737466" y="17246"/>
                    <a:pt x="1737466" y="23471"/>
                  </a:cubicBezTo>
                  <a:lnTo>
                    <a:pt x="1737466" y="606514"/>
                  </a:lnTo>
                  <a:cubicBezTo>
                    <a:pt x="1737466" y="619476"/>
                    <a:pt x="1726958" y="629985"/>
                    <a:pt x="1713995" y="629985"/>
                  </a:cubicBezTo>
                  <a:lnTo>
                    <a:pt x="23471" y="629985"/>
                  </a:lnTo>
                  <a:cubicBezTo>
                    <a:pt x="17246" y="629985"/>
                    <a:pt x="11276" y="627512"/>
                    <a:pt x="6875" y="623110"/>
                  </a:cubicBezTo>
                  <a:cubicBezTo>
                    <a:pt x="2473" y="618709"/>
                    <a:pt x="0" y="612739"/>
                    <a:pt x="0" y="606514"/>
                  </a:cubicBezTo>
                  <a:lnTo>
                    <a:pt x="0" y="23471"/>
                  </a:lnTo>
                  <a:cubicBezTo>
                    <a:pt x="0" y="17246"/>
                    <a:pt x="2473" y="11276"/>
                    <a:pt x="6875" y="6875"/>
                  </a:cubicBezTo>
                  <a:cubicBezTo>
                    <a:pt x="11276" y="2473"/>
                    <a:pt x="17246" y="0"/>
                    <a:pt x="2347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737466" cy="601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656222" y="6839705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0" y="0"/>
                </a:moveTo>
                <a:lnTo>
                  <a:pt x="542925" y="0"/>
                </a:lnTo>
                <a:lnTo>
                  <a:pt x="54292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316135" y="3815432"/>
            <a:ext cx="6596943" cy="2391974"/>
            <a:chOff x="0" y="0"/>
            <a:chExt cx="1737466" cy="6299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37466" cy="629985"/>
            </a:xfrm>
            <a:custGeom>
              <a:avLst/>
              <a:gdLst/>
              <a:ahLst/>
              <a:cxnLst/>
              <a:rect l="l" t="t" r="r" b="b"/>
              <a:pathLst>
                <a:path w="1737466" h="629985">
                  <a:moveTo>
                    <a:pt x="23471" y="0"/>
                  </a:moveTo>
                  <a:lnTo>
                    <a:pt x="1713995" y="0"/>
                  </a:lnTo>
                  <a:cubicBezTo>
                    <a:pt x="1720220" y="0"/>
                    <a:pt x="1726190" y="2473"/>
                    <a:pt x="1730592" y="6875"/>
                  </a:cubicBezTo>
                  <a:cubicBezTo>
                    <a:pt x="1734994" y="11276"/>
                    <a:pt x="1737466" y="17246"/>
                    <a:pt x="1737466" y="23471"/>
                  </a:cubicBezTo>
                  <a:lnTo>
                    <a:pt x="1737466" y="606514"/>
                  </a:lnTo>
                  <a:cubicBezTo>
                    <a:pt x="1737466" y="619476"/>
                    <a:pt x="1726958" y="629985"/>
                    <a:pt x="1713995" y="629985"/>
                  </a:cubicBezTo>
                  <a:lnTo>
                    <a:pt x="23471" y="629985"/>
                  </a:lnTo>
                  <a:cubicBezTo>
                    <a:pt x="17246" y="629985"/>
                    <a:pt x="11276" y="627512"/>
                    <a:pt x="6875" y="623110"/>
                  </a:cubicBezTo>
                  <a:cubicBezTo>
                    <a:pt x="2473" y="618709"/>
                    <a:pt x="0" y="612739"/>
                    <a:pt x="0" y="606514"/>
                  </a:cubicBezTo>
                  <a:lnTo>
                    <a:pt x="0" y="23471"/>
                  </a:lnTo>
                  <a:cubicBezTo>
                    <a:pt x="0" y="17246"/>
                    <a:pt x="2473" y="11276"/>
                    <a:pt x="6875" y="6875"/>
                  </a:cubicBezTo>
                  <a:cubicBezTo>
                    <a:pt x="11276" y="2473"/>
                    <a:pt x="17246" y="0"/>
                    <a:pt x="2347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737466" cy="601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597435" y="4208927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0" y="0"/>
                </a:moveTo>
                <a:lnTo>
                  <a:pt x="542925" y="0"/>
                </a:lnTo>
                <a:lnTo>
                  <a:pt x="54292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9316135" y="6445531"/>
            <a:ext cx="6596943" cy="2391974"/>
            <a:chOff x="0" y="0"/>
            <a:chExt cx="1737466" cy="6299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37466" cy="629985"/>
            </a:xfrm>
            <a:custGeom>
              <a:avLst/>
              <a:gdLst/>
              <a:ahLst/>
              <a:cxnLst/>
              <a:rect l="l" t="t" r="r" b="b"/>
              <a:pathLst>
                <a:path w="1737466" h="629985">
                  <a:moveTo>
                    <a:pt x="23471" y="0"/>
                  </a:moveTo>
                  <a:lnTo>
                    <a:pt x="1713995" y="0"/>
                  </a:lnTo>
                  <a:cubicBezTo>
                    <a:pt x="1720220" y="0"/>
                    <a:pt x="1726190" y="2473"/>
                    <a:pt x="1730592" y="6875"/>
                  </a:cubicBezTo>
                  <a:cubicBezTo>
                    <a:pt x="1734994" y="11276"/>
                    <a:pt x="1737466" y="17246"/>
                    <a:pt x="1737466" y="23471"/>
                  </a:cubicBezTo>
                  <a:lnTo>
                    <a:pt x="1737466" y="606514"/>
                  </a:lnTo>
                  <a:cubicBezTo>
                    <a:pt x="1737466" y="619476"/>
                    <a:pt x="1726958" y="629985"/>
                    <a:pt x="1713995" y="629985"/>
                  </a:cubicBezTo>
                  <a:lnTo>
                    <a:pt x="23471" y="629985"/>
                  </a:lnTo>
                  <a:cubicBezTo>
                    <a:pt x="17246" y="629985"/>
                    <a:pt x="11276" y="627512"/>
                    <a:pt x="6875" y="623110"/>
                  </a:cubicBezTo>
                  <a:cubicBezTo>
                    <a:pt x="2473" y="618709"/>
                    <a:pt x="0" y="612739"/>
                    <a:pt x="0" y="606514"/>
                  </a:cubicBezTo>
                  <a:lnTo>
                    <a:pt x="0" y="23471"/>
                  </a:lnTo>
                  <a:cubicBezTo>
                    <a:pt x="0" y="17246"/>
                    <a:pt x="2473" y="11276"/>
                    <a:pt x="6875" y="6875"/>
                  </a:cubicBezTo>
                  <a:cubicBezTo>
                    <a:pt x="11276" y="2473"/>
                    <a:pt x="17246" y="0"/>
                    <a:pt x="2347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737466" cy="601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9597435" y="6839705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0" y="0"/>
                </a:moveTo>
                <a:lnTo>
                  <a:pt x="542925" y="0"/>
                </a:lnTo>
                <a:lnTo>
                  <a:pt x="54292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7239939" y="5973361"/>
            <a:ext cx="3806455" cy="671492"/>
            <a:chOff x="0" y="0"/>
            <a:chExt cx="1002523" cy="1768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2523" cy="176854"/>
            </a:xfrm>
            <a:custGeom>
              <a:avLst/>
              <a:gdLst/>
              <a:ahLst/>
              <a:cxnLst/>
              <a:rect l="l" t="t" r="r" b="b"/>
              <a:pathLst>
                <a:path w="1002523" h="176854">
                  <a:moveTo>
                    <a:pt x="40678" y="0"/>
                  </a:moveTo>
                  <a:lnTo>
                    <a:pt x="961845" y="0"/>
                  </a:lnTo>
                  <a:cubicBezTo>
                    <a:pt x="984311" y="0"/>
                    <a:pt x="1002523" y="18212"/>
                    <a:pt x="1002523" y="40678"/>
                  </a:cubicBezTo>
                  <a:lnTo>
                    <a:pt x="1002523" y="136176"/>
                  </a:lnTo>
                  <a:cubicBezTo>
                    <a:pt x="1002523" y="146964"/>
                    <a:pt x="998237" y="157311"/>
                    <a:pt x="990609" y="164940"/>
                  </a:cubicBezTo>
                  <a:cubicBezTo>
                    <a:pt x="982980" y="172568"/>
                    <a:pt x="972634" y="176854"/>
                    <a:pt x="961845" y="176854"/>
                  </a:cubicBezTo>
                  <a:lnTo>
                    <a:pt x="40678" y="176854"/>
                  </a:lnTo>
                  <a:cubicBezTo>
                    <a:pt x="29889" y="176854"/>
                    <a:pt x="19543" y="172568"/>
                    <a:pt x="11914" y="164940"/>
                  </a:cubicBezTo>
                  <a:cubicBezTo>
                    <a:pt x="4286" y="157311"/>
                    <a:pt x="0" y="146964"/>
                    <a:pt x="0" y="136176"/>
                  </a:cubicBezTo>
                  <a:lnTo>
                    <a:pt x="0" y="40678"/>
                  </a:lnTo>
                  <a:cubicBezTo>
                    <a:pt x="0" y="29889"/>
                    <a:pt x="4286" y="19543"/>
                    <a:pt x="11914" y="11914"/>
                  </a:cubicBezTo>
                  <a:cubicBezTo>
                    <a:pt x="19543" y="4286"/>
                    <a:pt x="29889" y="0"/>
                    <a:pt x="40678" y="0"/>
                  </a:cubicBezTo>
                  <a:close/>
                </a:path>
              </a:pathLst>
            </a:custGeom>
            <a:solidFill>
              <a:srgbClr val="4849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1002523" cy="148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670910" y="4858075"/>
            <a:ext cx="4728065" cy="3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5"/>
              </a:lnSpc>
            </a:pPr>
            <a:r>
              <a:rPr lang="en-US" sz="2419" b="1" spc="-4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계약 체결 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70910" y="5389083"/>
            <a:ext cx="5425466" cy="35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0"/>
              </a:lnSpc>
              <a:spcBef>
                <a:spcPct val="0"/>
              </a:spcBef>
            </a:pPr>
            <a:r>
              <a:rPr lang="en-US" sz="1940" spc="-38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계약 조건의 공정거래법 위반 여부 사전 파악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2.1 대상 사용자 유형 및 활용 범위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1207" y="398628"/>
            <a:ext cx="1642256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주요내용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670910" y="7488174"/>
            <a:ext cx="4728065" cy="3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5"/>
              </a:lnSpc>
            </a:pPr>
            <a:r>
              <a:rPr lang="en-US" sz="2419" b="1" spc="-4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위반 의심 상황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70910" y="8018195"/>
            <a:ext cx="5425466" cy="35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0"/>
              </a:lnSpc>
              <a:spcBef>
                <a:spcPct val="0"/>
              </a:spcBef>
            </a:pPr>
            <a:r>
              <a:rPr lang="en-US" sz="1940" spc="-38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유사 제재 사례 및 리스크 수준 파악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2123" y="4858075"/>
            <a:ext cx="4728065" cy="3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5"/>
              </a:lnSpc>
            </a:pPr>
            <a:r>
              <a:rPr lang="en-US" sz="2419" b="1" spc="-4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거래 진행 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12123" y="5389083"/>
            <a:ext cx="5425466" cy="35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0"/>
              </a:lnSpc>
              <a:spcBef>
                <a:spcPct val="0"/>
              </a:spcBef>
            </a:pPr>
            <a:r>
              <a:rPr lang="en-US" sz="1940" spc="-38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현재 거래 구조의 법적 문제 여부 확인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12123" y="7488174"/>
            <a:ext cx="4728065" cy="3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5"/>
              </a:lnSpc>
            </a:pPr>
            <a:r>
              <a:rPr lang="en-US" sz="2419" b="1" spc="-4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정기 점검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12123" y="8018195"/>
            <a:ext cx="5425466" cy="35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0"/>
              </a:lnSpc>
              <a:spcBef>
                <a:spcPct val="0"/>
              </a:spcBef>
            </a:pPr>
            <a:r>
              <a:rPr lang="en-US" sz="1940" spc="-38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거래 전반 주요 위반 유형 체계적 점검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94497" y="6154056"/>
            <a:ext cx="3497338" cy="310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3"/>
              </a:lnSpc>
            </a:pPr>
            <a:r>
              <a:rPr lang="en-US" sz="2087" b="1" spc="-41">
                <a:solidFill>
                  <a:srgbClr val="F8F8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 컴플라이언스 담당자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대상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사용자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유형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및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상황별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주요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니즈</a:t>
            </a:r>
            <a:endParaRPr lang="en-US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6" name="Freeform 36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7" name="슬라이드 번호 개체 틀 36">
            <a:extLst>
              <a:ext uri="{FF2B5EF4-FFF2-40B4-BE49-F238E27FC236}">
                <a16:creationId xmlns:a16="http://schemas.microsoft.com/office/drawing/2014/main" id="{0148EF3C-1308-0DE6-2F86-CF45F8E8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4921" y="3345732"/>
            <a:ext cx="2927533" cy="2927533"/>
          </a:xfrm>
          <a:custGeom>
            <a:avLst/>
            <a:gdLst/>
            <a:ahLst/>
            <a:cxnLst/>
            <a:rect l="l" t="t" r="r" b="b"/>
            <a:pathLst>
              <a:path w="2927533" h="2927533">
                <a:moveTo>
                  <a:pt x="0" y="0"/>
                </a:moveTo>
                <a:lnTo>
                  <a:pt x="2927533" y="0"/>
                </a:lnTo>
                <a:lnTo>
                  <a:pt x="2927533" y="2927532"/>
                </a:lnTo>
                <a:lnTo>
                  <a:pt x="0" y="2927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802150" y="3501489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0" y="0"/>
                </a:moveTo>
                <a:lnTo>
                  <a:pt x="2771775" y="0"/>
                </a:lnTo>
                <a:lnTo>
                  <a:pt x="2771775" y="2771775"/>
                </a:lnTo>
                <a:lnTo>
                  <a:pt x="0" y="2771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13318498" y="3501489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0" y="0"/>
                </a:moveTo>
                <a:lnTo>
                  <a:pt x="2771775" y="0"/>
                </a:lnTo>
                <a:lnTo>
                  <a:pt x="2771775" y="2771775"/>
                </a:lnTo>
                <a:lnTo>
                  <a:pt x="0" y="2771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91279" y="8098379"/>
            <a:ext cx="4027896" cy="989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사건 개요·사실관계·위반 행위·시장 영향·</a:t>
            </a:r>
          </a:p>
          <a:p>
            <a:pPr marL="0" lvl="0" indent="0"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적용 법령제재 내용을 바탕으로</a:t>
            </a:r>
            <a:r>
              <a:rPr lang="en-US" sz="1829" u="none" strike="noStrike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  <a:p>
            <a:pPr marL="0" lvl="0" indent="0" algn="l">
              <a:lnSpc>
                <a:spcPts val="2653"/>
              </a:lnSpc>
            </a:pPr>
            <a:r>
              <a:rPr lang="en-US" sz="1829" u="none" strike="noStrike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진단 및 QA 데이터 구성에 사용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91279" y="7073364"/>
            <a:ext cx="4104431" cy="78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공정거래위원회 </a:t>
            </a:r>
          </a:p>
          <a:p>
            <a:pPr marL="0" lvl="0" indent="0"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의결서 원문 데이터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2.1 대상 사용자 유형 및 활용 범위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활용 범위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691279" y="6435189"/>
            <a:ext cx="1280231" cy="400609"/>
            <a:chOff x="0" y="0"/>
            <a:chExt cx="337180" cy="1055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7180" cy="105510"/>
            </a:xfrm>
            <a:custGeom>
              <a:avLst/>
              <a:gdLst/>
              <a:ahLst/>
              <a:cxnLst/>
              <a:rect l="l" t="t" r="r" b="b"/>
              <a:pathLst>
                <a:path w="337180" h="105510">
                  <a:moveTo>
                    <a:pt x="52755" y="0"/>
                  </a:moveTo>
                  <a:lnTo>
                    <a:pt x="284425" y="0"/>
                  </a:lnTo>
                  <a:cubicBezTo>
                    <a:pt x="298416" y="0"/>
                    <a:pt x="311835" y="5558"/>
                    <a:pt x="321728" y="15452"/>
                  </a:cubicBezTo>
                  <a:cubicBezTo>
                    <a:pt x="331622" y="25345"/>
                    <a:pt x="337180" y="38764"/>
                    <a:pt x="337180" y="52755"/>
                  </a:cubicBezTo>
                  <a:lnTo>
                    <a:pt x="337180" y="52755"/>
                  </a:lnTo>
                  <a:cubicBezTo>
                    <a:pt x="337180" y="66747"/>
                    <a:pt x="331622" y="80165"/>
                    <a:pt x="321728" y="90059"/>
                  </a:cubicBezTo>
                  <a:cubicBezTo>
                    <a:pt x="311835" y="99952"/>
                    <a:pt x="298416" y="105510"/>
                    <a:pt x="284425" y="105510"/>
                  </a:cubicBezTo>
                  <a:lnTo>
                    <a:pt x="52755" y="105510"/>
                  </a:lnTo>
                  <a:cubicBezTo>
                    <a:pt x="38764" y="105510"/>
                    <a:pt x="25345" y="99952"/>
                    <a:pt x="15452" y="90059"/>
                  </a:cubicBezTo>
                  <a:cubicBezTo>
                    <a:pt x="5558" y="80165"/>
                    <a:pt x="0" y="66747"/>
                    <a:pt x="0" y="52755"/>
                  </a:cubicBezTo>
                  <a:lnTo>
                    <a:pt x="0" y="52755"/>
                  </a:lnTo>
                  <a:cubicBezTo>
                    <a:pt x="0" y="38764"/>
                    <a:pt x="5558" y="25345"/>
                    <a:pt x="15452" y="15452"/>
                  </a:cubicBezTo>
                  <a:cubicBezTo>
                    <a:pt x="25345" y="5558"/>
                    <a:pt x="38764" y="0"/>
                    <a:pt x="52755" y="0"/>
                  </a:cubicBezTo>
                  <a:close/>
                </a:path>
              </a:pathLst>
            </a:custGeom>
            <a:solidFill>
              <a:srgbClr val="A3BFD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337180" cy="95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71011" y="6504849"/>
            <a:ext cx="1120766" cy="25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1"/>
              </a:lnSpc>
            </a:pPr>
            <a:r>
              <a:rPr lang="en-US" sz="1619" b="1" spc="-32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핵심 데이터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43199" y="8098379"/>
            <a:ext cx="4179848" cy="6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사건의 핵심 쟁점·제재 취지·정책적 배경 파악에 </a:t>
            </a:r>
          </a:p>
          <a:p>
            <a:pPr marL="0" lvl="0" indent="0"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보조적으로</a:t>
            </a:r>
            <a:r>
              <a:rPr lang="en-US" sz="1829" u="none" strike="noStrike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활용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43199" y="7073364"/>
            <a:ext cx="4104431" cy="78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공정거래위원회</a:t>
            </a:r>
          </a:p>
          <a:p>
            <a:pPr marL="0" lvl="0" indent="0"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보도자료·설명자료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443199" y="6435189"/>
            <a:ext cx="1280231" cy="400609"/>
            <a:chOff x="0" y="0"/>
            <a:chExt cx="337180" cy="1055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7180" cy="105510"/>
            </a:xfrm>
            <a:custGeom>
              <a:avLst/>
              <a:gdLst/>
              <a:ahLst/>
              <a:cxnLst/>
              <a:rect l="l" t="t" r="r" b="b"/>
              <a:pathLst>
                <a:path w="337180" h="105510">
                  <a:moveTo>
                    <a:pt x="52755" y="0"/>
                  </a:moveTo>
                  <a:lnTo>
                    <a:pt x="284425" y="0"/>
                  </a:lnTo>
                  <a:cubicBezTo>
                    <a:pt x="298416" y="0"/>
                    <a:pt x="311835" y="5558"/>
                    <a:pt x="321728" y="15452"/>
                  </a:cubicBezTo>
                  <a:cubicBezTo>
                    <a:pt x="331622" y="25345"/>
                    <a:pt x="337180" y="38764"/>
                    <a:pt x="337180" y="52755"/>
                  </a:cubicBezTo>
                  <a:lnTo>
                    <a:pt x="337180" y="52755"/>
                  </a:lnTo>
                  <a:cubicBezTo>
                    <a:pt x="337180" y="66747"/>
                    <a:pt x="331622" y="80165"/>
                    <a:pt x="321728" y="90059"/>
                  </a:cubicBezTo>
                  <a:cubicBezTo>
                    <a:pt x="311835" y="99952"/>
                    <a:pt x="298416" y="105510"/>
                    <a:pt x="284425" y="105510"/>
                  </a:cubicBezTo>
                  <a:lnTo>
                    <a:pt x="52755" y="105510"/>
                  </a:lnTo>
                  <a:cubicBezTo>
                    <a:pt x="38764" y="105510"/>
                    <a:pt x="25345" y="99952"/>
                    <a:pt x="15452" y="90059"/>
                  </a:cubicBezTo>
                  <a:cubicBezTo>
                    <a:pt x="5558" y="80165"/>
                    <a:pt x="0" y="66747"/>
                    <a:pt x="0" y="52755"/>
                  </a:cubicBezTo>
                  <a:lnTo>
                    <a:pt x="0" y="52755"/>
                  </a:lnTo>
                  <a:cubicBezTo>
                    <a:pt x="0" y="38764"/>
                    <a:pt x="5558" y="25345"/>
                    <a:pt x="15452" y="15452"/>
                  </a:cubicBezTo>
                  <a:cubicBezTo>
                    <a:pt x="25345" y="5558"/>
                    <a:pt x="38764" y="0"/>
                    <a:pt x="52755" y="0"/>
                  </a:cubicBezTo>
                  <a:close/>
                </a:path>
              </a:pathLst>
            </a:custGeom>
            <a:solidFill>
              <a:srgbClr val="CCCCC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337180" cy="95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522932" y="6504849"/>
            <a:ext cx="1120766" cy="25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1"/>
              </a:lnSpc>
            </a:pPr>
            <a:r>
              <a:rPr lang="en-US" sz="1619" b="1" spc="-32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보조 데이터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18498" y="8098379"/>
            <a:ext cx="4361159" cy="6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결정문 자료 조회를 통해 </a:t>
            </a:r>
          </a:p>
          <a:p>
            <a:pPr marL="0" lvl="0" indent="0"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내재적 지식(의결서)</a:t>
            </a:r>
            <a:r>
              <a:rPr lang="en-US" sz="1829" u="none" strike="noStrike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재검증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18498" y="7073364"/>
            <a:ext cx="4104431" cy="78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법령·판례·공정거래위원회</a:t>
            </a:r>
          </a:p>
          <a:p>
            <a:pPr marL="0" lvl="0" indent="0"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결정문 자료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318498" y="6435189"/>
            <a:ext cx="1280231" cy="400609"/>
            <a:chOff x="0" y="0"/>
            <a:chExt cx="337180" cy="10551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7180" cy="105510"/>
            </a:xfrm>
            <a:custGeom>
              <a:avLst/>
              <a:gdLst/>
              <a:ahLst/>
              <a:cxnLst/>
              <a:rect l="l" t="t" r="r" b="b"/>
              <a:pathLst>
                <a:path w="337180" h="105510">
                  <a:moveTo>
                    <a:pt x="52755" y="0"/>
                  </a:moveTo>
                  <a:lnTo>
                    <a:pt x="284425" y="0"/>
                  </a:lnTo>
                  <a:cubicBezTo>
                    <a:pt x="298416" y="0"/>
                    <a:pt x="311835" y="5558"/>
                    <a:pt x="321728" y="15452"/>
                  </a:cubicBezTo>
                  <a:cubicBezTo>
                    <a:pt x="331622" y="25345"/>
                    <a:pt x="337180" y="38764"/>
                    <a:pt x="337180" y="52755"/>
                  </a:cubicBezTo>
                  <a:lnTo>
                    <a:pt x="337180" y="52755"/>
                  </a:lnTo>
                  <a:cubicBezTo>
                    <a:pt x="337180" y="66747"/>
                    <a:pt x="331622" y="80165"/>
                    <a:pt x="321728" y="90059"/>
                  </a:cubicBezTo>
                  <a:cubicBezTo>
                    <a:pt x="311835" y="99952"/>
                    <a:pt x="298416" y="105510"/>
                    <a:pt x="284425" y="105510"/>
                  </a:cubicBezTo>
                  <a:lnTo>
                    <a:pt x="52755" y="105510"/>
                  </a:lnTo>
                  <a:cubicBezTo>
                    <a:pt x="38764" y="105510"/>
                    <a:pt x="25345" y="99952"/>
                    <a:pt x="15452" y="90059"/>
                  </a:cubicBezTo>
                  <a:cubicBezTo>
                    <a:pt x="5558" y="80165"/>
                    <a:pt x="0" y="66747"/>
                    <a:pt x="0" y="52755"/>
                  </a:cubicBezTo>
                  <a:lnTo>
                    <a:pt x="0" y="52755"/>
                  </a:lnTo>
                  <a:cubicBezTo>
                    <a:pt x="0" y="38764"/>
                    <a:pt x="5558" y="25345"/>
                    <a:pt x="15452" y="15452"/>
                  </a:cubicBezTo>
                  <a:cubicBezTo>
                    <a:pt x="25345" y="5558"/>
                    <a:pt x="38764" y="0"/>
                    <a:pt x="52755" y="0"/>
                  </a:cubicBezTo>
                  <a:close/>
                </a:path>
              </a:pathLst>
            </a:custGeom>
            <a:solidFill>
              <a:srgbClr val="CCCCC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337180" cy="95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398230" y="6504849"/>
            <a:ext cx="1120766" cy="25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1"/>
              </a:lnSpc>
            </a:pPr>
            <a:r>
              <a:rPr lang="en-US" sz="1619" b="1" spc="-32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보조 데이터</a:t>
            </a:r>
          </a:p>
        </p:txBody>
      </p:sp>
      <p:sp>
        <p:nvSpPr>
          <p:cNvPr id="29" name="Freeform 29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AE56025D-9DF1-928B-2D3B-795DBA3C83C3}"/>
              </a:ext>
            </a:extLst>
          </p:cNvPr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9783B359-D692-EFD7-9D8B-A9623847F782}"/>
              </a:ext>
            </a:extLst>
          </p:cNvPr>
          <p:cNvSpPr txBox="1"/>
          <p:nvPr/>
        </p:nvSpPr>
        <p:spPr>
          <a:xfrm>
            <a:off x="881207" y="398628"/>
            <a:ext cx="1642256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주요내용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C134FE89-B86C-17BB-2586-FBEF4C0B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46895" y="3098426"/>
            <a:ext cx="11794210" cy="6619501"/>
          </a:xfrm>
          <a:custGeom>
            <a:avLst/>
            <a:gdLst/>
            <a:ahLst/>
            <a:cxnLst/>
            <a:rect l="l" t="t" r="r" b="b"/>
            <a:pathLst>
              <a:path w="11794210" h="6619501">
                <a:moveTo>
                  <a:pt x="0" y="0"/>
                </a:moveTo>
                <a:lnTo>
                  <a:pt x="11794210" y="0"/>
                </a:lnTo>
                <a:lnTo>
                  <a:pt x="11794210" y="6619500"/>
                </a:lnTo>
                <a:lnTo>
                  <a:pt x="0" y="661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2.2 구축 AI 서비스 모델 구조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 서비스 흐름</a:t>
            </a:r>
          </a:p>
        </p:txBody>
      </p:sp>
      <p:sp>
        <p:nvSpPr>
          <p:cNvPr id="7" name="Freeform 7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196717" y="2333557"/>
            <a:ext cx="6808027" cy="3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6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RAG, MCP 및 LLM 멀티에이전트 기반 구조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2641BAD1-2997-820A-1DA7-0E331204EBE5}"/>
              </a:ext>
            </a:extLst>
          </p:cNvPr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59E5AC0F-022F-EB16-8EF0-DE773ADA57BA}"/>
              </a:ext>
            </a:extLst>
          </p:cNvPr>
          <p:cNvSpPr txBox="1"/>
          <p:nvPr/>
        </p:nvSpPr>
        <p:spPr>
          <a:xfrm>
            <a:off x="881207" y="398628"/>
            <a:ext cx="1642256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주요내용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C9F3483-7620-387D-A33E-94397D65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1500" y="3430682"/>
            <a:ext cx="2857500" cy="603018"/>
            <a:chOff x="0" y="0"/>
            <a:chExt cx="752593" cy="1588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5142" y="3606207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질의 재작성 &amp; 의도 분류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0436" y="4916792"/>
            <a:ext cx="266700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질의 처리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3963" y="5876277"/>
            <a:ext cx="3009900" cy="1602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사용자 입력 질의를 질문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 재작성 및 의도 분류 수행</a:t>
            </a:r>
          </a:p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질문 재작성은                       RAG·법령·판례(MCP) 3가지 관점으로 수행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49338" y="5876277"/>
            <a:ext cx="2800350" cy="127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Hybrid RAG 기반 의결서 및 사용자 시나리오 검색</a:t>
            </a:r>
          </a:p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LLM을 이용한 재순위화 및 관련도 평가 적용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507836" y="5813412"/>
            <a:ext cx="2896201" cy="127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신뢰도 점수</a:t>
            </a:r>
            <a:r>
              <a:rPr lang="en-US" sz="1700" u="none" strike="noStrike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기반 </a:t>
            </a:r>
          </a:p>
          <a:p>
            <a:pPr algn="l">
              <a:lnSpc>
                <a:spcPts val="2550"/>
              </a:lnSpc>
            </a:pPr>
            <a:r>
              <a:rPr lang="en-US" sz="1700" u="none" strike="noStrike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 최종 보고서 생성</a:t>
            </a:r>
          </a:p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 u="none" strike="noStrike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점수 도출 및 </a:t>
            </a:r>
          </a:p>
          <a:p>
            <a:pPr algn="l">
              <a:lnSpc>
                <a:spcPts val="2550"/>
              </a:lnSpc>
            </a:pPr>
            <a:r>
              <a:rPr lang="en-US" sz="1700" u="none" strike="noStrike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 날씨 기반 시각화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01811" y="4916792"/>
            <a:ext cx="266700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내부 검색(RAG)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83186" y="4912029"/>
            <a:ext cx="266700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외부 검색(MCP)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64561" y="4916792"/>
            <a:ext cx="266700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다면적 법리 해석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45936" y="4916792"/>
            <a:ext cx="266700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보고서 생성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253713" y="5530202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AutoShape 15"/>
          <p:cNvSpPr/>
          <p:nvPr/>
        </p:nvSpPr>
        <p:spPr>
          <a:xfrm>
            <a:off x="4615869" y="5520677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8044714" y="5511152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11355061" y="5492102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8"/>
          <p:cNvSpPr/>
          <p:nvPr/>
        </p:nvSpPr>
        <p:spPr>
          <a:xfrm>
            <a:off x="14736436" y="5501627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AutoShape 19"/>
          <p:cNvSpPr/>
          <p:nvPr/>
        </p:nvSpPr>
        <p:spPr>
          <a:xfrm>
            <a:off x="3901663" y="6235687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AutoShape 20"/>
          <p:cNvSpPr/>
          <p:nvPr/>
        </p:nvSpPr>
        <p:spPr>
          <a:xfrm>
            <a:off x="7311613" y="6235687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AutoShape 21"/>
          <p:cNvSpPr/>
          <p:nvPr/>
        </p:nvSpPr>
        <p:spPr>
          <a:xfrm>
            <a:off x="10678786" y="6316332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AutoShape 22"/>
          <p:cNvSpPr/>
          <p:nvPr/>
        </p:nvSpPr>
        <p:spPr>
          <a:xfrm>
            <a:off x="14088736" y="6316332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7759199" y="5841987"/>
            <a:ext cx="2800350" cy="127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MCP 기반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외부 데이터 검색</a:t>
            </a:r>
          </a:p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법령, 판례,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공정위 결정문 검색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97886" y="5841987"/>
            <a:ext cx="2815239" cy="1602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에이전트 구성: 법령 해석, 의결서 해석, 판례·결정문 해석, 사례 기반 해석 에이전트 </a:t>
            </a:r>
          </a:p>
          <a:p>
            <a:pPr marL="367031" lvl="1" indent="-183515" algn="l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각 에이전트는 사용자 질의와 관련도를 신뢰도 점수로 도출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2.2 구축 AI 서비스 모델 구조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 서비스 흐름</a:t>
            </a:r>
          </a:p>
        </p:txBody>
      </p:sp>
      <p:sp>
        <p:nvSpPr>
          <p:cNvPr id="29" name="Freeform 29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0" name="Group 30"/>
          <p:cNvGrpSpPr/>
          <p:nvPr/>
        </p:nvGrpSpPr>
        <p:grpSpPr>
          <a:xfrm>
            <a:off x="4292875" y="3430682"/>
            <a:ext cx="2857500" cy="603018"/>
            <a:chOff x="0" y="0"/>
            <a:chExt cx="752593" cy="1588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4326517" y="3606207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내부 검색(RAG) 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674250" y="3430682"/>
            <a:ext cx="2857500" cy="603018"/>
            <a:chOff x="0" y="0"/>
            <a:chExt cx="752593" cy="1588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707892" y="3606207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외부 검색(MCP)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055625" y="3400405"/>
            <a:ext cx="2857500" cy="603018"/>
            <a:chOff x="0" y="0"/>
            <a:chExt cx="752593" cy="1588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089267" y="3575930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다면적 법리 해석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4437000" y="3430682"/>
            <a:ext cx="2857500" cy="603018"/>
            <a:chOff x="0" y="0"/>
            <a:chExt cx="752593" cy="1588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4470642" y="3606207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최종 보고서 생성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270479" y="4567298"/>
            <a:ext cx="929664" cy="297106"/>
            <a:chOff x="0" y="0"/>
            <a:chExt cx="244850" cy="7825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338402" y="4610100"/>
            <a:ext cx="793817" cy="213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02</a:t>
            </a:r>
          </a:p>
        </p:txBody>
      </p:sp>
      <p:sp>
        <p:nvSpPr>
          <p:cNvPr id="67" name="Freeform 67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8" name="Group 46">
            <a:extLst>
              <a:ext uri="{FF2B5EF4-FFF2-40B4-BE49-F238E27FC236}">
                <a16:creationId xmlns:a16="http://schemas.microsoft.com/office/drawing/2014/main" id="{5F87C18B-03E2-BBB3-8C40-108756E132F9}"/>
              </a:ext>
            </a:extLst>
          </p:cNvPr>
          <p:cNvGrpSpPr/>
          <p:nvPr/>
        </p:nvGrpSpPr>
        <p:grpSpPr>
          <a:xfrm>
            <a:off x="1859999" y="4567298"/>
            <a:ext cx="929664" cy="297106"/>
            <a:chOff x="0" y="0"/>
            <a:chExt cx="244850" cy="78250"/>
          </a:xfrm>
        </p:grpSpPr>
        <p:sp>
          <p:nvSpPr>
            <p:cNvPr id="69" name="Freeform 47">
              <a:extLst>
                <a:ext uri="{FF2B5EF4-FFF2-40B4-BE49-F238E27FC236}">
                  <a16:creationId xmlns:a16="http://schemas.microsoft.com/office/drawing/2014/main" id="{EDAD6727-A471-70DD-4D8D-C37BAAA43ECF}"/>
                </a:ext>
              </a:extLst>
            </p:cNvPr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Box 48">
              <a:extLst>
                <a:ext uri="{FF2B5EF4-FFF2-40B4-BE49-F238E27FC236}">
                  <a16:creationId xmlns:a16="http://schemas.microsoft.com/office/drawing/2014/main" id="{2DD83006-F22F-097A-0B0C-32AD7CDDCDF6}"/>
                </a:ext>
              </a:extLst>
            </p:cNvPr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1" name="TextBox 49">
            <a:extLst>
              <a:ext uri="{FF2B5EF4-FFF2-40B4-BE49-F238E27FC236}">
                <a16:creationId xmlns:a16="http://schemas.microsoft.com/office/drawing/2014/main" id="{F6F1D23C-33E8-1C93-02D4-DF6BEFB90112}"/>
              </a:ext>
            </a:extLst>
          </p:cNvPr>
          <p:cNvSpPr txBox="1"/>
          <p:nvPr/>
        </p:nvSpPr>
        <p:spPr>
          <a:xfrm>
            <a:off x="1927922" y="4610100"/>
            <a:ext cx="793817" cy="213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02</a:t>
            </a:r>
          </a:p>
        </p:txBody>
      </p:sp>
      <p:grpSp>
        <p:nvGrpSpPr>
          <p:cNvPr id="76" name="Group 46">
            <a:extLst>
              <a:ext uri="{FF2B5EF4-FFF2-40B4-BE49-F238E27FC236}">
                <a16:creationId xmlns:a16="http://schemas.microsoft.com/office/drawing/2014/main" id="{A3FB42F3-C4C0-9260-0F3E-EC87E227FF99}"/>
              </a:ext>
            </a:extLst>
          </p:cNvPr>
          <p:cNvGrpSpPr/>
          <p:nvPr/>
        </p:nvGrpSpPr>
        <p:grpSpPr>
          <a:xfrm>
            <a:off x="8642227" y="4562007"/>
            <a:ext cx="929664" cy="297106"/>
            <a:chOff x="0" y="0"/>
            <a:chExt cx="244850" cy="78250"/>
          </a:xfrm>
        </p:grpSpPr>
        <p:sp>
          <p:nvSpPr>
            <p:cNvPr id="77" name="Freeform 47">
              <a:extLst>
                <a:ext uri="{FF2B5EF4-FFF2-40B4-BE49-F238E27FC236}">
                  <a16:creationId xmlns:a16="http://schemas.microsoft.com/office/drawing/2014/main" id="{8BF0F7D6-5F6D-55B1-5C51-CF18632B298D}"/>
                </a:ext>
              </a:extLst>
            </p:cNvPr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TextBox 48">
              <a:extLst>
                <a:ext uri="{FF2B5EF4-FFF2-40B4-BE49-F238E27FC236}">
                  <a16:creationId xmlns:a16="http://schemas.microsoft.com/office/drawing/2014/main" id="{239A510A-C617-BF52-DE34-3055EB0E1A0C}"/>
                </a:ext>
              </a:extLst>
            </p:cNvPr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9" name="TextBox 49">
            <a:extLst>
              <a:ext uri="{FF2B5EF4-FFF2-40B4-BE49-F238E27FC236}">
                <a16:creationId xmlns:a16="http://schemas.microsoft.com/office/drawing/2014/main" id="{70AAF0B9-59B2-0849-BC46-ED2F7165CA91}"/>
              </a:ext>
            </a:extLst>
          </p:cNvPr>
          <p:cNvSpPr txBox="1"/>
          <p:nvPr/>
        </p:nvSpPr>
        <p:spPr>
          <a:xfrm>
            <a:off x="8710150" y="4604809"/>
            <a:ext cx="793817" cy="213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03</a:t>
            </a:r>
          </a:p>
        </p:txBody>
      </p:sp>
      <p:sp>
        <p:nvSpPr>
          <p:cNvPr id="81" name="AutoShape 5">
            <a:extLst>
              <a:ext uri="{FF2B5EF4-FFF2-40B4-BE49-F238E27FC236}">
                <a16:creationId xmlns:a16="http://schemas.microsoft.com/office/drawing/2014/main" id="{F137804F-0640-FD8B-C336-4299B3812972}"/>
              </a:ext>
            </a:extLst>
          </p:cNvPr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Box 25">
            <a:extLst>
              <a:ext uri="{FF2B5EF4-FFF2-40B4-BE49-F238E27FC236}">
                <a16:creationId xmlns:a16="http://schemas.microsoft.com/office/drawing/2014/main" id="{9493C6A8-6EAB-28CA-42B1-034D8791DF9C}"/>
              </a:ext>
            </a:extLst>
          </p:cNvPr>
          <p:cNvSpPr txBox="1"/>
          <p:nvPr/>
        </p:nvSpPr>
        <p:spPr>
          <a:xfrm>
            <a:off x="881207" y="398628"/>
            <a:ext cx="1642256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주요내용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84" name="Group 46">
            <a:extLst>
              <a:ext uri="{FF2B5EF4-FFF2-40B4-BE49-F238E27FC236}">
                <a16:creationId xmlns:a16="http://schemas.microsoft.com/office/drawing/2014/main" id="{EFCD0A00-8D98-5ABF-8AFF-1AE1164C3733}"/>
              </a:ext>
            </a:extLst>
          </p:cNvPr>
          <p:cNvGrpSpPr/>
          <p:nvPr/>
        </p:nvGrpSpPr>
        <p:grpSpPr>
          <a:xfrm>
            <a:off x="12019936" y="4562007"/>
            <a:ext cx="929664" cy="297106"/>
            <a:chOff x="0" y="0"/>
            <a:chExt cx="244850" cy="78250"/>
          </a:xfrm>
        </p:grpSpPr>
        <p:sp>
          <p:nvSpPr>
            <p:cNvPr id="85" name="Freeform 47">
              <a:extLst>
                <a:ext uri="{FF2B5EF4-FFF2-40B4-BE49-F238E27FC236}">
                  <a16:creationId xmlns:a16="http://schemas.microsoft.com/office/drawing/2014/main" id="{04AA3F6F-05AF-D7DC-2904-328A86A3412A}"/>
                </a:ext>
              </a:extLst>
            </p:cNvPr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TextBox 48">
              <a:extLst>
                <a:ext uri="{FF2B5EF4-FFF2-40B4-BE49-F238E27FC236}">
                  <a16:creationId xmlns:a16="http://schemas.microsoft.com/office/drawing/2014/main" id="{6596D38A-C938-2C0D-663F-8960B548063D}"/>
                </a:ext>
              </a:extLst>
            </p:cNvPr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7" name="TextBox 49">
            <a:extLst>
              <a:ext uri="{FF2B5EF4-FFF2-40B4-BE49-F238E27FC236}">
                <a16:creationId xmlns:a16="http://schemas.microsoft.com/office/drawing/2014/main" id="{482D2877-0BD1-7E09-ACF1-F3CC0D308331}"/>
              </a:ext>
            </a:extLst>
          </p:cNvPr>
          <p:cNvSpPr txBox="1"/>
          <p:nvPr/>
        </p:nvSpPr>
        <p:spPr>
          <a:xfrm>
            <a:off x="12087859" y="4604809"/>
            <a:ext cx="793817" cy="213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04</a:t>
            </a:r>
          </a:p>
        </p:txBody>
      </p:sp>
      <p:grpSp>
        <p:nvGrpSpPr>
          <p:cNvPr id="88" name="Group 46">
            <a:extLst>
              <a:ext uri="{FF2B5EF4-FFF2-40B4-BE49-F238E27FC236}">
                <a16:creationId xmlns:a16="http://schemas.microsoft.com/office/drawing/2014/main" id="{4915B078-2A7B-8734-61E1-368E229F662F}"/>
              </a:ext>
            </a:extLst>
          </p:cNvPr>
          <p:cNvGrpSpPr/>
          <p:nvPr/>
        </p:nvGrpSpPr>
        <p:grpSpPr>
          <a:xfrm>
            <a:off x="15356532" y="4569545"/>
            <a:ext cx="929664" cy="297106"/>
            <a:chOff x="0" y="0"/>
            <a:chExt cx="244850" cy="78250"/>
          </a:xfrm>
        </p:grpSpPr>
        <p:sp>
          <p:nvSpPr>
            <p:cNvPr id="89" name="Freeform 47">
              <a:extLst>
                <a:ext uri="{FF2B5EF4-FFF2-40B4-BE49-F238E27FC236}">
                  <a16:creationId xmlns:a16="http://schemas.microsoft.com/office/drawing/2014/main" id="{2A4B1AA2-0789-DCCB-0687-897FB1713248}"/>
                </a:ext>
              </a:extLst>
            </p:cNvPr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TextBox 48">
              <a:extLst>
                <a:ext uri="{FF2B5EF4-FFF2-40B4-BE49-F238E27FC236}">
                  <a16:creationId xmlns:a16="http://schemas.microsoft.com/office/drawing/2014/main" id="{BBBC3060-2B1A-17E3-7EF8-217F2FAE1B5B}"/>
                </a:ext>
              </a:extLst>
            </p:cNvPr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1" name="TextBox 49">
            <a:extLst>
              <a:ext uri="{FF2B5EF4-FFF2-40B4-BE49-F238E27FC236}">
                <a16:creationId xmlns:a16="http://schemas.microsoft.com/office/drawing/2014/main" id="{E43B00CF-B5B2-FEF3-055B-59F1F0736079}"/>
              </a:ext>
            </a:extLst>
          </p:cNvPr>
          <p:cNvSpPr txBox="1"/>
          <p:nvPr/>
        </p:nvSpPr>
        <p:spPr>
          <a:xfrm>
            <a:off x="15424455" y="4612347"/>
            <a:ext cx="793817" cy="213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05</a:t>
            </a:r>
          </a:p>
        </p:txBody>
      </p:sp>
      <p:sp>
        <p:nvSpPr>
          <p:cNvPr id="92" name="슬라이드 번호 개체 틀 91">
            <a:extLst>
              <a:ext uri="{FF2B5EF4-FFF2-40B4-BE49-F238E27FC236}">
                <a16:creationId xmlns:a16="http://schemas.microsoft.com/office/drawing/2014/main" id="{5C1C55CD-88B5-8508-7930-B53D59F5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00579" y="2758133"/>
            <a:ext cx="4969440" cy="4171151"/>
          </a:xfrm>
          <a:custGeom>
            <a:avLst/>
            <a:gdLst/>
            <a:ahLst/>
            <a:cxnLst/>
            <a:rect l="l" t="t" r="r" b="b"/>
            <a:pathLst>
              <a:path w="4969440" h="4171151">
                <a:moveTo>
                  <a:pt x="0" y="0"/>
                </a:moveTo>
                <a:lnTo>
                  <a:pt x="4969440" y="0"/>
                </a:lnTo>
                <a:lnTo>
                  <a:pt x="4969440" y="4171150"/>
                </a:lnTo>
                <a:lnTo>
                  <a:pt x="0" y="417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2507"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833163" y="7624608"/>
            <a:ext cx="5304271" cy="2213715"/>
            <a:chOff x="0" y="0"/>
            <a:chExt cx="1397010" cy="5830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7010" cy="583036"/>
            </a:xfrm>
            <a:custGeom>
              <a:avLst/>
              <a:gdLst/>
              <a:ahLst/>
              <a:cxnLst/>
              <a:rect l="l" t="t" r="r" b="b"/>
              <a:pathLst>
                <a:path w="1397010" h="583036">
                  <a:moveTo>
                    <a:pt x="29191" y="0"/>
                  </a:moveTo>
                  <a:lnTo>
                    <a:pt x="1367818" y="0"/>
                  </a:lnTo>
                  <a:cubicBezTo>
                    <a:pt x="1375560" y="0"/>
                    <a:pt x="1382985" y="3075"/>
                    <a:pt x="1388460" y="8550"/>
                  </a:cubicBezTo>
                  <a:cubicBezTo>
                    <a:pt x="1393934" y="14024"/>
                    <a:pt x="1397010" y="21449"/>
                    <a:pt x="1397010" y="29191"/>
                  </a:cubicBezTo>
                  <a:lnTo>
                    <a:pt x="1397010" y="553845"/>
                  </a:lnTo>
                  <a:cubicBezTo>
                    <a:pt x="1397010" y="569967"/>
                    <a:pt x="1383940" y="583036"/>
                    <a:pt x="1367818" y="583036"/>
                  </a:cubicBezTo>
                  <a:lnTo>
                    <a:pt x="29191" y="583036"/>
                  </a:lnTo>
                  <a:cubicBezTo>
                    <a:pt x="21449" y="583036"/>
                    <a:pt x="14024" y="579961"/>
                    <a:pt x="8550" y="574486"/>
                  </a:cubicBezTo>
                  <a:cubicBezTo>
                    <a:pt x="3075" y="569012"/>
                    <a:pt x="0" y="561587"/>
                    <a:pt x="0" y="553845"/>
                  </a:cubicBezTo>
                  <a:lnTo>
                    <a:pt x="0" y="29191"/>
                  </a:lnTo>
                  <a:cubicBezTo>
                    <a:pt x="0" y="21449"/>
                    <a:pt x="3075" y="14024"/>
                    <a:pt x="8550" y="8550"/>
                  </a:cubicBezTo>
                  <a:cubicBezTo>
                    <a:pt x="14024" y="3075"/>
                    <a:pt x="21449" y="0"/>
                    <a:pt x="2919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397010" cy="554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40909" y="8323409"/>
            <a:ext cx="375337" cy="375337"/>
          </a:xfrm>
          <a:custGeom>
            <a:avLst/>
            <a:gdLst/>
            <a:ahLst/>
            <a:cxnLst/>
            <a:rect l="l" t="t" r="r" b="b"/>
            <a:pathLst>
              <a:path w="375337" h="375337">
                <a:moveTo>
                  <a:pt x="0" y="0"/>
                </a:moveTo>
                <a:lnTo>
                  <a:pt x="375337" y="0"/>
                </a:lnTo>
                <a:lnTo>
                  <a:pt x="375337" y="375337"/>
                </a:lnTo>
                <a:lnTo>
                  <a:pt x="0" y="37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2516246" y="8326099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상황 유형 선택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89829" y="7793731"/>
            <a:ext cx="2876550" cy="3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2047" b="1" spc="-4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질문 입력 화면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16246" y="8800831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거래 상황 자연어 입력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16246" y="9275563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 시작</a:t>
            </a:r>
          </a:p>
        </p:txBody>
      </p:sp>
      <p:sp>
        <p:nvSpPr>
          <p:cNvPr id="11" name="Freeform 11"/>
          <p:cNvSpPr/>
          <p:nvPr/>
        </p:nvSpPr>
        <p:spPr>
          <a:xfrm>
            <a:off x="2140909" y="8798141"/>
            <a:ext cx="375337" cy="375337"/>
          </a:xfrm>
          <a:custGeom>
            <a:avLst/>
            <a:gdLst/>
            <a:ahLst/>
            <a:cxnLst/>
            <a:rect l="l" t="t" r="r" b="b"/>
            <a:pathLst>
              <a:path w="375337" h="375337">
                <a:moveTo>
                  <a:pt x="0" y="0"/>
                </a:moveTo>
                <a:lnTo>
                  <a:pt x="375337" y="0"/>
                </a:lnTo>
                <a:lnTo>
                  <a:pt x="375337" y="375337"/>
                </a:lnTo>
                <a:lnTo>
                  <a:pt x="0" y="37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2140909" y="9268728"/>
            <a:ext cx="375337" cy="375337"/>
          </a:xfrm>
          <a:custGeom>
            <a:avLst/>
            <a:gdLst/>
            <a:ahLst/>
            <a:cxnLst/>
            <a:rect l="l" t="t" r="r" b="b"/>
            <a:pathLst>
              <a:path w="375337" h="375337">
                <a:moveTo>
                  <a:pt x="0" y="0"/>
                </a:moveTo>
                <a:lnTo>
                  <a:pt x="375337" y="0"/>
                </a:lnTo>
                <a:lnTo>
                  <a:pt x="375337" y="375337"/>
                </a:lnTo>
                <a:lnTo>
                  <a:pt x="0" y="37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0856992" y="7624608"/>
            <a:ext cx="5304271" cy="2213715"/>
            <a:chOff x="0" y="0"/>
            <a:chExt cx="1397010" cy="5830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97010" cy="583036"/>
            </a:xfrm>
            <a:custGeom>
              <a:avLst/>
              <a:gdLst/>
              <a:ahLst/>
              <a:cxnLst/>
              <a:rect l="l" t="t" r="r" b="b"/>
              <a:pathLst>
                <a:path w="1397010" h="583036">
                  <a:moveTo>
                    <a:pt x="29191" y="0"/>
                  </a:moveTo>
                  <a:lnTo>
                    <a:pt x="1367818" y="0"/>
                  </a:lnTo>
                  <a:cubicBezTo>
                    <a:pt x="1375560" y="0"/>
                    <a:pt x="1382985" y="3075"/>
                    <a:pt x="1388460" y="8550"/>
                  </a:cubicBezTo>
                  <a:cubicBezTo>
                    <a:pt x="1393934" y="14024"/>
                    <a:pt x="1397010" y="21449"/>
                    <a:pt x="1397010" y="29191"/>
                  </a:cubicBezTo>
                  <a:lnTo>
                    <a:pt x="1397010" y="553845"/>
                  </a:lnTo>
                  <a:cubicBezTo>
                    <a:pt x="1397010" y="569967"/>
                    <a:pt x="1383940" y="583036"/>
                    <a:pt x="1367818" y="583036"/>
                  </a:cubicBezTo>
                  <a:lnTo>
                    <a:pt x="29191" y="583036"/>
                  </a:lnTo>
                  <a:cubicBezTo>
                    <a:pt x="21449" y="583036"/>
                    <a:pt x="14024" y="579961"/>
                    <a:pt x="8550" y="574486"/>
                  </a:cubicBezTo>
                  <a:cubicBezTo>
                    <a:pt x="3075" y="569012"/>
                    <a:pt x="0" y="561587"/>
                    <a:pt x="0" y="553845"/>
                  </a:cubicBezTo>
                  <a:lnTo>
                    <a:pt x="0" y="29191"/>
                  </a:lnTo>
                  <a:cubicBezTo>
                    <a:pt x="0" y="21449"/>
                    <a:pt x="3075" y="14024"/>
                    <a:pt x="8550" y="8550"/>
                  </a:cubicBezTo>
                  <a:cubicBezTo>
                    <a:pt x="14024" y="3075"/>
                    <a:pt x="21449" y="0"/>
                    <a:pt x="2919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8575"/>
              <a:ext cx="1397010" cy="554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1139302" y="8323409"/>
            <a:ext cx="375337" cy="375337"/>
          </a:xfrm>
          <a:custGeom>
            <a:avLst/>
            <a:gdLst/>
            <a:ahLst/>
            <a:cxnLst/>
            <a:rect l="l" t="t" r="r" b="b"/>
            <a:pathLst>
              <a:path w="375337" h="375337">
                <a:moveTo>
                  <a:pt x="0" y="0"/>
                </a:moveTo>
                <a:lnTo>
                  <a:pt x="375337" y="0"/>
                </a:lnTo>
                <a:lnTo>
                  <a:pt x="375337" y="375337"/>
                </a:lnTo>
                <a:lnTo>
                  <a:pt x="0" y="37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1514639" y="8326099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스코어 시각화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88222" y="7793731"/>
            <a:ext cx="2876550" cy="3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2047" b="1" spc="-4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 결과 화면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14639" y="8800831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관련 법령·의결서·사례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14639" y="9275563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법리 해석·체크리스트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139302" y="8798141"/>
            <a:ext cx="375337" cy="375337"/>
          </a:xfrm>
          <a:custGeom>
            <a:avLst/>
            <a:gdLst/>
            <a:ahLst/>
            <a:cxnLst/>
            <a:rect l="l" t="t" r="r" b="b"/>
            <a:pathLst>
              <a:path w="375337" h="375337">
                <a:moveTo>
                  <a:pt x="0" y="0"/>
                </a:moveTo>
                <a:lnTo>
                  <a:pt x="375337" y="0"/>
                </a:lnTo>
                <a:lnTo>
                  <a:pt x="375337" y="375337"/>
                </a:lnTo>
                <a:lnTo>
                  <a:pt x="0" y="37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Freeform 22"/>
          <p:cNvSpPr/>
          <p:nvPr/>
        </p:nvSpPr>
        <p:spPr>
          <a:xfrm>
            <a:off x="11139302" y="9268728"/>
            <a:ext cx="375337" cy="375337"/>
          </a:xfrm>
          <a:custGeom>
            <a:avLst/>
            <a:gdLst/>
            <a:ahLst/>
            <a:cxnLst/>
            <a:rect l="l" t="t" r="r" b="b"/>
            <a:pathLst>
              <a:path w="375337" h="375337">
                <a:moveTo>
                  <a:pt x="0" y="0"/>
                </a:moveTo>
                <a:lnTo>
                  <a:pt x="375337" y="0"/>
                </a:lnTo>
                <a:lnTo>
                  <a:pt x="375337" y="375337"/>
                </a:lnTo>
                <a:lnTo>
                  <a:pt x="0" y="37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2.3 AI 서비스 화면 구성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 서비스 화면 제공 구성</a:t>
            </a:r>
          </a:p>
        </p:txBody>
      </p:sp>
      <p:sp>
        <p:nvSpPr>
          <p:cNvPr id="27" name="Freeform 27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/>
          <p:cNvSpPr/>
          <p:nvPr/>
        </p:nvSpPr>
        <p:spPr>
          <a:xfrm>
            <a:off x="11050863" y="2169436"/>
            <a:ext cx="4916527" cy="5055555"/>
          </a:xfrm>
          <a:custGeom>
            <a:avLst/>
            <a:gdLst/>
            <a:ahLst/>
            <a:cxnLst/>
            <a:rect l="l" t="t" r="r" b="b"/>
            <a:pathLst>
              <a:path w="4916527" h="5055555">
                <a:moveTo>
                  <a:pt x="0" y="0"/>
                </a:moveTo>
                <a:lnTo>
                  <a:pt x="4916528" y="0"/>
                </a:lnTo>
                <a:lnTo>
                  <a:pt x="4916528" y="5055555"/>
                </a:lnTo>
                <a:lnTo>
                  <a:pt x="0" y="5055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BAF4D2BB-B832-1902-065B-FC78B9282B07}"/>
              </a:ext>
            </a:extLst>
          </p:cNvPr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F13EFC02-F6A1-F74A-4FE3-E542BFB6BC3E}"/>
              </a:ext>
            </a:extLst>
          </p:cNvPr>
          <p:cNvSpPr txBox="1"/>
          <p:nvPr/>
        </p:nvSpPr>
        <p:spPr>
          <a:xfrm>
            <a:off x="881207" y="398628"/>
            <a:ext cx="1642256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주요내용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1C917D5E-66D6-8ADD-B731-893B7D14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70328" y="5897929"/>
            <a:ext cx="4947615" cy="1951885"/>
            <a:chOff x="0" y="0"/>
            <a:chExt cx="1303076" cy="5140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3076" cy="514077"/>
            </a:xfrm>
            <a:custGeom>
              <a:avLst/>
              <a:gdLst/>
              <a:ahLst/>
              <a:cxnLst/>
              <a:rect l="l" t="t" r="r" b="b"/>
              <a:pathLst>
                <a:path w="1303076" h="514077">
                  <a:moveTo>
                    <a:pt x="31296" y="0"/>
                  </a:moveTo>
                  <a:lnTo>
                    <a:pt x="1271780" y="0"/>
                  </a:lnTo>
                  <a:cubicBezTo>
                    <a:pt x="1280080" y="0"/>
                    <a:pt x="1288040" y="3297"/>
                    <a:pt x="1293909" y="9166"/>
                  </a:cubicBezTo>
                  <a:cubicBezTo>
                    <a:pt x="1299779" y="15035"/>
                    <a:pt x="1303076" y="22995"/>
                    <a:pt x="1303076" y="31296"/>
                  </a:cubicBezTo>
                  <a:lnTo>
                    <a:pt x="1303076" y="482781"/>
                  </a:lnTo>
                  <a:cubicBezTo>
                    <a:pt x="1303076" y="500065"/>
                    <a:pt x="1289064" y="514077"/>
                    <a:pt x="1271780" y="514077"/>
                  </a:cubicBezTo>
                  <a:lnTo>
                    <a:pt x="31296" y="514077"/>
                  </a:lnTo>
                  <a:cubicBezTo>
                    <a:pt x="22995" y="514077"/>
                    <a:pt x="15035" y="510779"/>
                    <a:pt x="9166" y="504910"/>
                  </a:cubicBezTo>
                  <a:cubicBezTo>
                    <a:pt x="3297" y="499041"/>
                    <a:pt x="0" y="491081"/>
                    <a:pt x="0" y="482781"/>
                  </a:cubicBezTo>
                  <a:lnTo>
                    <a:pt x="0" y="31296"/>
                  </a:lnTo>
                  <a:cubicBezTo>
                    <a:pt x="0" y="14011"/>
                    <a:pt x="14011" y="0"/>
                    <a:pt x="31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303076" cy="485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757678" y="608033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073638" y="3458735"/>
            <a:ext cx="4947615" cy="1951885"/>
            <a:chOff x="0" y="0"/>
            <a:chExt cx="1303076" cy="5140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3076" cy="514077"/>
            </a:xfrm>
            <a:custGeom>
              <a:avLst/>
              <a:gdLst/>
              <a:ahLst/>
              <a:cxnLst/>
              <a:rect l="l" t="t" r="r" b="b"/>
              <a:pathLst>
                <a:path w="1303076" h="514077">
                  <a:moveTo>
                    <a:pt x="31296" y="0"/>
                  </a:moveTo>
                  <a:lnTo>
                    <a:pt x="1271780" y="0"/>
                  </a:lnTo>
                  <a:cubicBezTo>
                    <a:pt x="1280080" y="0"/>
                    <a:pt x="1288040" y="3297"/>
                    <a:pt x="1293909" y="9166"/>
                  </a:cubicBezTo>
                  <a:cubicBezTo>
                    <a:pt x="1299779" y="15035"/>
                    <a:pt x="1303076" y="22995"/>
                    <a:pt x="1303076" y="31296"/>
                  </a:cubicBezTo>
                  <a:lnTo>
                    <a:pt x="1303076" y="482781"/>
                  </a:lnTo>
                  <a:cubicBezTo>
                    <a:pt x="1303076" y="500065"/>
                    <a:pt x="1289064" y="514077"/>
                    <a:pt x="1271780" y="514077"/>
                  </a:cubicBezTo>
                  <a:lnTo>
                    <a:pt x="31296" y="514077"/>
                  </a:lnTo>
                  <a:cubicBezTo>
                    <a:pt x="22995" y="514077"/>
                    <a:pt x="15035" y="510779"/>
                    <a:pt x="9166" y="504910"/>
                  </a:cubicBezTo>
                  <a:cubicBezTo>
                    <a:pt x="3297" y="499041"/>
                    <a:pt x="0" y="491081"/>
                    <a:pt x="0" y="482781"/>
                  </a:cubicBezTo>
                  <a:lnTo>
                    <a:pt x="0" y="31296"/>
                  </a:lnTo>
                  <a:cubicBezTo>
                    <a:pt x="0" y="14011"/>
                    <a:pt x="14011" y="0"/>
                    <a:pt x="31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303076" cy="485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13362" y="365232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872535" y="5897162"/>
            <a:ext cx="4947615" cy="1951885"/>
            <a:chOff x="0" y="0"/>
            <a:chExt cx="1303076" cy="5140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3076" cy="514077"/>
            </a:xfrm>
            <a:custGeom>
              <a:avLst/>
              <a:gdLst/>
              <a:ahLst/>
              <a:cxnLst/>
              <a:rect l="l" t="t" r="r" b="b"/>
              <a:pathLst>
                <a:path w="1303076" h="514077">
                  <a:moveTo>
                    <a:pt x="31296" y="0"/>
                  </a:moveTo>
                  <a:lnTo>
                    <a:pt x="1271780" y="0"/>
                  </a:lnTo>
                  <a:cubicBezTo>
                    <a:pt x="1280080" y="0"/>
                    <a:pt x="1288040" y="3297"/>
                    <a:pt x="1293909" y="9166"/>
                  </a:cubicBezTo>
                  <a:cubicBezTo>
                    <a:pt x="1299779" y="15035"/>
                    <a:pt x="1303076" y="22995"/>
                    <a:pt x="1303076" y="31296"/>
                  </a:cubicBezTo>
                  <a:lnTo>
                    <a:pt x="1303076" y="482781"/>
                  </a:lnTo>
                  <a:cubicBezTo>
                    <a:pt x="1303076" y="500065"/>
                    <a:pt x="1289064" y="514077"/>
                    <a:pt x="1271780" y="514077"/>
                  </a:cubicBezTo>
                  <a:lnTo>
                    <a:pt x="31296" y="514077"/>
                  </a:lnTo>
                  <a:cubicBezTo>
                    <a:pt x="22995" y="514077"/>
                    <a:pt x="15035" y="510779"/>
                    <a:pt x="9166" y="504910"/>
                  </a:cubicBezTo>
                  <a:cubicBezTo>
                    <a:pt x="3297" y="499041"/>
                    <a:pt x="0" y="491081"/>
                    <a:pt x="0" y="482781"/>
                  </a:cubicBezTo>
                  <a:lnTo>
                    <a:pt x="0" y="31296"/>
                  </a:lnTo>
                  <a:cubicBezTo>
                    <a:pt x="0" y="14011"/>
                    <a:pt x="14011" y="0"/>
                    <a:pt x="31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1303076" cy="485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4082282" y="6089091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6671431" y="3459502"/>
            <a:ext cx="4947615" cy="1951885"/>
            <a:chOff x="0" y="0"/>
            <a:chExt cx="1303076" cy="5140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03076" cy="514077"/>
            </a:xfrm>
            <a:custGeom>
              <a:avLst/>
              <a:gdLst/>
              <a:ahLst/>
              <a:cxnLst/>
              <a:rect l="l" t="t" r="r" b="b"/>
              <a:pathLst>
                <a:path w="1303076" h="514077">
                  <a:moveTo>
                    <a:pt x="31296" y="0"/>
                  </a:moveTo>
                  <a:lnTo>
                    <a:pt x="1271780" y="0"/>
                  </a:lnTo>
                  <a:cubicBezTo>
                    <a:pt x="1280080" y="0"/>
                    <a:pt x="1288040" y="3297"/>
                    <a:pt x="1293909" y="9166"/>
                  </a:cubicBezTo>
                  <a:cubicBezTo>
                    <a:pt x="1299779" y="15035"/>
                    <a:pt x="1303076" y="22995"/>
                    <a:pt x="1303076" y="31296"/>
                  </a:cubicBezTo>
                  <a:lnTo>
                    <a:pt x="1303076" y="482781"/>
                  </a:lnTo>
                  <a:cubicBezTo>
                    <a:pt x="1303076" y="500065"/>
                    <a:pt x="1289064" y="514077"/>
                    <a:pt x="1271780" y="514077"/>
                  </a:cubicBezTo>
                  <a:lnTo>
                    <a:pt x="31296" y="514077"/>
                  </a:lnTo>
                  <a:cubicBezTo>
                    <a:pt x="22995" y="514077"/>
                    <a:pt x="15035" y="510779"/>
                    <a:pt x="9166" y="504910"/>
                  </a:cubicBezTo>
                  <a:cubicBezTo>
                    <a:pt x="3297" y="499041"/>
                    <a:pt x="0" y="491081"/>
                    <a:pt x="0" y="482781"/>
                  </a:cubicBezTo>
                  <a:lnTo>
                    <a:pt x="0" y="31296"/>
                  </a:lnTo>
                  <a:cubicBezTo>
                    <a:pt x="0" y="14011"/>
                    <a:pt x="14011" y="0"/>
                    <a:pt x="31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303076" cy="485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6957379" y="3625214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431728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3.1 문제 정의 및 해결 접근 방식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문제정의 및 해결방안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95350" y="971550"/>
            <a:ext cx="3181350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id="22" name="Freeform 22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Freeform 24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359585" y="4591998"/>
            <a:ext cx="4661668" cy="63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1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수백</a:t>
            </a: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건의 의결서를 수동으로 검색·검토해야 해 </a:t>
            </a:r>
          </a:p>
          <a:p>
            <a:pPr marL="0" lvl="0" indent="0" algn="l">
              <a:lnSpc>
                <a:spcPts val="2621"/>
              </a:lnSpc>
            </a:pP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판단에 시간이 과도하게 소요됨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9585" y="4148321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관련 의결서 사례 탐색 어려움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58482" y="7047118"/>
            <a:ext cx="4661668" cy="63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1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거래</a:t>
            </a: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상황의 법적 문제 여부를 객관적으로 판단할 수     있는 체계적 도구가 없음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58482" y="6603441"/>
            <a:ext cx="3466546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위반 판단 근거 자료 마련 어려움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266747" y="3459502"/>
            <a:ext cx="4947615" cy="1951885"/>
            <a:chOff x="0" y="0"/>
            <a:chExt cx="1303076" cy="51407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03076" cy="514077"/>
            </a:xfrm>
            <a:custGeom>
              <a:avLst/>
              <a:gdLst/>
              <a:ahLst/>
              <a:cxnLst/>
              <a:rect l="l" t="t" r="r" b="b"/>
              <a:pathLst>
                <a:path w="1303076" h="514077">
                  <a:moveTo>
                    <a:pt x="31296" y="0"/>
                  </a:moveTo>
                  <a:lnTo>
                    <a:pt x="1271780" y="0"/>
                  </a:lnTo>
                  <a:cubicBezTo>
                    <a:pt x="1280080" y="0"/>
                    <a:pt x="1288040" y="3297"/>
                    <a:pt x="1293909" y="9166"/>
                  </a:cubicBezTo>
                  <a:cubicBezTo>
                    <a:pt x="1299779" y="15035"/>
                    <a:pt x="1303076" y="22995"/>
                    <a:pt x="1303076" y="31296"/>
                  </a:cubicBezTo>
                  <a:lnTo>
                    <a:pt x="1303076" y="482781"/>
                  </a:lnTo>
                  <a:cubicBezTo>
                    <a:pt x="1303076" y="500065"/>
                    <a:pt x="1289064" y="514077"/>
                    <a:pt x="1271780" y="514077"/>
                  </a:cubicBezTo>
                  <a:lnTo>
                    <a:pt x="31296" y="514077"/>
                  </a:lnTo>
                  <a:cubicBezTo>
                    <a:pt x="22995" y="514077"/>
                    <a:pt x="15035" y="510779"/>
                    <a:pt x="9166" y="504910"/>
                  </a:cubicBezTo>
                  <a:cubicBezTo>
                    <a:pt x="3297" y="499041"/>
                    <a:pt x="0" y="491081"/>
                    <a:pt x="0" y="482781"/>
                  </a:cubicBezTo>
                  <a:lnTo>
                    <a:pt x="0" y="31296"/>
                  </a:lnTo>
                  <a:cubicBezTo>
                    <a:pt x="0" y="14011"/>
                    <a:pt x="14011" y="0"/>
                    <a:pt x="31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28575"/>
              <a:ext cx="1303076" cy="485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552695" y="4609458"/>
            <a:ext cx="4661668" cy="63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1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빈번한</a:t>
            </a: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법령 개정과 새로운 판례를 실시간으로             파악하려면 전담 인력이 필요함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52695" y="4165781"/>
            <a:ext cx="3466546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최신 법령·판례 트래킹 어려움</a:t>
            </a:r>
          </a:p>
        </p:txBody>
      </p:sp>
      <p:sp>
        <p:nvSpPr>
          <p:cNvPr id="34" name="Freeform 34"/>
          <p:cNvSpPr/>
          <p:nvPr/>
        </p:nvSpPr>
        <p:spPr>
          <a:xfrm>
            <a:off x="12554096" y="3640477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6957379" y="4592766"/>
            <a:ext cx="4661668" cy="63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1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도메인 특화 검증 없이 답변을 생성해 진단     결과의 신뢰성 확보가 어려움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57379" y="4149089"/>
            <a:ext cx="3466546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범용 AI의 공정거래 특화 검증 부재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56276" y="7047885"/>
            <a:ext cx="4661668" cy="63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1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구체적 거래</a:t>
            </a: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상황과 유사한 사례를 선별하려면 전문 지식과 별도 인력이 필요함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56276" y="6604208"/>
            <a:ext cx="3466546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거래 상황에 맞는 사례 파악 어려움</a:t>
            </a:r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D958A537-01F8-8E7A-9509-01E2D54D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68600" y="9715500"/>
            <a:ext cx="2743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556649" y="3016845"/>
          <a:ext cx="15174702" cy="5757551"/>
        </p:xfrm>
        <a:graphic>
          <a:graphicData uri="http://schemas.openxmlformats.org/drawingml/2006/table">
            <a:tbl>
              <a:tblPr/>
              <a:tblGrid>
                <a:gridCol w="5058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8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8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8449">
                <a:tc>
                  <a:txBody>
                    <a:bodyPr/>
                    <a:lstStyle/>
                    <a:p>
                      <a:pPr algn="ctr">
                        <a:lnSpc>
                          <a:spcPts val="3009"/>
                        </a:lnSpc>
                        <a:defRPr/>
                      </a:pPr>
                      <a:r>
                        <a:rPr lang="en-US" sz="214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문제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9"/>
                        </a:lnSpc>
                        <a:defRPr/>
                      </a:pPr>
                      <a:r>
                        <a:rPr lang="en-US" sz="214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해결 방안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9"/>
                        </a:lnSpc>
                        <a:defRPr/>
                      </a:pPr>
                      <a:r>
                        <a:rPr lang="en-US" sz="214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활용 기술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842"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관련 의결서 사례 탐색 어려움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>
                          <a:solidFill>
                            <a:srgbClr val="333333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자연어</a:t>
                      </a:r>
                      <a:r>
                        <a:rPr lang="en-US" sz="1650" b="1" u="none" strike="noStrike">
                          <a:solidFill>
                            <a:srgbClr val="333333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 기반 의결서 즉시 검색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RAG (BM</a:t>
                      </a:r>
                      <a:r>
                        <a:rPr lang="en-US" sz="1650" u="none" strike="noStrike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25+Dense Hybrid)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19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거래 상황에 맞는 사례 파악 어려움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333333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컴플라이언스 QA DB 매칭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Keyword 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468"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위반 여부 판단 도구 부재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333333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 리스크 진단 및 스코어 산정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LLM 기반 스코어링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5198"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최신 법령·판례 트래킹 어려움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333333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외부 지식 실시간 수집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MCP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5198"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근거 자료 마련 어려움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333333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근거 문장 포함 보고서 제공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Evidence Anchoring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5198"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범용 AI 특화 검증 부재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333333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멀티에이전트 기반 검증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LLM 멀티에이전트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31728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3.1 문제 정의 및 해결 접근 방식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문제정의 및 해결방안</a:t>
            </a:r>
          </a:p>
        </p:txBody>
      </p:sp>
      <p:sp>
        <p:nvSpPr>
          <p:cNvPr id="5" name="AutoShape 5"/>
          <p:cNvSpPr/>
          <p:nvPr/>
        </p:nvSpPr>
        <p:spPr>
          <a:xfrm>
            <a:off x="895350" y="971550"/>
            <a:ext cx="3181350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해결 접근 방식</a:t>
            </a:r>
          </a:p>
        </p:txBody>
      </p:sp>
      <p:sp>
        <p:nvSpPr>
          <p:cNvPr id="7" name="Freeform 7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28CB938-F217-B263-0EBB-9E0F61A4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0" y="971550"/>
            <a:ext cx="3181350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4333875" y="2445702"/>
            <a:ext cx="2857500" cy="603018"/>
            <a:chOff x="0" y="0"/>
            <a:chExt cx="752593" cy="1588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715250" y="2445702"/>
            <a:ext cx="2857500" cy="603018"/>
            <a:chOff x="0" y="0"/>
            <a:chExt cx="752593" cy="1588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96625" y="2445702"/>
            <a:ext cx="2857500" cy="603018"/>
            <a:chOff x="0" y="0"/>
            <a:chExt cx="752593" cy="1588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2770201" y="3401272"/>
            <a:ext cx="12747599" cy="6628751"/>
          </a:xfrm>
          <a:custGeom>
            <a:avLst/>
            <a:gdLst/>
            <a:ahLst/>
            <a:cxnLst/>
            <a:rect l="l" t="t" r="r" b="b"/>
            <a:pathLst>
              <a:path w="12747599" h="6628751">
                <a:moveTo>
                  <a:pt x="0" y="0"/>
                </a:moveTo>
                <a:lnTo>
                  <a:pt x="12747598" y="0"/>
                </a:lnTo>
                <a:lnTo>
                  <a:pt x="12747598" y="6628751"/>
                </a:lnTo>
                <a:lnTo>
                  <a:pt x="0" y="6628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31728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3.2 서비스 구현 아키텍처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문제정의 및 해결방안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서비스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구현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아키텍처</a:t>
            </a:r>
            <a:endParaRPr lang="en-US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67517" y="2621226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사용자 질문 입력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48892" y="2621226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AI 파이프라인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30267" y="2621226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최종 보고서 출력</a:t>
            </a: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67AF839B-A492-4394-E340-EFFCCC8A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2668" y="1454450"/>
            <a:ext cx="16922663" cy="4016291"/>
            <a:chOff x="0" y="0"/>
            <a:chExt cx="4456998" cy="10577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56998" cy="1057788"/>
            </a:xfrm>
            <a:custGeom>
              <a:avLst/>
              <a:gdLst/>
              <a:ahLst/>
              <a:cxnLst/>
              <a:rect l="l" t="t" r="r" b="b"/>
              <a:pathLst>
                <a:path w="4456998" h="1057788">
                  <a:moveTo>
                    <a:pt x="9150" y="0"/>
                  </a:moveTo>
                  <a:lnTo>
                    <a:pt x="4447848" y="0"/>
                  </a:lnTo>
                  <a:cubicBezTo>
                    <a:pt x="4450274" y="0"/>
                    <a:pt x="4452602" y="964"/>
                    <a:pt x="4454318" y="2680"/>
                  </a:cubicBezTo>
                  <a:cubicBezTo>
                    <a:pt x="4456034" y="4396"/>
                    <a:pt x="4456998" y="6723"/>
                    <a:pt x="4456998" y="9150"/>
                  </a:cubicBezTo>
                  <a:lnTo>
                    <a:pt x="4456998" y="1048639"/>
                  </a:lnTo>
                  <a:cubicBezTo>
                    <a:pt x="4456998" y="1053692"/>
                    <a:pt x="4452901" y="1057788"/>
                    <a:pt x="4447848" y="1057788"/>
                  </a:cubicBezTo>
                  <a:lnTo>
                    <a:pt x="9150" y="1057788"/>
                  </a:lnTo>
                  <a:cubicBezTo>
                    <a:pt x="6723" y="1057788"/>
                    <a:pt x="4396" y="1056824"/>
                    <a:pt x="2680" y="1055109"/>
                  </a:cubicBezTo>
                  <a:cubicBezTo>
                    <a:pt x="964" y="1053393"/>
                    <a:pt x="0" y="1051065"/>
                    <a:pt x="0" y="1048639"/>
                  </a:cubicBezTo>
                  <a:lnTo>
                    <a:pt x="0" y="9150"/>
                  </a:lnTo>
                  <a:cubicBezTo>
                    <a:pt x="0" y="6723"/>
                    <a:pt x="964" y="4396"/>
                    <a:pt x="2680" y="2680"/>
                  </a:cubicBezTo>
                  <a:cubicBezTo>
                    <a:pt x="4396" y="964"/>
                    <a:pt x="6723" y="0"/>
                    <a:pt x="91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456998" cy="1029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86597" y="1802991"/>
            <a:ext cx="4813454" cy="3202234"/>
            <a:chOff x="0" y="0"/>
            <a:chExt cx="6417939" cy="4269645"/>
          </a:xfrm>
        </p:grpSpPr>
        <p:sp>
          <p:nvSpPr>
            <p:cNvPr id="6" name="Freeform 6"/>
            <p:cNvSpPr/>
            <p:nvPr/>
          </p:nvSpPr>
          <p:spPr>
            <a:xfrm>
              <a:off x="0" y="616990"/>
              <a:ext cx="3652656" cy="3652656"/>
            </a:xfrm>
            <a:custGeom>
              <a:avLst/>
              <a:gdLst/>
              <a:ahLst/>
              <a:cxnLst/>
              <a:rect l="l" t="t" r="r" b="b"/>
              <a:pathLst>
                <a:path w="3652656" h="3652656">
                  <a:moveTo>
                    <a:pt x="0" y="0"/>
                  </a:moveTo>
                  <a:lnTo>
                    <a:pt x="3652656" y="0"/>
                  </a:lnTo>
                  <a:lnTo>
                    <a:pt x="3652656" y="3652655"/>
                  </a:lnTo>
                  <a:lnTo>
                    <a:pt x="0" y="3652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72139" y="769243"/>
              <a:ext cx="4120464" cy="2959825"/>
            </a:xfrm>
            <a:custGeom>
              <a:avLst/>
              <a:gdLst/>
              <a:ahLst/>
              <a:cxnLst/>
              <a:rect l="l" t="t" r="r" b="b"/>
              <a:pathLst>
                <a:path w="4120464" h="2959825">
                  <a:moveTo>
                    <a:pt x="0" y="0"/>
                  </a:moveTo>
                  <a:lnTo>
                    <a:pt x="4120464" y="0"/>
                  </a:lnTo>
                  <a:lnTo>
                    <a:pt x="4120464" y="2959825"/>
                  </a:lnTo>
                  <a:lnTo>
                    <a:pt x="0" y="2959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240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818477" y="0"/>
              <a:ext cx="2599462" cy="4121806"/>
            </a:xfrm>
            <a:custGeom>
              <a:avLst/>
              <a:gdLst/>
              <a:ahLst/>
              <a:cxnLst/>
              <a:rect l="l" t="t" r="r" b="b"/>
              <a:pathLst>
                <a:path w="2599462" h="4121806">
                  <a:moveTo>
                    <a:pt x="0" y="0"/>
                  </a:moveTo>
                  <a:lnTo>
                    <a:pt x="2599462" y="0"/>
                  </a:lnTo>
                  <a:lnTo>
                    <a:pt x="2599462" y="4121806"/>
                  </a:lnTo>
                  <a:lnTo>
                    <a:pt x="0" y="4121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856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66440" y="2719673"/>
            <a:ext cx="5304271" cy="1368870"/>
            <a:chOff x="0" y="0"/>
            <a:chExt cx="1397010" cy="3605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7010" cy="360526"/>
            </a:xfrm>
            <a:custGeom>
              <a:avLst/>
              <a:gdLst/>
              <a:ahLst/>
              <a:cxnLst/>
              <a:rect l="l" t="t" r="r" b="b"/>
              <a:pathLst>
                <a:path w="1397010" h="360526">
                  <a:moveTo>
                    <a:pt x="29191" y="0"/>
                  </a:moveTo>
                  <a:lnTo>
                    <a:pt x="1367818" y="0"/>
                  </a:lnTo>
                  <a:cubicBezTo>
                    <a:pt x="1375560" y="0"/>
                    <a:pt x="1382985" y="3075"/>
                    <a:pt x="1388460" y="8550"/>
                  </a:cubicBezTo>
                  <a:cubicBezTo>
                    <a:pt x="1393934" y="14024"/>
                    <a:pt x="1397010" y="21449"/>
                    <a:pt x="1397010" y="29191"/>
                  </a:cubicBezTo>
                  <a:lnTo>
                    <a:pt x="1397010" y="331334"/>
                  </a:lnTo>
                  <a:cubicBezTo>
                    <a:pt x="1397010" y="347456"/>
                    <a:pt x="1383940" y="360526"/>
                    <a:pt x="1367818" y="360526"/>
                  </a:cubicBezTo>
                  <a:lnTo>
                    <a:pt x="29191" y="360526"/>
                  </a:lnTo>
                  <a:cubicBezTo>
                    <a:pt x="21449" y="360526"/>
                    <a:pt x="14024" y="357450"/>
                    <a:pt x="8550" y="351976"/>
                  </a:cubicBezTo>
                  <a:cubicBezTo>
                    <a:pt x="3075" y="346501"/>
                    <a:pt x="0" y="339076"/>
                    <a:pt x="0" y="331334"/>
                  </a:cubicBezTo>
                  <a:lnTo>
                    <a:pt x="0" y="29191"/>
                  </a:lnTo>
                  <a:cubicBezTo>
                    <a:pt x="0" y="21449"/>
                    <a:pt x="3075" y="14024"/>
                    <a:pt x="8550" y="8550"/>
                  </a:cubicBezTo>
                  <a:cubicBezTo>
                    <a:pt x="14024" y="3075"/>
                    <a:pt x="21449" y="0"/>
                    <a:pt x="2919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397010" cy="331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76514" y="2990529"/>
            <a:ext cx="4284123" cy="770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가맹점주가 본사 유통 마진 구조의 문제를</a:t>
            </a:r>
          </a:p>
          <a:p>
            <a:pPr marL="0" lvl="0" indent="0"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개인 SNS에 폭로함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1728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3.3 시나리오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문제정의 및 해결방안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95350" y="971550"/>
            <a:ext cx="3181350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098011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상황 발생</a:t>
            </a:r>
          </a:p>
        </p:txBody>
      </p:sp>
      <p:sp>
        <p:nvSpPr>
          <p:cNvPr id="17" name="Freeform 17"/>
          <p:cNvSpPr/>
          <p:nvPr/>
        </p:nvSpPr>
        <p:spPr>
          <a:xfrm>
            <a:off x="727657" y="1715457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8" name="Group 18"/>
          <p:cNvGrpSpPr/>
          <p:nvPr/>
        </p:nvGrpSpPr>
        <p:grpSpPr>
          <a:xfrm>
            <a:off x="682668" y="6051766"/>
            <a:ext cx="16922663" cy="3789369"/>
            <a:chOff x="0" y="0"/>
            <a:chExt cx="4456998" cy="9980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56998" cy="998023"/>
            </a:xfrm>
            <a:custGeom>
              <a:avLst/>
              <a:gdLst/>
              <a:ahLst/>
              <a:cxnLst/>
              <a:rect l="l" t="t" r="r" b="b"/>
              <a:pathLst>
                <a:path w="4456998" h="998023">
                  <a:moveTo>
                    <a:pt x="9150" y="0"/>
                  </a:moveTo>
                  <a:lnTo>
                    <a:pt x="4447848" y="0"/>
                  </a:lnTo>
                  <a:cubicBezTo>
                    <a:pt x="4450274" y="0"/>
                    <a:pt x="4452602" y="964"/>
                    <a:pt x="4454318" y="2680"/>
                  </a:cubicBezTo>
                  <a:cubicBezTo>
                    <a:pt x="4456034" y="4396"/>
                    <a:pt x="4456998" y="6723"/>
                    <a:pt x="4456998" y="9150"/>
                  </a:cubicBezTo>
                  <a:lnTo>
                    <a:pt x="4456998" y="988873"/>
                  </a:lnTo>
                  <a:cubicBezTo>
                    <a:pt x="4456998" y="993927"/>
                    <a:pt x="4452901" y="998023"/>
                    <a:pt x="4447848" y="998023"/>
                  </a:cubicBezTo>
                  <a:lnTo>
                    <a:pt x="9150" y="998023"/>
                  </a:lnTo>
                  <a:cubicBezTo>
                    <a:pt x="6723" y="998023"/>
                    <a:pt x="4396" y="997059"/>
                    <a:pt x="2680" y="995343"/>
                  </a:cubicBezTo>
                  <a:cubicBezTo>
                    <a:pt x="964" y="993627"/>
                    <a:pt x="0" y="991300"/>
                    <a:pt x="0" y="988873"/>
                  </a:cubicBezTo>
                  <a:lnTo>
                    <a:pt x="0" y="9150"/>
                  </a:lnTo>
                  <a:cubicBezTo>
                    <a:pt x="0" y="6723"/>
                    <a:pt x="964" y="4396"/>
                    <a:pt x="2680" y="2680"/>
                  </a:cubicBezTo>
                  <a:cubicBezTo>
                    <a:pt x="4396" y="964"/>
                    <a:pt x="6723" y="0"/>
                    <a:pt x="91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4456998" cy="969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97845" y="7387520"/>
            <a:ext cx="9451301" cy="350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150" spc="-88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가맹점주의 SNS 폭로 이후, 본사는 대응 방안을 논의함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7845" y="6682868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회사의 대응 검토</a:t>
            </a:r>
          </a:p>
        </p:txBody>
      </p:sp>
      <p:sp>
        <p:nvSpPr>
          <p:cNvPr id="23" name="Freeform 23"/>
          <p:cNvSpPr/>
          <p:nvPr/>
        </p:nvSpPr>
        <p:spPr>
          <a:xfrm>
            <a:off x="810654" y="6604303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4" y="0"/>
                </a:lnTo>
                <a:lnTo>
                  <a:pt x="415344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Group 24"/>
          <p:cNvGrpSpPr/>
          <p:nvPr/>
        </p:nvGrpSpPr>
        <p:grpSpPr>
          <a:xfrm>
            <a:off x="7954527" y="6347041"/>
            <a:ext cx="6264140" cy="2836733"/>
            <a:chOff x="0" y="0"/>
            <a:chExt cx="8352187" cy="3782311"/>
          </a:xfrm>
        </p:grpSpPr>
        <p:sp>
          <p:nvSpPr>
            <p:cNvPr id="25" name="Freeform 25"/>
            <p:cNvSpPr/>
            <p:nvPr/>
          </p:nvSpPr>
          <p:spPr>
            <a:xfrm>
              <a:off x="0" y="73246"/>
              <a:ext cx="6790050" cy="3709065"/>
            </a:xfrm>
            <a:custGeom>
              <a:avLst/>
              <a:gdLst/>
              <a:ahLst/>
              <a:cxnLst/>
              <a:rect l="l" t="t" r="r" b="b"/>
              <a:pathLst>
                <a:path w="6790050" h="3709065">
                  <a:moveTo>
                    <a:pt x="0" y="0"/>
                  </a:moveTo>
                  <a:lnTo>
                    <a:pt x="6790050" y="0"/>
                  </a:lnTo>
                  <a:lnTo>
                    <a:pt x="6790050" y="3709065"/>
                  </a:lnTo>
                  <a:lnTo>
                    <a:pt x="0" y="3709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5615878" y="0"/>
              <a:ext cx="2736309" cy="980050"/>
              <a:chOff x="0" y="0"/>
              <a:chExt cx="1418341" cy="508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418341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1418341" h="508000">
                    <a:moveTo>
                      <a:pt x="1215141" y="0"/>
                    </a:moveTo>
                    <a:cubicBezTo>
                      <a:pt x="1325631" y="6350"/>
                      <a:pt x="1413261" y="93980"/>
                      <a:pt x="1418341" y="203200"/>
                    </a:cubicBezTo>
                    <a:lnTo>
                      <a:pt x="1418341" y="208280"/>
                    </a:lnTo>
                    <a:cubicBezTo>
                      <a:pt x="1413261" y="316230"/>
                      <a:pt x="1325631" y="403860"/>
                      <a:pt x="1217681" y="403860"/>
                    </a:cubicBezTo>
                    <a:lnTo>
                      <a:pt x="274320" y="403860"/>
                    </a:lnTo>
                    <a:cubicBezTo>
                      <a:pt x="245110" y="438150"/>
                      <a:pt x="213360" y="468630"/>
                      <a:pt x="176530" y="494030"/>
                    </a:cubicBezTo>
                    <a:lnTo>
                      <a:pt x="152400" y="508000"/>
                    </a:lnTo>
                    <a:cubicBezTo>
                      <a:pt x="139700" y="508000"/>
                      <a:pt x="137160" y="500380"/>
                      <a:pt x="140970" y="487680"/>
                    </a:cubicBezTo>
                    <a:cubicBezTo>
                      <a:pt x="149860" y="459740"/>
                      <a:pt x="148590" y="430530"/>
                      <a:pt x="138430" y="403860"/>
                    </a:cubicBezTo>
                    <a:lnTo>
                      <a:pt x="134620" y="392430"/>
                    </a:lnTo>
                    <a:cubicBezTo>
                      <a:pt x="57150" y="367030"/>
                      <a:pt x="1270" y="293370"/>
                      <a:pt x="0" y="208280"/>
                    </a:cubicBezTo>
                    <a:lnTo>
                      <a:pt x="0" y="201930"/>
                    </a:lnTo>
                    <a:cubicBezTo>
                      <a:pt x="0" y="93980"/>
                      <a:pt x="88900" y="6350"/>
                      <a:pt x="203200" y="0"/>
                    </a:cubicBezTo>
                    <a:lnTo>
                      <a:pt x="1217681" y="0"/>
                    </a:lnTo>
                    <a:close/>
                  </a:path>
                </a:pathLst>
              </a:custGeom>
              <a:solidFill>
                <a:srgbClr val="E3E3E3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7950" y="-38100"/>
                <a:ext cx="1202441" cy="431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99"/>
                  </a:lnSpc>
                </a:pPr>
                <a:r>
                  <a:rPr lang="en-US" sz="1199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문제를 제기한 가맹점주와의 </a:t>
                </a:r>
                <a:r>
                  <a:rPr lang="en-US" sz="1199" b="1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계약을 해지해야 합니다.</a:t>
                </a:r>
              </a:p>
            </p:txBody>
          </p:sp>
        </p:grpSp>
      </p:grpSp>
      <p:sp>
        <p:nvSpPr>
          <p:cNvPr id="29" name="Freeform 29"/>
          <p:cNvSpPr/>
          <p:nvPr/>
        </p:nvSpPr>
        <p:spPr>
          <a:xfrm>
            <a:off x="15195606" y="6424118"/>
            <a:ext cx="1964988" cy="2682578"/>
          </a:xfrm>
          <a:custGeom>
            <a:avLst/>
            <a:gdLst/>
            <a:ahLst/>
            <a:cxnLst/>
            <a:rect l="l" t="t" r="r" b="b"/>
            <a:pathLst>
              <a:path w="1964988" h="2682578">
                <a:moveTo>
                  <a:pt x="0" y="0"/>
                </a:moveTo>
                <a:lnTo>
                  <a:pt x="1964988" y="0"/>
                </a:lnTo>
                <a:lnTo>
                  <a:pt x="1964988" y="2682578"/>
                </a:lnTo>
                <a:lnTo>
                  <a:pt x="0" y="26825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/>
          <p:cNvSpPr/>
          <p:nvPr/>
        </p:nvSpPr>
        <p:spPr>
          <a:xfrm>
            <a:off x="13849506" y="7577290"/>
            <a:ext cx="738321" cy="738321"/>
          </a:xfrm>
          <a:custGeom>
            <a:avLst/>
            <a:gdLst/>
            <a:ahLst/>
            <a:cxnLst/>
            <a:rect l="l" t="t" r="r" b="b"/>
            <a:pathLst>
              <a:path w="738321" h="738321">
                <a:moveTo>
                  <a:pt x="0" y="0"/>
                </a:moveTo>
                <a:lnTo>
                  <a:pt x="738321" y="0"/>
                </a:lnTo>
                <a:lnTo>
                  <a:pt x="738321" y="738321"/>
                </a:lnTo>
                <a:lnTo>
                  <a:pt x="0" y="7383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2796383" y="4947920"/>
            <a:ext cx="2106247" cy="28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sz="1800" b="1" spc="-73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가맹점주의 SNS 폭로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026644" y="9104186"/>
            <a:ext cx="2302912" cy="28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sz="1800" b="1" spc="-73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</a:t>
            </a:r>
            <a:r>
              <a:rPr lang="en-US" sz="1800" b="1" spc="-73" dirty="0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73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컴플라이언스</a:t>
            </a:r>
            <a:r>
              <a:rPr lang="en-US" sz="1800" b="1" spc="-73" dirty="0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73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담당자</a:t>
            </a:r>
            <a:endParaRPr lang="en-US" sz="1800" b="1" spc="-73" dirty="0">
              <a:solidFill>
                <a:srgbClr val="000000">
                  <a:alpha val="93725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2A1535FD-B8FB-0210-9646-B69E3251A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22739" y="2108077"/>
            <a:ext cx="9247705" cy="6935779"/>
          </a:xfrm>
          <a:custGeom>
            <a:avLst/>
            <a:gdLst/>
            <a:ahLst/>
            <a:cxnLst/>
            <a:rect l="l" t="t" r="r" b="b"/>
            <a:pathLst>
              <a:path w="9247705" h="6935779">
                <a:moveTo>
                  <a:pt x="0" y="0"/>
                </a:moveTo>
                <a:lnTo>
                  <a:pt x="9247705" y="0"/>
                </a:lnTo>
                <a:lnTo>
                  <a:pt x="9247705" y="6935778"/>
                </a:lnTo>
                <a:lnTo>
                  <a:pt x="0" y="6935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294078" y="2980285"/>
            <a:ext cx="5672108" cy="3525588"/>
            <a:chOff x="0" y="-116528"/>
            <a:chExt cx="7562811" cy="4700784"/>
          </a:xfrm>
        </p:grpSpPr>
        <p:grpSp>
          <p:nvGrpSpPr>
            <p:cNvPr id="4" name="Group 4"/>
            <p:cNvGrpSpPr/>
            <p:nvPr/>
          </p:nvGrpSpPr>
          <p:grpSpPr>
            <a:xfrm>
              <a:off x="1966498" y="-116528"/>
              <a:ext cx="5596313" cy="2120931"/>
              <a:chOff x="0" y="-29533"/>
              <a:chExt cx="1418341" cy="5375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18341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1418341" h="508000">
                    <a:moveTo>
                      <a:pt x="1215141" y="0"/>
                    </a:moveTo>
                    <a:cubicBezTo>
                      <a:pt x="1325631" y="6350"/>
                      <a:pt x="1413261" y="93980"/>
                      <a:pt x="1418341" y="203200"/>
                    </a:cubicBezTo>
                    <a:lnTo>
                      <a:pt x="1418341" y="208280"/>
                    </a:lnTo>
                    <a:cubicBezTo>
                      <a:pt x="1413261" y="316230"/>
                      <a:pt x="1325631" y="403860"/>
                      <a:pt x="1217681" y="403860"/>
                    </a:cubicBezTo>
                    <a:lnTo>
                      <a:pt x="274320" y="403860"/>
                    </a:lnTo>
                    <a:cubicBezTo>
                      <a:pt x="245110" y="438150"/>
                      <a:pt x="213360" y="468630"/>
                      <a:pt x="176530" y="494030"/>
                    </a:cubicBezTo>
                    <a:lnTo>
                      <a:pt x="152400" y="508000"/>
                    </a:lnTo>
                    <a:cubicBezTo>
                      <a:pt x="139700" y="508000"/>
                      <a:pt x="137160" y="500380"/>
                      <a:pt x="140970" y="487680"/>
                    </a:cubicBezTo>
                    <a:cubicBezTo>
                      <a:pt x="149860" y="459740"/>
                      <a:pt x="148590" y="430530"/>
                      <a:pt x="138430" y="403860"/>
                    </a:cubicBezTo>
                    <a:lnTo>
                      <a:pt x="134620" y="392430"/>
                    </a:lnTo>
                    <a:cubicBezTo>
                      <a:pt x="57150" y="367030"/>
                      <a:pt x="1270" y="293370"/>
                      <a:pt x="0" y="208280"/>
                    </a:cubicBezTo>
                    <a:lnTo>
                      <a:pt x="0" y="201930"/>
                    </a:lnTo>
                    <a:cubicBezTo>
                      <a:pt x="0" y="93980"/>
                      <a:pt x="88900" y="6350"/>
                      <a:pt x="203200" y="0"/>
                    </a:cubicBezTo>
                    <a:lnTo>
                      <a:pt x="1217681" y="0"/>
                    </a:lnTo>
                    <a:close/>
                  </a:path>
                </a:pathLst>
              </a:custGeom>
              <a:solidFill>
                <a:srgbClr val="E3E3E3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950" y="-29533"/>
                <a:ext cx="1202441" cy="450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  <a:r>
                  <a:rPr lang="en-US" sz="18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SNS </a:t>
                </a:r>
                <a:r>
                  <a:rPr lang="en-US" sz="1800" dirty="0" err="1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폭로한</a:t>
                </a:r>
                <a:r>
                  <a:rPr lang="en-US" sz="18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가맹점주와의</a:t>
                </a:r>
                <a:r>
                  <a:rPr lang="en-US" sz="18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 </a:t>
                </a:r>
              </a:p>
              <a:p>
                <a:pPr algn="ctr">
                  <a:lnSpc>
                    <a:spcPts val="2700"/>
                  </a:lnSpc>
                </a:pPr>
                <a:r>
                  <a:rPr lang="en-US" sz="1800" b="1" dirty="0" err="1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계약을</a:t>
                </a:r>
                <a:r>
                  <a:rPr lang="en-US" sz="1800" b="1" dirty="0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해지하면</a:t>
                </a:r>
                <a:r>
                  <a:rPr lang="en-US" sz="1800" b="1" dirty="0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문제가</a:t>
                </a:r>
                <a:r>
                  <a:rPr lang="en-US" sz="1800" b="1" dirty="0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되나요</a:t>
                </a:r>
                <a:r>
                  <a:rPr lang="en-US" sz="1800" b="1" dirty="0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?</a:t>
                </a:r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0" y="1100298"/>
              <a:ext cx="2551999" cy="3483958"/>
            </a:xfrm>
            <a:custGeom>
              <a:avLst/>
              <a:gdLst/>
              <a:ahLst/>
              <a:cxnLst/>
              <a:rect l="l" t="t" r="r" b="b"/>
              <a:pathLst>
                <a:path w="2551999" h="3483958">
                  <a:moveTo>
                    <a:pt x="0" y="0"/>
                  </a:moveTo>
                  <a:lnTo>
                    <a:pt x="2551999" y="0"/>
                  </a:lnTo>
                  <a:lnTo>
                    <a:pt x="2551999" y="3483958"/>
                  </a:lnTo>
                  <a:lnTo>
                    <a:pt x="0" y="3483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107957" y="7089597"/>
            <a:ext cx="441479" cy="441479"/>
          </a:xfrm>
          <a:custGeom>
            <a:avLst/>
            <a:gdLst/>
            <a:ahLst/>
            <a:cxnLst/>
            <a:rect l="l" t="t" r="r" b="b"/>
            <a:pathLst>
              <a:path w="441479" h="441479">
                <a:moveTo>
                  <a:pt x="0" y="0"/>
                </a:moveTo>
                <a:lnTo>
                  <a:pt x="441479" y="0"/>
                </a:lnTo>
                <a:lnTo>
                  <a:pt x="441479" y="441478"/>
                </a:lnTo>
                <a:lnTo>
                  <a:pt x="0" y="441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107957" y="814575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107957" y="8955384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394648" y="5131112"/>
            <a:ext cx="5630157" cy="2951815"/>
            <a:chOff x="0" y="0"/>
            <a:chExt cx="1482840" cy="7774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2840" cy="777433"/>
            </a:xfrm>
            <a:custGeom>
              <a:avLst/>
              <a:gdLst/>
              <a:ahLst/>
              <a:cxnLst/>
              <a:rect l="l" t="t" r="r" b="b"/>
              <a:pathLst>
                <a:path w="1482840" h="777433">
                  <a:moveTo>
                    <a:pt x="0" y="0"/>
                  </a:moveTo>
                  <a:lnTo>
                    <a:pt x="1482840" y="0"/>
                  </a:lnTo>
                  <a:lnTo>
                    <a:pt x="1482840" y="777433"/>
                  </a:lnTo>
                  <a:lnTo>
                    <a:pt x="0" y="777433"/>
                  </a:lnTo>
                  <a:close/>
                </a:path>
              </a:pathLst>
            </a:custGeom>
            <a:ln w="38100" cap="sq">
              <a:solidFill>
                <a:srgbClr val="FF0000">
                  <a:alpha val="6274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482840" cy="83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373690" y="7593969"/>
            <a:ext cx="480299" cy="652359"/>
          </a:xfrm>
          <a:custGeom>
            <a:avLst/>
            <a:gdLst/>
            <a:ahLst/>
            <a:cxnLst/>
            <a:rect l="l" t="t" r="r" b="b"/>
            <a:pathLst>
              <a:path w="480299" h="652359">
                <a:moveTo>
                  <a:pt x="0" y="0"/>
                </a:moveTo>
                <a:lnTo>
                  <a:pt x="480299" y="0"/>
                </a:lnTo>
                <a:lnTo>
                  <a:pt x="480299" y="652359"/>
                </a:lnTo>
                <a:lnTo>
                  <a:pt x="0" y="6523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196717" y="2331060"/>
            <a:ext cx="9451301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00" spc="-82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 컴플라이언스 담당자, 헤아림으로 사전 검토 시작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55386" y="7550961"/>
            <a:ext cx="5290057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계약 체결 전 / 거래 진행 중 / 위반 의심</a:t>
            </a:r>
            <a:r>
              <a:rPr lang="en-US" sz="1847" u="none" strike="noStrike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/ 정기 점검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55386" y="7099957"/>
            <a:ext cx="2876550" cy="3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2047" b="1" spc="-4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상황 유형 선택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5386" y="8169110"/>
            <a:ext cx="2876550" cy="3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2047" b="1" spc="-4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거래 상황을 자연어로 입력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55386" y="8978735"/>
            <a:ext cx="2876550" cy="3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2047" b="1" spc="-4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정량적 리스크 진단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1728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3.3 시나리오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문제정의 및 해결방안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95350" y="971550"/>
            <a:ext cx="3181350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 사용</a:t>
            </a:r>
          </a:p>
        </p:txBody>
      </p:sp>
      <p:sp>
        <p:nvSpPr>
          <p:cNvPr id="24" name="Freeform 24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Freeform 26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BADA471C-0F39-5ED2-DF32-190CBB1B4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90346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028700" y="38806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11309611" y="194367"/>
            <a:ext cx="6650069" cy="9467984"/>
          </a:xfrm>
          <a:custGeom>
            <a:avLst/>
            <a:gdLst/>
            <a:ahLst/>
            <a:cxnLst/>
            <a:rect l="l" t="t" r="r" b="b"/>
            <a:pathLst>
              <a:path w="6650069" h="9467984">
                <a:moveTo>
                  <a:pt x="0" y="0"/>
                </a:moveTo>
                <a:lnTo>
                  <a:pt x="6650069" y="0"/>
                </a:lnTo>
                <a:lnTo>
                  <a:pt x="6650069" y="9467984"/>
                </a:lnTo>
                <a:lnTo>
                  <a:pt x="0" y="9467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30" b="-26884"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76129" y="2916926"/>
            <a:ext cx="6071479" cy="3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점수(0~100) 및 </a:t>
            </a:r>
            <a:r>
              <a:rPr lang="en-US" sz="2047" b="1" spc="-4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위험 수준</a:t>
            </a: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날씨 기반으로 </a:t>
            </a:r>
            <a:r>
              <a:rPr lang="en-US" sz="2047" b="1" spc="-4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시각화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6129" y="3894068"/>
            <a:ext cx="8465203" cy="3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법령·의결서·판례·사례 4개 에이전트 분석 결과 기반 Confidence Score 제시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6129" y="4871209"/>
            <a:ext cx="8465203" cy="3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2047" b="1" spc="-4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위반 여부 판단 근거 </a:t>
            </a: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및 권고사항·</a:t>
            </a:r>
            <a:r>
              <a:rPr lang="en-US" sz="2047" b="1" spc="-4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체크리스트 제공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485775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31728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3.3 시나리오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문제정의 및 해결방안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95350" y="971550"/>
            <a:ext cx="3181350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리스크 진단 결과</a:t>
            </a:r>
          </a:p>
        </p:txBody>
      </p:sp>
      <p:sp>
        <p:nvSpPr>
          <p:cNvPr id="13" name="Freeform 1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F19CECDA-E7FC-F029-A423-EA5D57FE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0" y="971550"/>
            <a:ext cx="3181350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2811911" y="2816376"/>
            <a:ext cx="13220551" cy="1026572"/>
            <a:chOff x="0" y="0"/>
            <a:chExt cx="3481956" cy="2703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81956" cy="270373"/>
            </a:xfrm>
            <a:custGeom>
              <a:avLst/>
              <a:gdLst/>
              <a:ahLst/>
              <a:cxnLst/>
              <a:rect l="l" t="t" r="r" b="b"/>
              <a:pathLst>
                <a:path w="3481956" h="270373">
                  <a:moveTo>
                    <a:pt x="11712" y="0"/>
                  </a:moveTo>
                  <a:lnTo>
                    <a:pt x="3470244" y="0"/>
                  </a:lnTo>
                  <a:cubicBezTo>
                    <a:pt x="3476712" y="0"/>
                    <a:pt x="3481956" y="5244"/>
                    <a:pt x="3481956" y="11712"/>
                  </a:cubicBezTo>
                  <a:lnTo>
                    <a:pt x="3481956" y="258661"/>
                  </a:lnTo>
                  <a:cubicBezTo>
                    <a:pt x="3481956" y="261767"/>
                    <a:pt x="3480722" y="264746"/>
                    <a:pt x="3478525" y="266943"/>
                  </a:cubicBezTo>
                  <a:cubicBezTo>
                    <a:pt x="3476329" y="269139"/>
                    <a:pt x="3473350" y="270373"/>
                    <a:pt x="3470244" y="270373"/>
                  </a:cubicBezTo>
                  <a:lnTo>
                    <a:pt x="11712" y="270373"/>
                  </a:lnTo>
                  <a:cubicBezTo>
                    <a:pt x="5244" y="270373"/>
                    <a:pt x="0" y="265129"/>
                    <a:pt x="0" y="258661"/>
                  </a:cubicBezTo>
                  <a:lnTo>
                    <a:pt x="0" y="11712"/>
                  </a:lnTo>
                  <a:cubicBezTo>
                    <a:pt x="0" y="5244"/>
                    <a:pt x="5244" y="0"/>
                    <a:pt x="1171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3481956" cy="241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098843" y="3067122"/>
            <a:ext cx="12646688" cy="916701"/>
            <a:chOff x="0" y="0"/>
            <a:chExt cx="16862250" cy="122226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39783" cy="652937"/>
              <a:chOff x="0" y="0"/>
              <a:chExt cx="394253" cy="1055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94253" cy="105510"/>
              </a:xfrm>
              <a:custGeom>
                <a:avLst/>
                <a:gdLst/>
                <a:ahLst/>
                <a:cxnLst/>
                <a:rect l="l" t="t" r="r" b="b"/>
                <a:pathLst>
                  <a:path w="394253" h="105510">
                    <a:moveTo>
                      <a:pt x="52755" y="0"/>
                    </a:moveTo>
                    <a:lnTo>
                      <a:pt x="341498" y="0"/>
                    </a:lnTo>
                    <a:cubicBezTo>
                      <a:pt x="355489" y="0"/>
                      <a:pt x="368908" y="5558"/>
                      <a:pt x="378801" y="15452"/>
                    </a:cubicBezTo>
                    <a:cubicBezTo>
                      <a:pt x="388695" y="25345"/>
                      <a:pt x="394253" y="38764"/>
                      <a:pt x="394253" y="52755"/>
                    </a:cubicBezTo>
                    <a:lnTo>
                      <a:pt x="394253" y="52755"/>
                    </a:lnTo>
                    <a:cubicBezTo>
                      <a:pt x="394253" y="66747"/>
                      <a:pt x="388695" y="80165"/>
                      <a:pt x="378801" y="90059"/>
                    </a:cubicBezTo>
                    <a:cubicBezTo>
                      <a:pt x="368908" y="99952"/>
                      <a:pt x="355489" y="105510"/>
                      <a:pt x="341498" y="105510"/>
                    </a:cubicBezTo>
                    <a:lnTo>
                      <a:pt x="52755" y="105510"/>
                    </a:lnTo>
                    <a:cubicBezTo>
                      <a:pt x="38764" y="105510"/>
                      <a:pt x="25345" y="99952"/>
                      <a:pt x="15452" y="90059"/>
                    </a:cubicBezTo>
                    <a:cubicBezTo>
                      <a:pt x="5558" y="80165"/>
                      <a:pt x="0" y="66747"/>
                      <a:pt x="0" y="52755"/>
                    </a:cubicBezTo>
                    <a:lnTo>
                      <a:pt x="0" y="52755"/>
                    </a:lnTo>
                    <a:cubicBezTo>
                      <a:pt x="0" y="38764"/>
                      <a:pt x="5558" y="25345"/>
                      <a:pt x="15452" y="15452"/>
                    </a:cubicBezTo>
                    <a:cubicBezTo>
                      <a:pt x="25345" y="5558"/>
                      <a:pt x="38764" y="0"/>
                      <a:pt x="52755" y="0"/>
                    </a:cubicBezTo>
                    <a:close/>
                  </a:path>
                </a:pathLst>
              </a:custGeom>
              <a:solidFill>
                <a:srgbClr val="A3BFD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9525"/>
                <a:ext cx="394253" cy="959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7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2717838" y="61419"/>
              <a:ext cx="619826" cy="530099"/>
            </a:xfrm>
            <a:custGeom>
              <a:avLst/>
              <a:gdLst/>
              <a:ahLst/>
              <a:cxnLst/>
              <a:rect l="l" t="t" r="r" b="b"/>
              <a:pathLst>
                <a:path w="619826" h="530099">
                  <a:moveTo>
                    <a:pt x="0" y="0"/>
                  </a:moveTo>
                  <a:lnTo>
                    <a:pt x="619826" y="0"/>
                  </a:lnTo>
                  <a:lnTo>
                    <a:pt x="619826" y="530099"/>
                  </a:lnTo>
                  <a:lnTo>
                    <a:pt x="0" y="530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463" b="-84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949" y="144792"/>
              <a:ext cx="2135885" cy="3633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92"/>
                </a:lnSpc>
              </a:pPr>
              <a:r>
                <a:rPr lang="en-US" sz="1857" b="1" spc="-37">
                  <a:solidFill>
                    <a:srgbClr val="333333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질의 처리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3609946" y="0"/>
              <a:ext cx="2439783" cy="652937"/>
              <a:chOff x="0" y="0"/>
              <a:chExt cx="394253" cy="10551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94253" cy="105510"/>
              </a:xfrm>
              <a:custGeom>
                <a:avLst/>
                <a:gdLst/>
                <a:ahLst/>
                <a:cxnLst/>
                <a:rect l="l" t="t" r="r" b="b"/>
                <a:pathLst>
                  <a:path w="394253" h="105510">
                    <a:moveTo>
                      <a:pt x="52755" y="0"/>
                    </a:moveTo>
                    <a:lnTo>
                      <a:pt x="341498" y="0"/>
                    </a:lnTo>
                    <a:cubicBezTo>
                      <a:pt x="355489" y="0"/>
                      <a:pt x="368908" y="5558"/>
                      <a:pt x="378801" y="15452"/>
                    </a:cubicBezTo>
                    <a:cubicBezTo>
                      <a:pt x="388695" y="25345"/>
                      <a:pt x="394253" y="38764"/>
                      <a:pt x="394253" y="52755"/>
                    </a:cubicBezTo>
                    <a:lnTo>
                      <a:pt x="394253" y="52755"/>
                    </a:lnTo>
                    <a:cubicBezTo>
                      <a:pt x="394253" y="66747"/>
                      <a:pt x="388695" y="80165"/>
                      <a:pt x="378801" y="90059"/>
                    </a:cubicBezTo>
                    <a:cubicBezTo>
                      <a:pt x="368908" y="99952"/>
                      <a:pt x="355489" y="105510"/>
                      <a:pt x="341498" y="105510"/>
                    </a:cubicBezTo>
                    <a:lnTo>
                      <a:pt x="52755" y="105510"/>
                    </a:lnTo>
                    <a:cubicBezTo>
                      <a:pt x="38764" y="105510"/>
                      <a:pt x="25345" y="99952"/>
                      <a:pt x="15452" y="90059"/>
                    </a:cubicBezTo>
                    <a:cubicBezTo>
                      <a:pt x="5558" y="80165"/>
                      <a:pt x="0" y="66747"/>
                      <a:pt x="0" y="52755"/>
                    </a:cubicBezTo>
                    <a:lnTo>
                      <a:pt x="0" y="52755"/>
                    </a:lnTo>
                    <a:cubicBezTo>
                      <a:pt x="0" y="38764"/>
                      <a:pt x="5558" y="25345"/>
                      <a:pt x="15452" y="15452"/>
                    </a:cubicBezTo>
                    <a:cubicBezTo>
                      <a:pt x="25345" y="5558"/>
                      <a:pt x="38764" y="0"/>
                      <a:pt x="52755" y="0"/>
                    </a:cubicBezTo>
                    <a:close/>
                  </a:path>
                </a:pathLst>
              </a:custGeom>
              <a:solidFill>
                <a:srgbClr val="A3BFD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9525"/>
                <a:ext cx="394253" cy="959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7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761895" y="144792"/>
              <a:ext cx="2135885" cy="3633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92"/>
                </a:lnSpc>
              </a:pPr>
              <a:r>
                <a:rPr lang="en-US" sz="1857" b="1" spc="-37">
                  <a:solidFill>
                    <a:srgbClr val="333333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내부 검색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22011" y="61419"/>
              <a:ext cx="619826" cy="530099"/>
            </a:xfrm>
            <a:custGeom>
              <a:avLst/>
              <a:gdLst/>
              <a:ahLst/>
              <a:cxnLst/>
              <a:rect l="l" t="t" r="r" b="b"/>
              <a:pathLst>
                <a:path w="619826" h="530099">
                  <a:moveTo>
                    <a:pt x="0" y="0"/>
                  </a:moveTo>
                  <a:lnTo>
                    <a:pt x="619827" y="0"/>
                  </a:lnTo>
                  <a:lnTo>
                    <a:pt x="619827" y="530099"/>
                  </a:lnTo>
                  <a:lnTo>
                    <a:pt x="0" y="530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463" b="-84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214120" y="0"/>
              <a:ext cx="2439783" cy="652937"/>
              <a:chOff x="0" y="0"/>
              <a:chExt cx="394253" cy="10551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94253" cy="105510"/>
              </a:xfrm>
              <a:custGeom>
                <a:avLst/>
                <a:gdLst/>
                <a:ahLst/>
                <a:cxnLst/>
                <a:rect l="l" t="t" r="r" b="b"/>
                <a:pathLst>
                  <a:path w="394253" h="105510">
                    <a:moveTo>
                      <a:pt x="52755" y="0"/>
                    </a:moveTo>
                    <a:lnTo>
                      <a:pt x="341498" y="0"/>
                    </a:lnTo>
                    <a:cubicBezTo>
                      <a:pt x="355489" y="0"/>
                      <a:pt x="368908" y="5558"/>
                      <a:pt x="378801" y="15452"/>
                    </a:cubicBezTo>
                    <a:cubicBezTo>
                      <a:pt x="388695" y="25345"/>
                      <a:pt x="394253" y="38764"/>
                      <a:pt x="394253" y="52755"/>
                    </a:cubicBezTo>
                    <a:lnTo>
                      <a:pt x="394253" y="52755"/>
                    </a:lnTo>
                    <a:cubicBezTo>
                      <a:pt x="394253" y="66747"/>
                      <a:pt x="388695" y="80165"/>
                      <a:pt x="378801" y="90059"/>
                    </a:cubicBezTo>
                    <a:cubicBezTo>
                      <a:pt x="368908" y="99952"/>
                      <a:pt x="355489" y="105510"/>
                      <a:pt x="341498" y="105510"/>
                    </a:cubicBezTo>
                    <a:lnTo>
                      <a:pt x="52755" y="105510"/>
                    </a:lnTo>
                    <a:cubicBezTo>
                      <a:pt x="38764" y="105510"/>
                      <a:pt x="25345" y="99952"/>
                      <a:pt x="15452" y="90059"/>
                    </a:cubicBezTo>
                    <a:cubicBezTo>
                      <a:pt x="5558" y="80165"/>
                      <a:pt x="0" y="66747"/>
                      <a:pt x="0" y="52755"/>
                    </a:cubicBezTo>
                    <a:lnTo>
                      <a:pt x="0" y="52755"/>
                    </a:lnTo>
                    <a:cubicBezTo>
                      <a:pt x="0" y="38764"/>
                      <a:pt x="5558" y="25345"/>
                      <a:pt x="15452" y="15452"/>
                    </a:cubicBezTo>
                    <a:cubicBezTo>
                      <a:pt x="25345" y="5558"/>
                      <a:pt x="38764" y="0"/>
                      <a:pt x="52755" y="0"/>
                    </a:cubicBezTo>
                    <a:close/>
                  </a:path>
                </a:pathLst>
              </a:custGeom>
              <a:solidFill>
                <a:srgbClr val="A3BFD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9525"/>
                <a:ext cx="394253" cy="959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7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7366069" y="144792"/>
              <a:ext cx="2135885" cy="3633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92"/>
                </a:lnSpc>
              </a:pPr>
              <a:r>
                <a:rPr lang="en-US" sz="1857" b="1" spc="-37">
                  <a:solidFill>
                    <a:srgbClr val="333333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외부 연동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9926185" y="61419"/>
              <a:ext cx="619826" cy="530099"/>
            </a:xfrm>
            <a:custGeom>
              <a:avLst/>
              <a:gdLst/>
              <a:ahLst/>
              <a:cxnLst/>
              <a:rect l="l" t="t" r="r" b="b"/>
              <a:pathLst>
                <a:path w="619826" h="530099">
                  <a:moveTo>
                    <a:pt x="0" y="0"/>
                  </a:moveTo>
                  <a:lnTo>
                    <a:pt x="619826" y="0"/>
                  </a:lnTo>
                  <a:lnTo>
                    <a:pt x="619826" y="530099"/>
                  </a:lnTo>
                  <a:lnTo>
                    <a:pt x="0" y="530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463" b="-84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818294" y="0"/>
              <a:ext cx="2439783" cy="652937"/>
              <a:chOff x="0" y="0"/>
              <a:chExt cx="394253" cy="10551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94253" cy="105510"/>
              </a:xfrm>
              <a:custGeom>
                <a:avLst/>
                <a:gdLst/>
                <a:ahLst/>
                <a:cxnLst/>
                <a:rect l="l" t="t" r="r" b="b"/>
                <a:pathLst>
                  <a:path w="394253" h="105510">
                    <a:moveTo>
                      <a:pt x="52755" y="0"/>
                    </a:moveTo>
                    <a:lnTo>
                      <a:pt x="341498" y="0"/>
                    </a:lnTo>
                    <a:cubicBezTo>
                      <a:pt x="355489" y="0"/>
                      <a:pt x="368908" y="5558"/>
                      <a:pt x="378801" y="15452"/>
                    </a:cubicBezTo>
                    <a:cubicBezTo>
                      <a:pt x="388695" y="25345"/>
                      <a:pt x="394253" y="38764"/>
                      <a:pt x="394253" y="52755"/>
                    </a:cubicBezTo>
                    <a:lnTo>
                      <a:pt x="394253" y="52755"/>
                    </a:lnTo>
                    <a:cubicBezTo>
                      <a:pt x="394253" y="66747"/>
                      <a:pt x="388695" y="80165"/>
                      <a:pt x="378801" y="90059"/>
                    </a:cubicBezTo>
                    <a:cubicBezTo>
                      <a:pt x="368908" y="99952"/>
                      <a:pt x="355489" y="105510"/>
                      <a:pt x="341498" y="105510"/>
                    </a:cubicBezTo>
                    <a:lnTo>
                      <a:pt x="52755" y="105510"/>
                    </a:lnTo>
                    <a:cubicBezTo>
                      <a:pt x="38764" y="105510"/>
                      <a:pt x="25345" y="99952"/>
                      <a:pt x="15452" y="90059"/>
                    </a:cubicBezTo>
                    <a:cubicBezTo>
                      <a:pt x="5558" y="80165"/>
                      <a:pt x="0" y="66747"/>
                      <a:pt x="0" y="52755"/>
                    </a:cubicBezTo>
                    <a:lnTo>
                      <a:pt x="0" y="52755"/>
                    </a:lnTo>
                    <a:cubicBezTo>
                      <a:pt x="0" y="38764"/>
                      <a:pt x="5558" y="25345"/>
                      <a:pt x="15452" y="15452"/>
                    </a:cubicBezTo>
                    <a:cubicBezTo>
                      <a:pt x="25345" y="5558"/>
                      <a:pt x="38764" y="0"/>
                      <a:pt x="52755" y="0"/>
                    </a:cubicBezTo>
                    <a:close/>
                  </a:path>
                </a:pathLst>
              </a:custGeom>
              <a:solidFill>
                <a:srgbClr val="A3BFD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9525"/>
                <a:ext cx="394253" cy="959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7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0963511" y="175957"/>
              <a:ext cx="2135885" cy="3474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47"/>
                </a:lnSpc>
              </a:pPr>
              <a:r>
                <a:rPr lang="en-US" sz="1735" b="1" spc="-34">
                  <a:solidFill>
                    <a:srgbClr val="333333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멀티에이전트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13530359" y="61419"/>
              <a:ext cx="619826" cy="530099"/>
            </a:xfrm>
            <a:custGeom>
              <a:avLst/>
              <a:gdLst/>
              <a:ahLst/>
              <a:cxnLst/>
              <a:rect l="l" t="t" r="r" b="b"/>
              <a:pathLst>
                <a:path w="619826" h="530099">
                  <a:moveTo>
                    <a:pt x="0" y="0"/>
                  </a:moveTo>
                  <a:lnTo>
                    <a:pt x="619826" y="0"/>
                  </a:lnTo>
                  <a:lnTo>
                    <a:pt x="619826" y="530099"/>
                  </a:lnTo>
                  <a:lnTo>
                    <a:pt x="0" y="530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463" b="-84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4422467" y="0"/>
              <a:ext cx="2439783" cy="652937"/>
              <a:chOff x="0" y="0"/>
              <a:chExt cx="394253" cy="10551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94253" cy="105510"/>
              </a:xfrm>
              <a:custGeom>
                <a:avLst/>
                <a:gdLst/>
                <a:ahLst/>
                <a:cxnLst/>
                <a:rect l="l" t="t" r="r" b="b"/>
                <a:pathLst>
                  <a:path w="394253" h="105510">
                    <a:moveTo>
                      <a:pt x="52755" y="0"/>
                    </a:moveTo>
                    <a:lnTo>
                      <a:pt x="341498" y="0"/>
                    </a:lnTo>
                    <a:cubicBezTo>
                      <a:pt x="355489" y="0"/>
                      <a:pt x="368908" y="5558"/>
                      <a:pt x="378801" y="15452"/>
                    </a:cubicBezTo>
                    <a:cubicBezTo>
                      <a:pt x="388695" y="25345"/>
                      <a:pt x="394253" y="38764"/>
                      <a:pt x="394253" y="52755"/>
                    </a:cubicBezTo>
                    <a:lnTo>
                      <a:pt x="394253" y="52755"/>
                    </a:lnTo>
                    <a:cubicBezTo>
                      <a:pt x="394253" y="66747"/>
                      <a:pt x="388695" y="80165"/>
                      <a:pt x="378801" y="90059"/>
                    </a:cubicBezTo>
                    <a:cubicBezTo>
                      <a:pt x="368908" y="99952"/>
                      <a:pt x="355489" y="105510"/>
                      <a:pt x="341498" y="105510"/>
                    </a:cubicBezTo>
                    <a:lnTo>
                      <a:pt x="52755" y="105510"/>
                    </a:lnTo>
                    <a:cubicBezTo>
                      <a:pt x="38764" y="105510"/>
                      <a:pt x="25345" y="99952"/>
                      <a:pt x="15452" y="90059"/>
                    </a:cubicBezTo>
                    <a:cubicBezTo>
                      <a:pt x="5558" y="80165"/>
                      <a:pt x="0" y="66747"/>
                      <a:pt x="0" y="52755"/>
                    </a:cubicBezTo>
                    <a:lnTo>
                      <a:pt x="0" y="52755"/>
                    </a:lnTo>
                    <a:cubicBezTo>
                      <a:pt x="0" y="38764"/>
                      <a:pt x="5558" y="25345"/>
                      <a:pt x="15452" y="15452"/>
                    </a:cubicBezTo>
                    <a:cubicBezTo>
                      <a:pt x="25345" y="5558"/>
                      <a:pt x="38764" y="0"/>
                      <a:pt x="52755" y="0"/>
                    </a:cubicBezTo>
                    <a:close/>
                  </a:path>
                </a:pathLst>
              </a:custGeom>
              <a:solidFill>
                <a:srgbClr val="A3BFD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9525"/>
                <a:ext cx="394253" cy="959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7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4574416" y="144792"/>
              <a:ext cx="2135885" cy="107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</a:pPr>
              <a:r>
                <a:rPr lang="en-US" sz="1857" b="1" spc="-37">
                  <a:solidFill>
                    <a:srgbClr val="333333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보고서 생성</a:t>
              </a:r>
            </a:p>
            <a:p>
              <a:pPr algn="ctr">
                <a:lnSpc>
                  <a:spcPts val="2192"/>
                </a:lnSpc>
              </a:pPr>
              <a:endParaRPr lang="en-US" sz="1857" b="1" spc="-37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  <a:p>
              <a:pPr marL="0" lvl="0" indent="0" algn="ctr">
                <a:lnSpc>
                  <a:spcPts val="2192"/>
                </a:lnSpc>
              </a:pPr>
              <a:endParaRPr lang="en-US" sz="1857" b="1" spc="-37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31728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3.4 기술 구현 결과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문제정의 및 해결방안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기술 구현 결과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17827" y="4545798"/>
            <a:ext cx="3399611" cy="2333325"/>
            <a:chOff x="0" y="0"/>
            <a:chExt cx="895371" cy="6145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95371" cy="614538"/>
            </a:xfrm>
            <a:custGeom>
              <a:avLst/>
              <a:gdLst/>
              <a:ahLst/>
              <a:cxnLst/>
              <a:rect l="l" t="t" r="r" b="b"/>
              <a:pathLst>
                <a:path w="895371" h="614538">
                  <a:moveTo>
                    <a:pt x="45546" y="0"/>
                  </a:moveTo>
                  <a:lnTo>
                    <a:pt x="849825" y="0"/>
                  </a:lnTo>
                  <a:cubicBezTo>
                    <a:pt x="861905" y="0"/>
                    <a:pt x="873489" y="4799"/>
                    <a:pt x="882031" y="13340"/>
                  </a:cubicBezTo>
                  <a:cubicBezTo>
                    <a:pt x="890572" y="21882"/>
                    <a:pt x="895371" y="33466"/>
                    <a:pt x="895371" y="45546"/>
                  </a:cubicBezTo>
                  <a:lnTo>
                    <a:pt x="895371" y="568992"/>
                  </a:lnTo>
                  <a:cubicBezTo>
                    <a:pt x="895371" y="581072"/>
                    <a:pt x="890572" y="592657"/>
                    <a:pt x="882031" y="601198"/>
                  </a:cubicBezTo>
                  <a:cubicBezTo>
                    <a:pt x="873489" y="609740"/>
                    <a:pt x="861905" y="614538"/>
                    <a:pt x="849825" y="614538"/>
                  </a:cubicBezTo>
                  <a:lnTo>
                    <a:pt x="45546" y="614538"/>
                  </a:lnTo>
                  <a:cubicBezTo>
                    <a:pt x="20392" y="614538"/>
                    <a:pt x="0" y="594147"/>
                    <a:pt x="0" y="568992"/>
                  </a:cubicBezTo>
                  <a:lnTo>
                    <a:pt x="0" y="45546"/>
                  </a:lnTo>
                  <a:cubicBezTo>
                    <a:pt x="0" y="33466"/>
                    <a:pt x="4799" y="21882"/>
                    <a:pt x="13340" y="13340"/>
                  </a:cubicBezTo>
                  <a:cubicBezTo>
                    <a:pt x="21882" y="4799"/>
                    <a:pt x="33466" y="0"/>
                    <a:pt x="4554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28575"/>
              <a:ext cx="895371" cy="585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70332" y="5741767"/>
            <a:ext cx="2876550" cy="935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4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LLM </a:t>
            </a: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 Query Rewriting &amp; Intent Classification으로 </a:t>
            </a:r>
          </a:p>
          <a:p>
            <a:pPr marL="0" lvl="0" indent="0" algn="l">
              <a:lnSpc>
                <a:spcPts val="2534"/>
              </a:lnSpc>
            </a:pP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검색 정확도 향상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469032" y="7650648"/>
            <a:ext cx="3687046" cy="2106403"/>
            <a:chOff x="0" y="0"/>
            <a:chExt cx="971074" cy="55477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71074" cy="554773"/>
            </a:xfrm>
            <a:custGeom>
              <a:avLst/>
              <a:gdLst/>
              <a:ahLst/>
              <a:cxnLst/>
              <a:rect l="l" t="t" r="r" b="b"/>
              <a:pathLst>
                <a:path w="971074" h="554773">
                  <a:moveTo>
                    <a:pt x="41995" y="0"/>
                  </a:moveTo>
                  <a:lnTo>
                    <a:pt x="929079" y="0"/>
                  </a:lnTo>
                  <a:cubicBezTo>
                    <a:pt x="940216" y="0"/>
                    <a:pt x="950898" y="4424"/>
                    <a:pt x="958774" y="12300"/>
                  </a:cubicBezTo>
                  <a:cubicBezTo>
                    <a:pt x="966649" y="20176"/>
                    <a:pt x="971074" y="30857"/>
                    <a:pt x="971074" y="41995"/>
                  </a:cubicBezTo>
                  <a:lnTo>
                    <a:pt x="971074" y="512778"/>
                  </a:lnTo>
                  <a:cubicBezTo>
                    <a:pt x="971074" y="523916"/>
                    <a:pt x="966649" y="534597"/>
                    <a:pt x="958774" y="542473"/>
                  </a:cubicBezTo>
                  <a:cubicBezTo>
                    <a:pt x="950898" y="550348"/>
                    <a:pt x="940216" y="554773"/>
                    <a:pt x="929079" y="554773"/>
                  </a:cubicBezTo>
                  <a:lnTo>
                    <a:pt x="41995" y="554773"/>
                  </a:lnTo>
                  <a:cubicBezTo>
                    <a:pt x="30857" y="554773"/>
                    <a:pt x="20176" y="550348"/>
                    <a:pt x="12300" y="542473"/>
                  </a:cubicBezTo>
                  <a:cubicBezTo>
                    <a:pt x="4424" y="534597"/>
                    <a:pt x="0" y="523916"/>
                    <a:pt x="0" y="512778"/>
                  </a:cubicBezTo>
                  <a:lnTo>
                    <a:pt x="0" y="41995"/>
                  </a:lnTo>
                  <a:cubicBezTo>
                    <a:pt x="0" y="30857"/>
                    <a:pt x="4424" y="20176"/>
                    <a:pt x="12300" y="12300"/>
                  </a:cubicBezTo>
                  <a:cubicBezTo>
                    <a:pt x="20176" y="4424"/>
                    <a:pt x="30857" y="0"/>
                    <a:pt x="4199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28575"/>
              <a:ext cx="971074" cy="52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730563" y="8948255"/>
            <a:ext cx="3138310" cy="60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법령·의결서·판례·사례 4개 에이전트, Confidence Score(1~100) 산출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0332" y="5299676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질의 처리 기술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730563" y="8479873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멀티</a:t>
            </a:r>
            <a:r>
              <a:rPr 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에이전트</a:t>
            </a:r>
            <a:r>
              <a:rPr 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시스템</a:t>
            </a:r>
            <a:endParaRPr lang="en-US" sz="1947" b="1" spc="-38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4908782" y="4545798"/>
            <a:ext cx="3566021" cy="2333325"/>
            <a:chOff x="0" y="0"/>
            <a:chExt cx="939199" cy="61453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39199" cy="614538"/>
            </a:xfrm>
            <a:custGeom>
              <a:avLst/>
              <a:gdLst/>
              <a:ahLst/>
              <a:cxnLst/>
              <a:rect l="l" t="t" r="r" b="b"/>
              <a:pathLst>
                <a:path w="939199" h="614538">
                  <a:moveTo>
                    <a:pt x="43420" y="0"/>
                  </a:moveTo>
                  <a:lnTo>
                    <a:pt x="895778" y="0"/>
                  </a:lnTo>
                  <a:cubicBezTo>
                    <a:pt x="907294" y="0"/>
                    <a:pt x="918338" y="4575"/>
                    <a:pt x="926481" y="12718"/>
                  </a:cubicBezTo>
                  <a:cubicBezTo>
                    <a:pt x="934624" y="20860"/>
                    <a:pt x="939199" y="31905"/>
                    <a:pt x="939199" y="43420"/>
                  </a:cubicBezTo>
                  <a:lnTo>
                    <a:pt x="939199" y="571118"/>
                  </a:lnTo>
                  <a:cubicBezTo>
                    <a:pt x="939199" y="582634"/>
                    <a:pt x="934624" y="593678"/>
                    <a:pt x="926481" y="601821"/>
                  </a:cubicBezTo>
                  <a:cubicBezTo>
                    <a:pt x="918338" y="609964"/>
                    <a:pt x="907294" y="614538"/>
                    <a:pt x="895778" y="614538"/>
                  </a:cubicBezTo>
                  <a:lnTo>
                    <a:pt x="43420" y="614538"/>
                  </a:lnTo>
                  <a:cubicBezTo>
                    <a:pt x="31905" y="614538"/>
                    <a:pt x="20860" y="609964"/>
                    <a:pt x="12718" y="601821"/>
                  </a:cubicBezTo>
                  <a:cubicBezTo>
                    <a:pt x="4575" y="593678"/>
                    <a:pt x="0" y="582634"/>
                    <a:pt x="0" y="571118"/>
                  </a:cubicBezTo>
                  <a:lnTo>
                    <a:pt x="0" y="43420"/>
                  </a:lnTo>
                  <a:cubicBezTo>
                    <a:pt x="0" y="31905"/>
                    <a:pt x="4575" y="20860"/>
                    <a:pt x="12718" y="12718"/>
                  </a:cubicBezTo>
                  <a:cubicBezTo>
                    <a:pt x="20860" y="4575"/>
                    <a:pt x="31905" y="0"/>
                    <a:pt x="434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28575"/>
              <a:ext cx="939199" cy="585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112814" y="5751292"/>
            <a:ext cx="3138310" cy="90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BM25 + Dense Embedding 결합, Re-ranking 및 Semantic Filtering 적용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112814" y="5299676"/>
            <a:ext cx="359862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내부 검색 기술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3925424" y="7629112"/>
            <a:ext cx="3687046" cy="2106403"/>
            <a:chOff x="0" y="0"/>
            <a:chExt cx="971074" cy="55477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71074" cy="554773"/>
            </a:xfrm>
            <a:custGeom>
              <a:avLst/>
              <a:gdLst/>
              <a:ahLst/>
              <a:cxnLst/>
              <a:rect l="l" t="t" r="r" b="b"/>
              <a:pathLst>
                <a:path w="971074" h="554773">
                  <a:moveTo>
                    <a:pt x="41995" y="0"/>
                  </a:moveTo>
                  <a:lnTo>
                    <a:pt x="929079" y="0"/>
                  </a:lnTo>
                  <a:cubicBezTo>
                    <a:pt x="940216" y="0"/>
                    <a:pt x="950898" y="4424"/>
                    <a:pt x="958774" y="12300"/>
                  </a:cubicBezTo>
                  <a:cubicBezTo>
                    <a:pt x="966649" y="20176"/>
                    <a:pt x="971074" y="30857"/>
                    <a:pt x="971074" y="41995"/>
                  </a:cubicBezTo>
                  <a:lnTo>
                    <a:pt x="971074" y="512778"/>
                  </a:lnTo>
                  <a:cubicBezTo>
                    <a:pt x="971074" y="523916"/>
                    <a:pt x="966649" y="534597"/>
                    <a:pt x="958774" y="542473"/>
                  </a:cubicBezTo>
                  <a:cubicBezTo>
                    <a:pt x="950898" y="550348"/>
                    <a:pt x="940216" y="554773"/>
                    <a:pt x="929079" y="554773"/>
                  </a:cubicBezTo>
                  <a:lnTo>
                    <a:pt x="41995" y="554773"/>
                  </a:lnTo>
                  <a:cubicBezTo>
                    <a:pt x="30857" y="554773"/>
                    <a:pt x="20176" y="550348"/>
                    <a:pt x="12300" y="542473"/>
                  </a:cubicBezTo>
                  <a:cubicBezTo>
                    <a:pt x="4424" y="534597"/>
                    <a:pt x="0" y="523916"/>
                    <a:pt x="0" y="512778"/>
                  </a:cubicBezTo>
                  <a:lnTo>
                    <a:pt x="0" y="41995"/>
                  </a:lnTo>
                  <a:cubicBezTo>
                    <a:pt x="0" y="30857"/>
                    <a:pt x="4424" y="20176"/>
                    <a:pt x="12300" y="12300"/>
                  </a:cubicBezTo>
                  <a:cubicBezTo>
                    <a:pt x="20176" y="4424"/>
                    <a:pt x="30857" y="0"/>
                    <a:pt x="4199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28575"/>
              <a:ext cx="971074" cy="52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4199792" y="8948255"/>
            <a:ext cx="3138310" cy="60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Confidence Score 기반 결과 통합, 구조화된 진단 보고서 제공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199792" y="8479873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최종 보고서 생성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469032" y="4517223"/>
            <a:ext cx="3399611" cy="2333325"/>
            <a:chOff x="0" y="0"/>
            <a:chExt cx="895371" cy="61453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95371" cy="614538"/>
            </a:xfrm>
            <a:custGeom>
              <a:avLst/>
              <a:gdLst/>
              <a:ahLst/>
              <a:cxnLst/>
              <a:rect l="l" t="t" r="r" b="b"/>
              <a:pathLst>
                <a:path w="895371" h="614538">
                  <a:moveTo>
                    <a:pt x="45546" y="0"/>
                  </a:moveTo>
                  <a:lnTo>
                    <a:pt x="849825" y="0"/>
                  </a:lnTo>
                  <a:cubicBezTo>
                    <a:pt x="861905" y="0"/>
                    <a:pt x="873489" y="4799"/>
                    <a:pt x="882031" y="13340"/>
                  </a:cubicBezTo>
                  <a:cubicBezTo>
                    <a:pt x="890572" y="21882"/>
                    <a:pt x="895371" y="33466"/>
                    <a:pt x="895371" y="45546"/>
                  </a:cubicBezTo>
                  <a:lnTo>
                    <a:pt x="895371" y="568992"/>
                  </a:lnTo>
                  <a:cubicBezTo>
                    <a:pt x="895371" y="581072"/>
                    <a:pt x="890572" y="592657"/>
                    <a:pt x="882031" y="601198"/>
                  </a:cubicBezTo>
                  <a:cubicBezTo>
                    <a:pt x="873489" y="609740"/>
                    <a:pt x="861905" y="614538"/>
                    <a:pt x="849825" y="614538"/>
                  </a:cubicBezTo>
                  <a:lnTo>
                    <a:pt x="45546" y="614538"/>
                  </a:lnTo>
                  <a:cubicBezTo>
                    <a:pt x="20392" y="614538"/>
                    <a:pt x="0" y="594147"/>
                    <a:pt x="0" y="568992"/>
                  </a:cubicBezTo>
                  <a:lnTo>
                    <a:pt x="0" y="45546"/>
                  </a:lnTo>
                  <a:cubicBezTo>
                    <a:pt x="0" y="33466"/>
                    <a:pt x="4799" y="21882"/>
                    <a:pt x="13340" y="13340"/>
                  </a:cubicBezTo>
                  <a:cubicBezTo>
                    <a:pt x="21882" y="4799"/>
                    <a:pt x="33466" y="0"/>
                    <a:pt x="4554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28575"/>
              <a:ext cx="895371" cy="585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9652910" y="5768768"/>
            <a:ext cx="3138310" cy="60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국가법령정보 OPEN API를 </a:t>
            </a:r>
          </a:p>
          <a:p>
            <a:pPr marL="0" lvl="0" indent="0" algn="l">
              <a:lnSpc>
                <a:spcPts val="244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MCP 모듈로 실시간 연동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652910" y="5308474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외부 데이터 연동</a:t>
            </a:r>
          </a:p>
        </p:txBody>
      </p:sp>
      <p:sp>
        <p:nvSpPr>
          <p:cNvPr id="60" name="Freeform 60"/>
          <p:cNvSpPr/>
          <p:nvPr/>
        </p:nvSpPr>
        <p:spPr>
          <a:xfrm>
            <a:off x="854579" y="474499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1" name="Freeform 61"/>
          <p:cNvSpPr/>
          <p:nvPr/>
        </p:nvSpPr>
        <p:spPr>
          <a:xfrm>
            <a:off x="5017564" y="474499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2" name="Freeform 62"/>
          <p:cNvSpPr/>
          <p:nvPr/>
        </p:nvSpPr>
        <p:spPr>
          <a:xfrm>
            <a:off x="9652910" y="474499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3" name="Freeform 63"/>
          <p:cNvSpPr/>
          <p:nvPr/>
        </p:nvSpPr>
        <p:spPr>
          <a:xfrm>
            <a:off x="9652910" y="7926857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4" name="Freeform 64"/>
          <p:cNvSpPr/>
          <p:nvPr/>
        </p:nvSpPr>
        <p:spPr>
          <a:xfrm>
            <a:off x="14199792" y="7926857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5" name="Freeform 65"/>
          <p:cNvSpPr/>
          <p:nvPr/>
        </p:nvSpPr>
        <p:spPr>
          <a:xfrm>
            <a:off x="4136440" y="5406122"/>
            <a:ext cx="612676" cy="612676"/>
          </a:xfrm>
          <a:custGeom>
            <a:avLst/>
            <a:gdLst/>
            <a:ahLst/>
            <a:cxnLst/>
            <a:rect l="l" t="t" r="r" b="b"/>
            <a:pathLst>
              <a:path w="612676" h="612676">
                <a:moveTo>
                  <a:pt x="0" y="0"/>
                </a:moveTo>
                <a:lnTo>
                  <a:pt x="612677" y="0"/>
                </a:lnTo>
                <a:lnTo>
                  <a:pt x="612677" y="612677"/>
                </a:lnTo>
                <a:lnTo>
                  <a:pt x="0" y="612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6" name="Freeform 66"/>
          <p:cNvSpPr/>
          <p:nvPr/>
        </p:nvSpPr>
        <p:spPr>
          <a:xfrm>
            <a:off x="8684906" y="5406122"/>
            <a:ext cx="612676" cy="612676"/>
          </a:xfrm>
          <a:custGeom>
            <a:avLst/>
            <a:gdLst/>
            <a:ahLst/>
            <a:cxnLst/>
            <a:rect l="l" t="t" r="r" b="b"/>
            <a:pathLst>
              <a:path w="612676" h="612676">
                <a:moveTo>
                  <a:pt x="0" y="0"/>
                </a:moveTo>
                <a:lnTo>
                  <a:pt x="612676" y="0"/>
                </a:lnTo>
                <a:lnTo>
                  <a:pt x="612676" y="612677"/>
                </a:lnTo>
                <a:lnTo>
                  <a:pt x="0" y="612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7" name="Freeform 67"/>
          <p:cNvSpPr/>
          <p:nvPr/>
        </p:nvSpPr>
        <p:spPr>
          <a:xfrm rot="5400000">
            <a:off x="10862499" y="6944260"/>
            <a:ext cx="612676" cy="612676"/>
          </a:xfrm>
          <a:custGeom>
            <a:avLst/>
            <a:gdLst/>
            <a:ahLst/>
            <a:cxnLst/>
            <a:rect l="l" t="t" r="r" b="b"/>
            <a:pathLst>
              <a:path w="612676" h="612676">
                <a:moveTo>
                  <a:pt x="0" y="0"/>
                </a:moveTo>
                <a:lnTo>
                  <a:pt x="612677" y="0"/>
                </a:lnTo>
                <a:lnTo>
                  <a:pt x="612677" y="612676"/>
                </a:lnTo>
                <a:lnTo>
                  <a:pt x="0" y="6126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8" name="Freeform 68"/>
          <p:cNvSpPr/>
          <p:nvPr/>
        </p:nvSpPr>
        <p:spPr>
          <a:xfrm>
            <a:off x="13236548" y="8450732"/>
            <a:ext cx="612676" cy="612676"/>
          </a:xfrm>
          <a:custGeom>
            <a:avLst/>
            <a:gdLst/>
            <a:ahLst/>
            <a:cxnLst/>
            <a:rect l="l" t="t" r="r" b="b"/>
            <a:pathLst>
              <a:path w="612676" h="612676">
                <a:moveTo>
                  <a:pt x="0" y="0"/>
                </a:moveTo>
                <a:lnTo>
                  <a:pt x="612676" y="0"/>
                </a:lnTo>
                <a:lnTo>
                  <a:pt x="612676" y="612676"/>
                </a:lnTo>
                <a:lnTo>
                  <a:pt x="0" y="6126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0" name="Freeform 70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1" name="슬라이드 번호 개체 틀 70">
            <a:extLst>
              <a:ext uri="{FF2B5EF4-FFF2-40B4-BE49-F238E27FC236}">
                <a16:creationId xmlns:a16="http://schemas.microsoft.com/office/drawing/2014/main" id="{29C7060D-2BFB-A2AA-ABF7-59785642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0" y="971550"/>
            <a:ext cx="3181350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624747" y="2613156"/>
            <a:ext cx="8066708" cy="4644831"/>
            <a:chOff x="0" y="0"/>
            <a:chExt cx="2124565" cy="1223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4565" cy="1223330"/>
            </a:xfrm>
            <a:custGeom>
              <a:avLst/>
              <a:gdLst/>
              <a:ahLst/>
              <a:cxnLst/>
              <a:rect l="l" t="t" r="r" b="b"/>
              <a:pathLst>
                <a:path w="2124565" h="1223330">
                  <a:moveTo>
                    <a:pt x="19195" y="0"/>
                  </a:moveTo>
                  <a:lnTo>
                    <a:pt x="2105370" y="0"/>
                  </a:lnTo>
                  <a:cubicBezTo>
                    <a:pt x="2110461" y="0"/>
                    <a:pt x="2115343" y="2022"/>
                    <a:pt x="2118943" y="5622"/>
                  </a:cubicBezTo>
                  <a:cubicBezTo>
                    <a:pt x="2122543" y="9222"/>
                    <a:pt x="2124565" y="14104"/>
                    <a:pt x="2124565" y="19195"/>
                  </a:cubicBezTo>
                  <a:lnTo>
                    <a:pt x="2124565" y="1204135"/>
                  </a:lnTo>
                  <a:cubicBezTo>
                    <a:pt x="2124565" y="1214736"/>
                    <a:pt x="2115971" y="1223330"/>
                    <a:pt x="2105370" y="1223330"/>
                  </a:cubicBezTo>
                  <a:lnTo>
                    <a:pt x="19195" y="1223330"/>
                  </a:lnTo>
                  <a:cubicBezTo>
                    <a:pt x="14104" y="1223330"/>
                    <a:pt x="9222" y="1221308"/>
                    <a:pt x="5622" y="1217708"/>
                  </a:cubicBezTo>
                  <a:cubicBezTo>
                    <a:pt x="2022" y="1214108"/>
                    <a:pt x="0" y="1209226"/>
                    <a:pt x="0" y="1204135"/>
                  </a:cubicBezTo>
                  <a:lnTo>
                    <a:pt x="0" y="19195"/>
                  </a:lnTo>
                  <a:cubicBezTo>
                    <a:pt x="0" y="8594"/>
                    <a:pt x="8594" y="0"/>
                    <a:pt x="1919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2124565" cy="119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632" y="483162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912632" y="564125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912632" y="645087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596545" y="2613156"/>
            <a:ext cx="8066708" cy="4644831"/>
            <a:chOff x="0" y="0"/>
            <a:chExt cx="2124565" cy="12233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24565" cy="1223330"/>
            </a:xfrm>
            <a:custGeom>
              <a:avLst/>
              <a:gdLst/>
              <a:ahLst/>
              <a:cxnLst/>
              <a:rect l="l" t="t" r="r" b="b"/>
              <a:pathLst>
                <a:path w="2124565" h="1223330">
                  <a:moveTo>
                    <a:pt x="19195" y="0"/>
                  </a:moveTo>
                  <a:lnTo>
                    <a:pt x="2105370" y="0"/>
                  </a:lnTo>
                  <a:cubicBezTo>
                    <a:pt x="2110461" y="0"/>
                    <a:pt x="2115343" y="2022"/>
                    <a:pt x="2118943" y="5622"/>
                  </a:cubicBezTo>
                  <a:cubicBezTo>
                    <a:pt x="2122543" y="9222"/>
                    <a:pt x="2124565" y="14104"/>
                    <a:pt x="2124565" y="19195"/>
                  </a:cubicBezTo>
                  <a:lnTo>
                    <a:pt x="2124565" y="1204135"/>
                  </a:lnTo>
                  <a:cubicBezTo>
                    <a:pt x="2124565" y="1214736"/>
                    <a:pt x="2115971" y="1223330"/>
                    <a:pt x="2105370" y="1223330"/>
                  </a:cubicBezTo>
                  <a:lnTo>
                    <a:pt x="19195" y="1223330"/>
                  </a:lnTo>
                  <a:cubicBezTo>
                    <a:pt x="14104" y="1223330"/>
                    <a:pt x="9222" y="1221308"/>
                    <a:pt x="5622" y="1217708"/>
                  </a:cubicBezTo>
                  <a:cubicBezTo>
                    <a:pt x="2022" y="1214108"/>
                    <a:pt x="0" y="1209226"/>
                    <a:pt x="0" y="1204135"/>
                  </a:cubicBezTo>
                  <a:lnTo>
                    <a:pt x="0" y="19195"/>
                  </a:lnTo>
                  <a:cubicBezTo>
                    <a:pt x="0" y="8594"/>
                    <a:pt x="8594" y="0"/>
                    <a:pt x="1919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2124565" cy="119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946731" y="4655413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9946731" y="564125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31728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3.5 결과 해석 및 시사점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문제정의 및 해결방안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인사이트·차별성·독창성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8345" y="3017161"/>
            <a:ext cx="6577163" cy="30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2352" b="1" spc="-47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인사이트 및 시사점</a:t>
            </a:r>
          </a:p>
        </p:txBody>
      </p:sp>
      <p:sp>
        <p:nvSpPr>
          <p:cNvPr id="19" name="Freeform 19"/>
          <p:cNvSpPr/>
          <p:nvPr/>
        </p:nvSpPr>
        <p:spPr>
          <a:xfrm>
            <a:off x="884057" y="381721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545774" y="3741013"/>
            <a:ext cx="6071479" cy="700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1947" spc="-3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점수와 날씨 기반 시각화 분석 보고서를 통해 </a:t>
            </a:r>
          </a:p>
          <a:p>
            <a:pPr marL="0" lvl="0" indent="0" algn="l">
              <a:lnSpc>
                <a:spcPts val="2824"/>
              </a:lnSpc>
            </a:pPr>
            <a:r>
              <a:rPr lang="en-US" sz="1947" spc="-3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위험 수준을 직관적으로 이해 가능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45774" y="4817338"/>
            <a:ext cx="6479938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spc="-3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체크리스트를 통해 분석 결과를 실무 대응으로 자연스럽게 연결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45774" y="5633692"/>
            <a:ext cx="6479938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spc="-3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기업이 처할 수 있는 4가지 상황별 맞춤 리스크 관리 지원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5774" y="6440522"/>
            <a:ext cx="6479938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spc="-3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기반 공정거래 컴플라이언스 의사결정 지원 가능성 확인 및 검증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46731" y="3017161"/>
            <a:ext cx="6577163" cy="32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4"/>
              </a:lnSpc>
            </a:pPr>
            <a:r>
              <a:rPr lang="en-US" sz="2452" b="1" spc="-4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차별성 및 독창성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94160" y="4556918"/>
            <a:ext cx="6071479" cy="700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1947" spc="-3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Hybrid RAG + MCP + LLM 멀티에이전트 구조 기반, </a:t>
            </a:r>
          </a:p>
          <a:p>
            <a:pPr marL="0" lvl="0" indent="0" algn="l">
              <a:lnSpc>
                <a:spcPts val="2824"/>
              </a:lnSpc>
            </a:pPr>
            <a:r>
              <a:rPr lang="en-US" sz="1947" spc="-3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다양한 법률 데이터 통합 활용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94160" y="5633692"/>
            <a:ext cx="6479938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spc="-3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정량적 점수, 날씨 시각화, 체크리스트 형태 보고서로 실용성 강화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36599" y="3682066"/>
            <a:ext cx="7005063" cy="474114"/>
            <a:chOff x="0" y="0"/>
            <a:chExt cx="1844955" cy="1248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44955" cy="124869"/>
            </a:xfrm>
            <a:custGeom>
              <a:avLst/>
              <a:gdLst/>
              <a:ahLst/>
              <a:cxnLst/>
              <a:rect l="l" t="t" r="r" b="b"/>
              <a:pathLst>
                <a:path w="1844955" h="124869">
                  <a:moveTo>
                    <a:pt x="22104" y="0"/>
                  </a:moveTo>
                  <a:lnTo>
                    <a:pt x="1822851" y="0"/>
                  </a:lnTo>
                  <a:cubicBezTo>
                    <a:pt x="1828714" y="0"/>
                    <a:pt x="1834336" y="2329"/>
                    <a:pt x="1838481" y="6474"/>
                  </a:cubicBezTo>
                  <a:cubicBezTo>
                    <a:pt x="1842626" y="10619"/>
                    <a:pt x="1844955" y="16241"/>
                    <a:pt x="1844955" y="22104"/>
                  </a:cubicBezTo>
                  <a:lnTo>
                    <a:pt x="1844955" y="102766"/>
                  </a:lnTo>
                  <a:cubicBezTo>
                    <a:pt x="1844955" y="108628"/>
                    <a:pt x="1842626" y="114250"/>
                    <a:pt x="1838481" y="118395"/>
                  </a:cubicBezTo>
                  <a:cubicBezTo>
                    <a:pt x="1834336" y="122541"/>
                    <a:pt x="1828714" y="124869"/>
                    <a:pt x="1822851" y="124869"/>
                  </a:cubicBezTo>
                  <a:lnTo>
                    <a:pt x="22104" y="124869"/>
                  </a:lnTo>
                  <a:cubicBezTo>
                    <a:pt x="16241" y="124869"/>
                    <a:pt x="10619" y="122541"/>
                    <a:pt x="6474" y="118395"/>
                  </a:cubicBezTo>
                  <a:cubicBezTo>
                    <a:pt x="2329" y="114250"/>
                    <a:pt x="0" y="108628"/>
                    <a:pt x="0" y="102766"/>
                  </a:cubicBezTo>
                  <a:lnTo>
                    <a:pt x="0" y="22104"/>
                  </a:lnTo>
                  <a:cubicBezTo>
                    <a:pt x="0" y="16241"/>
                    <a:pt x="2329" y="10619"/>
                    <a:pt x="6474" y="6474"/>
                  </a:cubicBezTo>
                  <a:cubicBezTo>
                    <a:pt x="10619" y="2329"/>
                    <a:pt x="16241" y="0"/>
                    <a:pt x="22104" y="0"/>
                  </a:cubicBezTo>
                  <a:close/>
                </a:path>
              </a:pathLst>
            </a:custGeom>
            <a:solidFill>
              <a:srgbClr val="A3BFDB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1844955" cy="115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380187" y="3716681"/>
            <a:ext cx="6143707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                   상황 기반 리스크 진단 구조</a:t>
            </a:r>
            <a:r>
              <a:rPr lang="en-US" sz="1947" spc="-3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로 실무 활용성 확보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BF3F32E0-65B6-39FD-4E74-05FBDCEA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4272" y="952500"/>
            <a:ext cx="265402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934966" y="3804645"/>
            <a:ext cx="6639635" cy="2211561"/>
            <a:chOff x="0" y="0"/>
            <a:chExt cx="1748711" cy="5824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8711" cy="582469"/>
            </a:xfrm>
            <a:custGeom>
              <a:avLst/>
              <a:gdLst/>
              <a:ahLst/>
              <a:cxnLst/>
              <a:rect l="l" t="t" r="r" b="b"/>
              <a:pathLst>
                <a:path w="1748711" h="582469">
                  <a:moveTo>
                    <a:pt x="23320" y="0"/>
                  </a:moveTo>
                  <a:lnTo>
                    <a:pt x="1725390" y="0"/>
                  </a:lnTo>
                  <a:cubicBezTo>
                    <a:pt x="1738270" y="0"/>
                    <a:pt x="1748711" y="10441"/>
                    <a:pt x="1748711" y="23320"/>
                  </a:cubicBezTo>
                  <a:lnTo>
                    <a:pt x="1748711" y="559148"/>
                  </a:lnTo>
                  <a:cubicBezTo>
                    <a:pt x="1748711" y="565333"/>
                    <a:pt x="1746253" y="571265"/>
                    <a:pt x="1741880" y="575638"/>
                  </a:cubicBezTo>
                  <a:cubicBezTo>
                    <a:pt x="1737507" y="580012"/>
                    <a:pt x="1731575" y="582469"/>
                    <a:pt x="1725390" y="582469"/>
                  </a:cubicBezTo>
                  <a:lnTo>
                    <a:pt x="23320" y="582469"/>
                  </a:lnTo>
                  <a:cubicBezTo>
                    <a:pt x="17135" y="582469"/>
                    <a:pt x="11204" y="580012"/>
                    <a:pt x="6830" y="575638"/>
                  </a:cubicBezTo>
                  <a:cubicBezTo>
                    <a:pt x="2457" y="571265"/>
                    <a:pt x="0" y="565333"/>
                    <a:pt x="0" y="559148"/>
                  </a:cubicBezTo>
                  <a:lnTo>
                    <a:pt x="0" y="23320"/>
                  </a:lnTo>
                  <a:cubicBezTo>
                    <a:pt x="0" y="17135"/>
                    <a:pt x="2457" y="11204"/>
                    <a:pt x="6830" y="6830"/>
                  </a:cubicBezTo>
                  <a:cubicBezTo>
                    <a:pt x="11204" y="2457"/>
                    <a:pt x="17135" y="0"/>
                    <a:pt x="233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748711" cy="553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152786" y="402540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9713398" y="3804645"/>
            <a:ext cx="6639635" cy="2211561"/>
            <a:chOff x="0" y="0"/>
            <a:chExt cx="1748711" cy="582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48711" cy="582469"/>
            </a:xfrm>
            <a:custGeom>
              <a:avLst/>
              <a:gdLst/>
              <a:ahLst/>
              <a:cxnLst/>
              <a:rect l="l" t="t" r="r" b="b"/>
              <a:pathLst>
                <a:path w="1748711" h="582469">
                  <a:moveTo>
                    <a:pt x="23320" y="0"/>
                  </a:moveTo>
                  <a:lnTo>
                    <a:pt x="1725390" y="0"/>
                  </a:lnTo>
                  <a:cubicBezTo>
                    <a:pt x="1738270" y="0"/>
                    <a:pt x="1748711" y="10441"/>
                    <a:pt x="1748711" y="23320"/>
                  </a:cubicBezTo>
                  <a:lnTo>
                    <a:pt x="1748711" y="559148"/>
                  </a:lnTo>
                  <a:cubicBezTo>
                    <a:pt x="1748711" y="565333"/>
                    <a:pt x="1746253" y="571265"/>
                    <a:pt x="1741880" y="575638"/>
                  </a:cubicBezTo>
                  <a:cubicBezTo>
                    <a:pt x="1737507" y="580012"/>
                    <a:pt x="1731575" y="582469"/>
                    <a:pt x="1725390" y="582469"/>
                  </a:cubicBezTo>
                  <a:lnTo>
                    <a:pt x="23320" y="582469"/>
                  </a:lnTo>
                  <a:cubicBezTo>
                    <a:pt x="17135" y="582469"/>
                    <a:pt x="11204" y="580012"/>
                    <a:pt x="6830" y="575638"/>
                  </a:cubicBezTo>
                  <a:cubicBezTo>
                    <a:pt x="2457" y="571265"/>
                    <a:pt x="0" y="565333"/>
                    <a:pt x="0" y="559148"/>
                  </a:cubicBezTo>
                  <a:lnTo>
                    <a:pt x="0" y="23320"/>
                  </a:lnTo>
                  <a:cubicBezTo>
                    <a:pt x="0" y="17135"/>
                    <a:pt x="2457" y="11204"/>
                    <a:pt x="6830" y="6830"/>
                  </a:cubicBezTo>
                  <a:cubicBezTo>
                    <a:pt x="11204" y="2457"/>
                    <a:pt x="17135" y="0"/>
                    <a:pt x="233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748711" cy="553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914915" y="40063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934966" y="6442642"/>
            <a:ext cx="6639635" cy="2211561"/>
            <a:chOff x="0" y="0"/>
            <a:chExt cx="1748711" cy="5824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48711" cy="582469"/>
            </a:xfrm>
            <a:custGeom>
              <a:avLst/>
              <a:gdLst/>
              <a:ahLst/>
              <a:cxnLst/>
              <a:rect l="l" t="t" r="r" b="b"/>
              <a:pathLst>
                <a:path w="1748711" h="582469">
                  <a:moveTo>
                    <a:pt x="23320" y="0"/>
                  </a:moveTo>
                  <a:lnTo>
                    <a:pt x="1725390" y="0"/>
                  </a:lnTo>
                  <a:cubicBezTo>
                    <a:pt x="1738270" y="0"/>
                    <a:pt x="1748711" y="10441"/>
                    <a:pt x="1748711" y="23320"/>
                  </a:cubicBezTo>
                  <a:lnTo>
                    <a:pt x="1748711" y="559148"/>
                  </a:lnTo>
                  <a:cubicBezTo>
                    <a:pt x="1748711" y="565333"/>
                    <a:pt x="1746253" y="571265"/>
                    <a:pt x="1741880" y="575638"/>
                  </a:cubicBezTo>
                  <a:cubicBezTo>
                    <a:pt x="1737507" y="580012"/>
                    <a:pt x="1731575" y="582469"/>
                    <a:pt x="1725390" y="582469"/>
                  </a:cubicBezTo>
                  <a:lnTo>
                    <a:pt x="23320" y="582469"/>
                  </a:lnTo>
                  <a:cubicBezTo>
                    <a:pt x="17135" y="582469"/>
                    <a:pt x="11204" y="580012"/>
                    <a:pt x="6830" y="575638"/>
                  </a:cubicBezTo>
                  <a:cubicBezTo>
                    <a:pt x="2457" y="571265"/>
                    <a:pt x="0" y="565333"/>
                    <a:pt x="0" y="559148"/>
                  </a:cubicBezTo>
                  <a:lnTo>
                    <a:pt x="0" y="23320"/>
                  </a:lnTo>
                  <a:cubicBezTo>
                    <a:pt x="0" y="17135"/>
                    <a:pt x="2457" y="11204"/>
                    <a:pt x="6830" y="6830"/>
                  </a:cubicBezTo>
                  <a:cubicBezTo>
                    <a:pt x="11204" y="2457"/>
                    <a:pt x="17135" y="0"/>
                    <a:pt x="233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748711" cy="553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152786" y="6802491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6" name="Group 16"/>
          <p:cNvGrpSpPr/>
          <p:nvPr/>
        </p:nvGrpSpPr>
        <p:grpSpPr>
          <a:xfrm>
            <a:off x="9713398" y="6442642"/>
            <a:ext cx="6639635" cy="2211561"/>
            <a:chOff x="0" y="0"/>
            <a:chExt cx="1748711" cy="5824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48711" cy="582469"/>
            </a:xfrm>
            <a:custGeom>
              <a:avLst/>
              <a:gdLst/>
              <a:ahLst/>
              <a:cxnLst/>
              <a:rect l="l" t="t" r="r" b="b"/>
              <a:pathLst>
                <a:path w="1748711" h="582469">
                  <a:moveTo>
                    <a:pt x="23320" y="0"/>
                  </a:moveTo>
                  <a:lnTo>
                    <a:pt x="1725390" y="0"/>
                  </a:lnTo>
                  <a:cubicBezTo>
                    <a:pt x="1738270" y="0"/>
                    <a:pt x="1748711" y="10441"/>
                    <a:pt x="1748711" y="23320"/>
                  </a:cubicBezTo>
                  <a:lnTo>
                    <a:pt x="1748711" y="559148"/>
                  </a:lnTo>
                  <a:cubicBezTo>
                    <a:pt x="1748711" y="565333"/>
                    <a:pt x="1746253" y="571265"/>
                    <a:pt x="1741880" y="575638"/>
                  </a:cubicBezTo>
                  <a:cubicBezTo>
                    <a:pt x="1737507" y="580012"/>
                    <a:pt x="1731575" y="582469"/>
                    <a:pt x="1725390" y="582469"/>
                  </a:cubicBezTo>
                  <a:lnTo>
                    <a:pt x="23320" y="582469"/>
                  </a:lnTo>
                  <a:cubicBezTo>
                    <a:pt x="17135" y="582469"/>
                    <a:pt x="11204" y="580012"/>
                    <a:pt x="6830" y="575638"/>
                  </a:cubicBezTo>
                  <a:cubicBezTo>
                    <a:pt x="2457" y="571265"/>
                    <a:pt x="0" y="565333"/>
                    <a:pt x="0" y="559148"/>
                  </a:cubicBezTo>
                  <a:lnTo>
                    <a:pt x="0" y="23320"/>
                  </a:lnTo>
                  <a:cubicBezTo>
                    <a:pt x="0" y="17135"/>
                    <a:pt x="2457" y="11204"/>
                    <a:pt x="6830" y="6830"/>
                  </a:cubicBezTo>
                  <a:cubicBezTo>
                    <a:pt x="11204" y="2457"/>
                    <a:pt x="17135" y="0"/>
                    <a:pt x="233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1748711" cy="553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9914915" y="6783441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3878566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4.1 기본 방향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데이터 활용 결과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활용 계획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6242" y="2566221"/>
            <a:ext cx="9451301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00" spc="-82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공정거래위원회 의결서 · 보도자료 기반 상황형 QA 데이터셋 구축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20914" y="4991084"/>
            <a:ext cx="4661668" cy="68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제재중심·법령중심·유사사례·시장영향</a:t>
            </a: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4가지 질문 유형</a:t>
            </a:r>
          </a:p>
          <a:p>
            <a:pPr marL="0" lvl="0" indent="0" algn="l">
              <a:lnSpc>
                <a:spcPts val="2796"/>
              </a:lnSpc>
            </a:pP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하나의 의결서를 다각도로 검토하도록 설계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20914" y="7817539"/>
            <a:ext cx="5388626" cy="29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계약 체결 전·거래 진행 중·위반 의심·정기 점검 4가지 상황 구분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20914" y="4556932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질문 다양성 확보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20914" y="7355507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상황유형별 데이터 재구성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10165" y="4967464"/>
            <a:ext cx="5392399" cy="68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사실관계·위법성 판단·적용 법령·제재 내용 기반 데이터 생성</a:t>
            </a:r>
          </a:p>
          <a:p>
            <a:pPr marL="0" lvl="0" indent="0" algn="l">
              <a:lnSpc>
                <a:spcPts val="279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실무 맥락에 맞는 질문 유형·응답 방향 설계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10165" y="4547407"/>
            <a:ext cx="359862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근거 기반 사용자 시나리오 생성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10165" y="7769914"/>
            <a:ext cx="4926622" cy="68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 원문 대조 수작업 검증으로 오류 보완</a:t>
            </a:r>
          </a:p>
          <a:p>
            <a:pPr marL="0" lvl="0" indent="0" algn="l">
              <a:lnSpc>
                <a:spcPts val="2796"/>
              </a:lnSpc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MCP 기반 최신 법령·판례 연동은 추가 보완 방안으로 제시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10165" y="7345982"/>
            <a:ext cx="46646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왜곡 및 Hallucination 방지 구조</a:t>
            </a:r>
          </a:p>
        </p:txBody>
      </p:sp>
      <p:sp>
        <p:nvSpPr>
          <p:cNvPr id="33" name="Freeform 33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384C2773-9DDC-DF50-8C06-946C1E6AB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88163" y="5931883"/>
            <a:ext cx="4958128" cy="2388740"/>
            <a:chOff x="0" y="0"/>
            <a:chExt cx="1305844" cy="629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5844" cy="629133"/>
            </a:xfrm>
            <a:custGeom>
              <a:avLst/>
              <a:gdLst/>
              <a:ahLst/>
              <a:cxnLst/>
              <a:rect l="l" t="t" r="r" b="b"/>
              <a:pathLst>
                <a:path w="1305844" h="629133">
                  <a:moveTo>
                    <a:pt x="31229" y="0"/>
                  </a:moveTo>
                  <a:lnTo>
                    <a:pt x="1274615" y="0"/>
                  </a:lnTo>
                  <a:cubicBezTo>
                    <a:pt x="1282898" y="0"/>
                    <a:pt x="1290841" y="3290"/>
                    <a:pt x="1296697" y="9147"/>
                  </a:cubicBezTo>
                  <a:cubicBezTo>
                    <a:pt x="1302554" y="15003"/>
                    <a:pt x="1305844" y="22947"/>
                    <a:pt x="1305844" y="31229"/>
                  </a:cubicBezTo>
                  <a:lnTo>
                    <a:pt x="1305844" y="597904"/>
                  </a:lnTo>
                  <a:cubicBezTo>
                    <a:pt x="1305844" y="606186"/>
                    <a:pt x="1302554" y="614130"/>
                    <a:pt x="1296697" y="619986"/>
                  </a:cubicBezTo>
                  <a:cubicBezTo>
                    <a:pt x="1290841" y="625843"/>
                    <a:pt x="1282898" y="629133"/>
                    <a:pt x="1274615" y="629133"/>
                  </a:cubicBezTo>
                  <a:lnTo>
                    <a:pt x="31229" y="629133"/>
                  </a:lnTo>
                  <a:cubicBezTo>
                    <a:pt x="22947" y="629133"/>
                    <a:pt x="15003" y="625843"/>
                    <a:pt x="9147" y="619986"/>
                  </a:cubicBezTo>
                  <a:cubicBezTo>
                    <a:pt x="3290" y="614130"/>
                    <a:pt x="0" y="606186"/>
                    <a:pt x="0" y="597904"/>
                  </a:cubicBezTo>
                  <a:lnTo>
                    <a:pt x="0" y="31229"/>
                  </a:lnTo>
                  <a:cubicBezTo>
                    <a:pt x="0" y="22947"/>
                    <a:pt x="3290" y="15003"/>
                    <a:pt x="9147" y="9147"/>
                  </a:cubicBezTo>
                  <a:cubicBezTo>
                    <a:pt x="15003" y="3290"/>
                    <a:pt x="22947" y="0"/>
                    <a:pt x="3122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305844" cy="600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724058" y="6131678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3167436"/>
            <a:ext cx="4858834" cy="2241817"/>
            <a:chOff x="0" y="0"/>
            <a:chExt cx="1279693" cy="5904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9693" cy="590437"/>
            </a:xfrm>
            <a:custGeom>
              <a:avLst/>
              <a:gdLst/>
              <a:ahLst/>
              <a:cxnLst/>
              <a:rect l="l" t="t" r="r" b="b"/>
              <a:pathLst>
                <a:path w="1279693" h="590437">
                  <a:moveTo>
                    <a:pt x="31867" y="0"/>
                  </a:moveTo>
                  <a:lnTo>
                    <a:pt x="1247825" y="0"/>
                  </a:lnTo>
                  <a:cubicBezTo>
                    <a:pt x="1265425" y="0"/>
                    <a:pt x="1279693" y="14268"/>
                    <a:pt x="1279693" y="31867"/>
                  </a:cubicBezTo>
                  <a:lnTo>
                    <a:pt x="1279693" y="558570"/>
                  </a:lnTo>
                  <a:cubicBezTo>
                    <a:pt x="1279693" y="567022"/>
                    <a:pt x="1276335" y="575127"/>
                    <a:pt x="1270359" y="581104"/>
                  </a:cubicBezTo>
                  <a:cubicBezTo>
                    <a:pt x="1264383" y="587080"/>
                    <a:pt x="1256277" y="590437"/>
                    <a:pt x="1247825" y="590437"/>
                  </a:cubicBezTo>
                  <a:lnTo>
                    <a:pt x="31867" y="590437"/>
                  </a:lnTo>
                  <a:cubicBezTo>
                    <a:pt x="14268" y="590437"/>
                    <a:pt x="0" y="576170"/>
                    <a:pt x="0" y="558570"/>
                  </a:cubicBezTo>
                  <a:lnTo>
                    <a:pt x="0" y="31867"/>
                  </a:lnTo>
                  <a:cubicBezTo>
                    <a:pt x="0" y="23416"/>
                    <a:pt x="3357" y="15310"/>
                    <a:pt x="9334" y="9334"/>
                  </a:cubicBezTo>
                  <a:cubicBezTo>
                    <a:pt x="15310" y="3357"/>
                    <a:pt x="23416" y="0"/>
                    <a:pt x="3186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279693" cy="561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8510" y="3167436"/>
            <a:ext cx="4858834" cy="2241817"/>
            <a:chOff x="0" y="0"/>
            <a:chExt cx="1279693" cy="5904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9693" cy="590437"/>
            </a:xfrm>
            <a:custGeom>
              <a:avLst/>
              <a:gdLst/>
              <a:ahLst/>
              <a:cxnLst/>
              <a:rect l="l" t="t" r="r" b="b"/>
              <a:pathLst>
                <a:path w="1279693" h="590437">
                  <a:moveTo>
                    <a:pt x="31867" y="0"/>
                  </a:moveTo>
                  <a:lnTo>
                    <a:pt x="1247825" y="0"/>
                  </a:lnTo>
                  <a:cubicBezTo>
                    <a:pt x="1265425" y="0"/>
                    <a:pt x="1279693" y="14268"/>
                    <a:pt x="1279693" y="31867"/>
                  </a:cubicBezTo>
                  <a:lnTo>
                    <a:pt x="1279693" y="558570"/>
                  </a:lnTo>
                  <a:cubicBezTo>
                    <a:pt x="1279693" y="567022"/>
                    <a:pt x="1276335" y="575127"/>
                    <a:pt x="1270359" y="581104"/>
                  </a:cubicBezTo>
                  <a:cubicBezTo>
                    <a:pt x="1264383" y="587080"/>
                    <a:pt x="1256277" y="590437"/>
                    <a:pt x="1247825" y="590437"/>
                  </a:cubicBezTo>
                  <a:lnTo>
                    <a:pt x="31867" y="590437"/>
                  </a:lnTo>
                  <a:cubicBezTo>
                    <a:pt x="14268" y="590437"/>
                    <a:pt x="0" y="576170"/>
                    <a:pt x="0" y="558570"/>
                  </a:cubicBezTo>
                  <a:lnTo>
                    <a:pt x="0" y="31867"/>
                  </a:lnTo>
                  <a:cubicBezTo>
                    <a:pt x="0" y="23416"/>
                    <a:pt x="3357" y="15310"/>
                    <a:pt x="9334" y="9334"/>
                  </a:cubicBezTo>
                  <a:cubicBezTo>
                    <a:pt x="15310" y="3357"/>
                    <a:pt x="23416" y="0"/>
                    <a:pt x="3186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279693" cy="561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046636" y="337752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2484119" y="3168183"/>
            <a:ext cx="4858834" cy="2241070"/>
            <a:chOff x="0" y="0"/>
            <a:chExt cx="1279693" cy="5902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79693" cy="590241"/>
            </a:xfrm>
            <a:custGeom>
              <a:avLst/>
              <a:gdLst/>
              <a:ahLst/>
              <a:cxnLst/>
              <a:rect l="l" t="t" r="r" b="b"/>
              <a:pathLst>
                <a:path w="1279693" h="590241">
                  <a:moveTo>
                    <a:pt x="31867" y="0"/>
                  </a:moveTo>
                  <a:lnTo>
                    <a:pt x="1247825" y="0"/>
                  </a:lnTo>
                  <a:cubicBezTo>
                    <a:pt x="1265425" y="0"/>
                    <a:pt x="1279693" y="14268"/>
                    <a:pt x="1279693" y="31867"/>
                  </a:cubicBezTo>
                  <a:lnTo>
                    <a:pt x="1279693" y="558373"/>
                  </a:lnTo>
                  <a:cubicBezTo>
                    <a:pt x="1279693" y="575973"/>
                    <a:pt x="1265425" y="590241"/>
                    <a:pt x="1247825" y="590241"/>
                  </a:cubicBezTo>
                  <a:lnTo>
                    <a:pt x="31867" y="590241"/>
                  </a:lnTo>
                  <a:cubicBezTo>
                    <a:pt x="23416" y="590241"/>
                    <a:pt x="15310" y="586883"/>
                    <a:pt x="9334" y="580907"/>
                  </a:cubicBezTo>
                  <a:cubicBezTo>
                    <a:pt x="3357" y="574931"/>
                    <a:pt x="0" y="566825"/>
                    <a:pt x="0" y="558373"/>
                  </a:cubicBezTo>
                  <a:lnTo>
                    <a:pt x="0" y="31867"/>
                  </a:lnTo>
                  <a:cubicBezTo>
                    <a:pt x="0" y="23416"/>
                    <a:pt x="3357" y="15310"/>
                    <a:pt x="9334" y="9334"/>
                  </a:cubicBezTo>
                  <a:cubicBezTo>
                    <a:pt x="15310" y="3357"/>
                    <a:pt x="23416" y="0"/>
                    <a:pt x="3186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8575"/>
              <a:ext cx="1279693" cy="561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744545" y="336200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028700" y="5942084"/>
            <a:ext cx="4958128" cy="2378538"/>
            <a:chOff x="0" y="0"/>
            <a:chExt cx="1305844" cy="6264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05844" cy="626446"/>
            </a:xfrm>
            <a:custGeom>
              <a:avLst/>
              <a:gdLst/>
              <a:ahLst/>
              <a:cxnLst/>
              <a:rect l="l" t="t" r="r" b="b"/>
              <a:pathLst>
                <a:path w="1305844" h="626446">
                  <a:moveTo>
                    <a:pt x="31229" y="0"/>
                  </a:moveTo>
                  <a:lnTo>
                    <a:pt x="1274615" y="0"/>
                  </a:lnTo>
                  <a:cubicBezTo>
                    <a:pt x="1282898" y="0"/>
                    <a:pt x="1290841" y="3290"/>
                    <a:pt x="1296697" y="9147"/>
                  </a:cubicBezTo>
                  <a:cubicBezTo>
                    <a:pt x="1302554" y="15003"/>
                    <a:pt x="1305844" y="22947"/>
                    <a:pt x="1305844" y="31229"/>
                  </a:cubicBezTo>
                  <a:lnTo>
                    <a:pt x="1305844" y="595217"/>
                  </a:lnTo>
                  <a:cubicBezTo>
                    <a:pt x="1305844" y="603500"/>
                    <a:pt x="1302554" y="611443"/>
                    <a:pt x="1296697" y="617299"/>
                  </a:cubicBezTo>
                  <a:cubicBezTo>
                    <a:pt x="1290841" y="623156"/>
                    <a:pt x="1282898" y="626446"/>
                    <a:pt x="1274615" y="626446"/>
                  </a:cubicBezTo>
                  <a:lnTo>
                    <a:pt x="31229" y="626446"/>
                  </a:lnTo>
                  <a:cubicBezTo>
                    <a:pt x="22947" y="626446"/>
                    <a:pt x="15003" y="623156"/>
                    <a:pt x="9147" y="617299"/>
                  </a:cubicBezTo>
                  <a:cubicBezTo>
                    <a:pt x="3290" y="611443"/>
                    <a:pt x="0" y="603500"/>
                    <a:pt x="0" y="595217"/>
                  </a:cubicBezTo>
                  <a:lnTo>
                    <a:pt x="0" y="31229"/>
                  </a:lnTo>
                  <a:cubicBezTo>
                    <a:pt x="0" y="22947"/>
                    <a:pt x="3290" y="15003"/>
                    <a:pt x="9147" y="9147"/>
                  </a:cubicBezTo>
                  <a:cubicBezTo>
                    <a:pt x="15003" y="3290"/>
                    <a:pt x="22947" y="0"/>
                    <a:pt x="3122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305844" cy="597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96717" y="6162245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1" name="Group 21"/>
          <p:cNvGrpSpPr/>
          <p:nvPr/>
        </p:nvGrpSpPr>
        <p:grpSpPr>
          <a:xfrm>
            <a:off x="6708863" y="5942653"/>
            <a:ext cx="4958128" cy="2377970"/>
            <a:chOff x="0" y="0"/>
            <a:chExt cx="1305844" cy="6262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05844" cy="626297"/>
            </a:xfrm>
            <a:custGeom>
              <a:avLst/>
              <a:gdLst/>
              <a:ahLst/>
              <a:cxnLst/>
              <a:rect l="l" t="t" r="r" b="b"/>
              <a:pathLst>
                <a:path w="1305844" h="626297">
                  <a:moveTo>
                    <a:pt x="31229" y="0"/>
                  </a:moveTo>
                  <a:lnTo>
                    <a:pt x="1274615" y="0"/>
                  </a:lnTo>
                  <a:cubicBezTo>
                    <a:pt x="1282898" y="0"/>
                    <a:pt x="1290841" y="3290"/>
                    <a:pt x="1296697" y="9147"/>
                  </a:cubicBezTo>
                  <a:cubicBezTo>
                    <a:pt x="1302554" y="15003"/>
                    <a:pt x="1305844" y="22947"/>
                    <a:pt x="1305844" y="31229"/>
                  </a:cubicBezTo>
                  <a:lnTo>
                    <a:pt x="1305844" y="595067"/>
                  </a:lnTo>
                  <a:cubicBezTo>
                    <a:pt x="1305844" y="603350"/>
                    <a:pt x="1302554" y="611293"/>
                    <a:pt x="1296697" y="617150"/>
                  </a:cubicBezTo>
                  <a:cubicBezTo>
                    <a:pt x="1290841" y="623006"/>
                    <a:pt x="1282898" y="626297"/>
                    <a:pt x="1274615" y="626297"/>
                  </a:cubicBezTo>
                  <a:lnTo>
                    <a:pt x="31229" y="626297"/>
                  </a:lnTo>
                  <a:cubicBezTo>
                    <a:pt x="22947" y="626297"/>
                    <a:pt x="15003" y="623006"/>
                    <a:pt x="9147" y="617150"/>
                  </a:cubicBezTo>
                  <a:cubicBezTo>
                    <a:pt x="3290" y="611293"/>
                    <a:pt x="0" y="603350"/>
                    <a:pt x="0" y="595067"/>
                  </a:cubicBezTo>
                  <a:lnTo>
                    <a:pt x="0" y="31229"/>
                  </a:lnTo>
                  <a:cubicBezTo>
                    <a:pt x="0" y="22947"/>
                    <a:pt x="3290" y="15003"/>
                    <a:pt x="9147" y="9147"/>
                  </a:cubicBezTo>
                  <a:cubicBezTo>
                    <a:pt x="15003" y="3290"/>
                    <a:pt x="22947" y="0"/>
                    <a:pt x="3122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1305844" cy="597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7025564" y="609806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Freeform 25"/>
          <p:cNvSpPr/>
          <p:nvPr/>
        </p:nvSpPr>
        <p:spPr>
          <a:xfrm>
            <a:off x="1196717" y="336200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3878566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4.2 세부 설계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6717" y="4329107"/>
            <a:ext cx="4404490" cy="7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공개</a:t>
            </a: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의결서 및 보도자료 활용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LLM을 활용하여 시나리오 데이터 생성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99553" y="7129668"/>
            <a:ext cx="4696506" cy="7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동일 의결서라도 상황유형에 따라 다른 데이터 구축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계약 체결 전·거래 진행 중·위반 의심·정기 점검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4370" y="3925484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생성 방식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74370" y="6715261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상황유형별 맞춤 응답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75211" y="4410111"/>
            <a:ext cx="3728306" cy="60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446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제재중심·법령중심·유사사례·시장영향으로 질문 유형 세분화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75211" y="3941359"/>
            <a:ext cx="359862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질문 다양성 확보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80180" y="7074445"/>
            <a:ext cx="3819075" cy="1089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 원문과 생성 데이터 직접 대조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기업명·상품명 등 식별 정보 마스킹 처리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과징금 총액 및 세부항목 검토·수정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025564" y="6660038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Hallucination 방지 구조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638648" y="4357682"/>
            <a:ext cx="4045997" cy="7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의결서에 포함된 내용을 근거로 응답 구성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실제 의결서 기반의 신뢰도 높은 답변 구성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44545" y="3941359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근거 기반 응답</a:t>
            </a:r>
          </a:p>
        </p:txBody>
      </p:sp>
      <p:sp>
        <p:nvSpPr>
          <p:cNvPr id="38" name="Freeform 38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설계 방식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618161" y="7089576"/>
            <a:ext cx="4454456" cy="7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과징금 총합 단위 합산, 개별 항목 세분화 미적용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법령·의결서 출처 내용 부정확 사례 발견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24058" y="6684694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한계점 및 해결 방안</a:t>
            </a:r>
          </a:p>
        </p:txBody>
      </p:sp>
      <p:sp>
        <p:nvSpPr>
          <p:cNvPr id="44" name="Freeform 44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0" name="AutoShape 2">
            <a:extLst>
              <a:ext uri="{FF2B5EF4-FFF2-40B4-BE49-F238E27FC236}">
                <a16:creationId xmlns:a16="http://schemas.microsoft.com/office/drawing/2014/main" id="{1523724C-775C-7C92-BF15-C3A7F2D8520F}"/>
              </a:ext>
            </a:extLst>
          </p:cNvPr>
          <p:cNvSpPr/>
          <p:nvPr/>
        </p:nvSpPr>
        <p:spPr>
          <a:xfrm>
            <a:off x="894272" y="952500"/>
            <a:ext cx="265402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Box 21">
            <a:extLst>
              <a:ext uri="{FF2B5EF4-FFF2-40B4-BE49-F238E27FC236}">
                <a16:creationId xmlns:a16="http://schemas.microsoft.com/office/drawing/2014/main" id="{51370AAA-AE35-A34E-A1E2-F8F4D9F48B2C}"/>
              </a:ext>
            </a:extLst>
          </p:cNvPr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데이터 활용 결과</a:t>
            </a:r>
          </a:p>
        </p:txBody>
      </p:sp>
      <p:sp>
        <p:nvSpPr>
          <p:cNvPr id="53" name="슬라이드 번호 개체 틀 52">
            <a:extLst>
              <a:ext uri="{FF2B5EF4-FFF2-40B4-BE49-F238E27FC236}">
                <a16:creationId xmlns:a16="http://schemas.microsoft.com/office/drawing/2014/main" id="{999B9FBC-53BF-F706-08B8-E3FFE3E9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55605" y="3319331"/>
            <a:ext cx="9176791" cy="6664644"/>
          </a:xfrm>
          <a:custGeom>
            <a:avLst/>
            <a:gdLst/>
            <a:ahLst/>
            <a:cxnLst/>
            <a:rect l="l" t="t" r="r" b="b"/>
            <a:pathLst>
              <a:path w="9176791" h="6664644">
                <a:moveTo>
                  <a:pt x="0" y="0"/>
                </a:moveTo>
                <a:lnTo>
                  <a:pt x="9176790" y="0"/>
                </a:lnTo>
                <a:lnTo>
                  <a:pt x="9176790" y="6664644"/>
                </a:lnTo>
                <a:lnTo>
                  <a:pt x="0" y="6664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878566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4.2 세부 설계</a:t>
            </a:r>
          </a:p>
        </p:txBody>
      </p:sp>
      <p:sp>
        <p:nvSpPr>
          <p:cNvPr id="5" name="Freeform 5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AI 활용 데이터 개선 방향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6717" y="2460324"/>
            <a:ext cx="9451301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00" spc="-82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RAG, MCP 및 LLM 멀티에이전트 기반 생성 데이터 검증 구조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B24C1AB3-F6CC-FEC7-B279-5373CAE54548}"/>
              </a:ext>
            </a:extLst>
          </p:cNvPr>
          <p:cNvSpPr/>
          <p:nvPr/>
        </p:nvSpPr>
        <p:spPr>
          <a:xfrm>
            <a:off x="894272" y="952500"/>
            <a:ext cx="265402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099B6CC0-5ADF-7D1F-D58F-2F9EF2E83B39}"/>
              </a:ext>
            </a:extLst>
          </p:cNvPr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데이터 활용 결과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90BC92A6-2806-A3AA-9DB6-42467F4B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276520" y="4381051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AutoShape 4"/>
          <p:cNvSpPr/>
          <p:nvPr/>
        </p:nvSpPr>
        <p:spPr>
          <a:xfrm>
            <a:off x="4638675" y="4371526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AutoShape 5"/>
          <p:cNvSpPr/>
          <p:nvPr/>
        </p:nvSpPr>
        <p:spPr>
          <a:xfrm>
            <a:off x="8067521" y="4362001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>
            <a:off x="11377867" y="4342951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"/>
          <p:cNvSpPr/>
          <p:nvPr/>
        </p:nvSpPr>
        <p:spPr>
          <a:xfrm>
            <a:off x="14759242" y="4352476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AutoShape 8"/>
          <p:cNvSpPr/>
          <p:nvPr/>
        </p:nvSpPr>
        <p:spPr>
          <a:xfrm>
            <a:off x="3924470" y="4913925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AutoShape 9"/>
          <p:cNvSpPr/>
          <p:nvPr/>
        </p:nvSpPr>
        <p:spPr>
          <a:xfrm>
            <a:off x="7313031" y="4923450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10777792" y="4904400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AutoShape 11"/>
          <p:cNvSpPr/>
          <p:nvPr/>
        </p:nvSpPr>
        <p:spPr>
          <a:xfrm>
            <a:off x="14225842" y="4913925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204971" y="7726702"/>
            <a:ext cx="3971755" cy="1724412"/>
            <a:chOff x="0" y="0"/>
            <a:chExt cx="1046059" cy="4541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6059" cy="454166"/>
            </a:xfrm>
            <a:custGeom>
              <a:avLst/>
              <a:gdLst/>
              <a:ahLst/>
              <a:cxnLst/>
              <a:rect l="l" t="t" r="r" b="b"/>
              <a:pathLst>
                <a:path w="1046059" h="454166">
                  <a:moveTo>
                    <a:pt x="38985" y="0"/>
                  </a:moveTo>
                  <a:lnTo>
                    <a:pt x="1007074" y="0"/>
                  </a:lnTo>
                  <a:cubicBezTo>
                    <a:pt x="1017413" y="0"/>
                    <a:pt x="1027329" y="4107"/>
                    <a:pt x="1034641" y="11418"/>
                  </a:cubicBezTo>
                  <a:cubicBezTo>
                    <a:pt x="1041952" y="18729"/>
                    <a:pt x="1046059" y="28645"/>
                    <a:pt x="1046059" y="38985"/>
                  </a:cubicBezTo>
                  <a:lnTo>
                    <a:pt x="1046059" y="415181"/>
                  </a:lnTo>
                  <a:cubicBezTo>
                    <a:pt x="1046059" y="436712"/>
                    <a:pt x="1028605" y="454166"/>
                    <a:pt x="1007074" y="454166"/>
                  </a:cubicBezTo>
                  <a:lnTo>
                    <a:pt x="38985" y="454166"/>
                  </a:lnTo>
                  <a:cubicBezTo>
                    <a:pt x="28645" y="454166"/>
                    <a:pt x="18729" y="450059"/>
                    <a:pt x="11418" y="442748"/>
                  </a:cubicBezTo>
                  <a:cubicBezTo>
                    <a:pt x="4107" y="435437"/>
                    <a:pt x="0" y="425521"/>
                    <a:pt x="0" y="415181"/>
                  </a:cubicBezTo>
                  <a:lnTo>
                    <a:pt x="0" y="38985"/>
                  </a:lnTo>
                  <a:cubicBezTo>
                    <a:pt x="0" y="17454"/>
                    <a:pt x="17454" y="0"/>
                    <a:pt x="3898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046059" cy="425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376251" y="787309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6" name="Group 16"/>
          <p:cNvGrpSpPr/>
          <p:nvPr/>
        </p:nvGrpSpPr>
        <p:grpSpPr>
          <a:xfrm>
            <a:off x="7083852" y="7743835"/>
            <a:ext cx="4216432" cy="1724412"/>
            <a:chOff x="0" y="0"/>
            <a:chExt cx="1110501" cy="4541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10501" cy="454166"/>
            </a:xfrm>
            <a:custGeom>
              <a:avLst/>
              <a:gdLst/>
              <a:ahLst/>
              <a:cxnLst/>
              <a:rect l="l" t="t" r="r" b="b"/>
              <a:pathLst>
                <a:path w="1110501" h="454166">
                  <a:moveTo>
                    <a:pt x="36723" y="0"/>
                  </a:moveTo>
                  <a:lnTo>
                    <a:pt x="1073778" y="0"/>
                  </a:lnTo>
                  <a:cubicBezTo>
                    <a:pt x="1094059" y="0"/>
                    <a:pt x="1110501" y="16441"/>
                    <a:pt x="1110501" y="36723"/>
                  </a:cubicBezTo>
                  <a:lnTo>
                    <a:pt x="1110501" y="417444"/>
                  </a:lnTo>
                  <a:cubicBezTo>
                    <a:pt x="1110501" y="437725"/>
                    <a:pt x="1094059" y="454166"/>
                    <a:pt x="1073778" y="454166"/>
                  </a:cubicBezTo>
                  <a:lnTo>
                    <a:pt x="36723" y="454166"/>
                  </a:lnTo>
                  <a:cubicBezTo>
                    <a:pt x="26983" y="454166"/>
                    <a:pt x="17643" y="450297"/>
                    <a:pt x="10756" y="443410"/>
                  </a:cubicBezTo>
                  <a:cubicBezTo>
                    <a:pt x="3869" y="436524"/>
                    <a:pt x="0" y="427183"/>
                    <a:pt x="0" y="417444"/>
                  </a:cubicBezTo>
                  <a:lnTo>
                    <a:pt x="0" y="36723"/>
                  </a:lnTo>
                  <a:cubicBezTo>
                    <a:pt x="0" y="16441"/>
                    <a:pt x="16441" y="0"/>
                    <a:pt x="36723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1110501" cy="425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241117" y="7890228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2205159" y="7743835"/>
            <a:ext cx="4216432" cy="1724412"/>
            <a:chOff x="0" y="0"/>
            <a:chExt cx="1110501" cy="4541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10501" cy="454166"/>
            </a:xfrm>
            <a:custGeom>
              <a:avLst/>
              <a:gdLst/>
              <a:ahLst/>
              <a:cxnLst/>
              <a:rect l="l" t="t" r="r" b="b"/>
              <a:pathLst>
                <a:path w="1110501" h="454166">
                  <a:moveTo>
                    <a:pt x="36723" y="0"/>
                  </a:moveTo>
                  <a:lnTo>
                    <a:pt x="1073778" y="0"/>
                  </a:lnTo>
                  <a:cubicBezTo>
                    <a:pt x="1094059" y="0"/>
                    <a:pt x="1110501" y="16441"/>
                    <a:pt x="1110501" y="36723"/>
                  </a:cubicBezTo>
                  <a:lnTo>
                    <a:pt x="1110501" y="417444"/>
                  </a:lnTo>
                  <a:cubicBezTo>
                    <a:pt x="1110501" y="437725"/>
                    <a:pt x="1094059" y="454166"/>
                    <a:pt x="1073778" y="454166"/>
                  </a:cubicBezTo>
                  <a:lnTo>
                    <a:pt x="36723" y="454166"/>
                  </a:lnTo>
                  <a:cubicBezTo>
                    <a:pt x="26983" y="454166"/>
                    <a:pt x="17643" y="450297"/>
                    <a:pt x="10756" y="443410"/>
                  </a:cubicBezTo>
                  <a:cubicBezTo>
                    <a:pt x="3869" y="436524"/>
                    <a:pt x="0" y="427183"/>
                    <a:pt x="0" y="417444"/>
                  </a:cubicBezTo>
                  <a:lnTo>
                    <a:pt x="0" y="36723"/>
                  </a:lnTo>
                  <a:cubicBezTo>
                    <a:pt x="0" y="16441"/>
                    <a:pt x="16441" y="0"/>
                    <a:pt x="36723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110501" cy="425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448224" y="7890228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3878566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4.2 세부 설계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검증 프로세스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6717" y="2575746"/>
            <a:ext cx="9451301" cy="30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1900" b="1" spc="-77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→ 한계점 개선을 위해 제안하는 검증 구조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3242" y="3780658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질의 처리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74458" y="4696011"/>
            <a:ext cx="2268622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질의를 사실·법조문·제재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관점 클레임으로 분해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36264" y="4696011"/>
            <a:ext cx="2452942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RAG 및 MCP를 이용하여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관련 내용 검색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044992" y="4696011"/>
            <a:ext cx="2033899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판정 결과에 따른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 처리 전략 분기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24617" y="3780658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관련자료</a:t>
            </a:r>
            <a:r>
              <a:rPr lang="en-US" sz="220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검색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05992" y="3775896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원문↔클레임 대조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87367" y="3780658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에이전트 토론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568742" y="3780658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최종</a:t>
            </a:r>
            <a:r>
              <a:rPr lang="en-US" sz="220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판정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13106" y="4696011"/>
            <a:ext cx="280035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사실·법조문·제재 검증 에이전트가 Pass·Fail·Partial 판정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58817" y="4696011"/>
            <a:ext cx="280035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토론을 통한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원문↔클레임 판정 교차 검증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04971" y="6974182"/>
            <a:ext cx="2682458" cy="30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1900" b="1" spc="-77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판정 결과에 따른 분기 처리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436932" y="8724710"/>
            <a:ext cx="2876550" cy="27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4"/>
              </a:lnSpc>
            </a:pPr>
            <a:r>
              <a:rPr lang="en-US" sz="1547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</a:t>
            </a:r>
            <a:r>
              <a:rPr lang="en-US" sz="1547" u="none" strike="noStrike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현행 유지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436932" y="8341326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b="1" spc="-3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전체 Pass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241117" y="8751369"/>
            <a:ext cx="3138310" cy="26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6"/>
              </a:lnSpc>
            </a:pPr>
            <a:r>
              <a:rPr lang="en-US" sz="1547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LLM을 활용하여 내용 보강 후 재검증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41117" y="8349661"/>
            <a:ext cx="3598624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b="1" spc="-3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Partial 1개 이상, Fail 없음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56786" y="8751369"/>
            <a:ext cx="3713178" cy="53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7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LLM을 활용하여 불일치 내용 보고서 생성, </a:t>
            </a:r>
          </a:p>
          <a:p>
            <a:pPr marL="0" lvl="0" indent="0" algn="l">
              <a:lnSpc>
                <a:spcPts val="2166"/>
              </a:lnSpc>
            </a:pPr>
            <a:r>
              <a:rPr lang="en-US" sz="1547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전문가 판단 요청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48224" y="8358459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b="1" spc="-3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Fail 1개 이상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293285" y="3348614"/>
            <a:ext cx="929664" cy="297106"/>
            <a:chOff x="0" y="0"/>
            <a:chExt cx="244850" cy="782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429133" y="3405915"/>
            <a:ext cx="657969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02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808687" y="3348614"/>
            <a:ext cx="929664" cy="297106"/>
            <a:chOff x="0" y="0"/>
            <a:chExt cx="244850" cy="7825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956217" y="3405915"/>
            <a:ext cx="634603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01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8674660" y="3348614"/>
            <a:ext cx="929664" cy="297106"/>
            <a:chOff x="0" y="0"/>
            <a:chExt cx="244850" cy="7825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8808201" y="3405915"/>
            <a:ext cx="662583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03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2056035" y="3348614"/>
            <a:ext cx="929664" cy="297106"/>
            <a:chOff x="0" y="0"/>
            <a:chExt cx="244850" cy="7825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2188013" y="3405915"/>
            <a:ext cx="665708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04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5437410" y="3348614"/>
            <a:ext cx="929664" cy="297106"/>
            <a:chOff x="0" y="0"/>
            <a:chExt cx="244850" cy="7825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5571918" y="3405915"/>
            <a:ext cx="660648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05</a:t>
            </a:r>
          </a:p>
        </p:txBody>
      </p:sp>
      <p:sp>
        <p:nvSpPr>
          <p:cNvPr id="66" name="Freeform 66"/>
          <p:cNvSpPr/>
          <p:nvPr/>
        </p:nvSpPr>
        <p:spPr>
          <a:xfrm>
            <a:off x="5070382" y="5459153"/>
            <a:ext cx="11617417" cy="1747127"/>
          </a:xfrm>
          <a:custGeom>
            <a:avLst/>
            <a:gdLst/>
            <a:ahLst/>
            <a:cxnLst/>
            <a:rect l="l" t="t" r="r" b="b"/>
            <a:pathLst>
              <a:path w="10947798" h="1661901">
                <a:moveTo>
                  <a:pt x="10947798" y="0"/>
                </a:moveTo>
                <a:quadBezTo>
                  <a:pt x="6139364" y="2000918"/>
                  <a:pt x="0" y="1592744"/>
                </a:quadBezTo>
              </a:path>
            </a:pathLst>
          </a:custGeom>
          <a:ln w="28575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Freeform 68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0" name="AutoShape 2">
            <a:extLst>
              <a:ext uri="{FF2B5EF4-FFF2-40B4-BE49-F238E27FC236}">
                <a16:creationId xmlns:a16="http://schemas.microsoft.com/office/drawing/2014/main" id="{64EEB81C-4D76-0095-FAA9-014D25D1A0A7}"/>
              </a:ext>
            </a:extLst>
          </p:cNvPr>
          <p:cNvSpPr/>
          <p:nvPr/>
        </p:nvSpPr>
        <p:spPr>
          <a:xfrm>
            <a:off x="894272" y="952500"/>
            <a:ext cx="265402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Box 21">
            <a:extLst>
              <a:ext uri="{FF2B5EF4-FFF2-40B4-BE49-F238E27FC236}">
                <a16:creationId xmlns:a16="http://schemas.microsoft.com/office/drawing/2014/main" id="{796E9425-CA81-02A8-7A82-33BE331FBE69}"/>
              </a:ext>
            </a:extLst>
          </p:cNvPr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데이터 활용 결과</a:t>
            </a:r>
          </a:p>
        </p:txBody>
      </p:sp>
      <p:sp>
        <p:nvSpPr>
          <p:cNvPr id="73" name="슬라이드 번호 개체 틀 72">
            <a:extLst>
              <a:ext uri="{FF2B5EF4-FFF2-40B4-BE49-F238E27FC236}">
                <a16:creationId xmlns:a16="http://schemas.microsoft.com/office/drawing/2014/main" id="{60FE8706-DB27-C4FA-15C0-8E82A3F8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196717" y="3311203"/>
            <a:ext cx="9215004" cy="1552121"/>
            <a:chOff x="0" y="0"/>
            <a:chExt cx="2426997" cy="408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6997" cy="408789"/>
            </a:xfrm>
            <a:custGeom>
              <a:avLst/>
              <a:gdLst/>
              <a:ahLst/>
              <a:cxnLst/>
              <a:rect l="l" t="t" r="r" b="b"/>
              <a:pathLst>
                <a:path w="2426997" h="408789">
                  <a:moveTo>
                    <a:pt x="16803" y="0"/>
                  </a:moveTo>
                  <a:lnTo>
                    <a:pt x="2410194" y="0"/>
                  </a:lnTo>
                  <a:cubicBezTo>
                    <a:pt x="2414650" y="0"/>
                    <a:pt x="2418924" y="1770"/>
                    <a:pt x="2422076" y="4921"/>
                  </a:cubicBezTo>
                  <a:cubicBezTo>
                    <a:pt x="2425227" y="8073"/>
                    <a:pt x="2426997" y="12346"/>
                    <a:pt x="2426997" y="16803"/>
                  </a:cubicBezTo>
                  <a:lnTo>
                    <a:pt x="2426997" y="391986"/>
                  </a:lnTo>
                  <a:cubicBezTo>
                    <a:pt x="2426997" y="401266"/>
                    <a:pt x="2419474" y="408789"/>
                    <a:pt x="2410194" y="408789"/>
                  </a:cubicBezTo>
                  <a:lnTo>
                    <a:pt x="16803" y="408789"/>
                  </a:lnTo>
                  <a:cubicBezTo>
                    <a:pt x="7523" y="408789"/>
                    <a:pt x="0" y="401266"/>
                    <a:pt x="0" y="391986"/>
                  </a:cubicBezTo>
                  <a:lnTo>
                    <a:pt x="0" y="16803"/>
                  </a:lnTo>
                  <a:cubicBezTo>
                    <a:pt x="0" y="7523"/>
                    <a:pt x="7523" y="0"/>
                    <a:pt x="1680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2426997" cy="380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99132" y="6158046"/>
            <a:ext cx="14684351" cy="3574323"/>
            <a:chOff x="0" y="0"/>
            <a:chExt cx="3867483" cy="9413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67483" cy="941386"/>
            </a:xfrm>
            <a:custGeom>
              <a:avLst/>
              <a:gdLst/>
              <a:ahLst/>
              <a:cxnLst/>
              <a:rect l="l" t="t" r="r" b="b"/>
              <a:pathLst>
                <a:path w="3867483" h="941386">
                  <a:moveTo>
                    <a:pt x="10544" y="0"/>
                  </a:moveTo>
                  <a:lnTo>
                    <a:pt x="3856939" y="0"/>
                  </a:lnTo>
                  <a:cubicBezTo>
                    <a:pt x="3862762" y="0"/>
                    <a:pt x="3867483" y="4721"/>
                    <a:pt x="3867483" y="10544"/>
                  </a:cubicBezTo>
                  <a:lnTo>
                    <a:pt x="3867483" y="930841"/>
                  </a:lnTo>
                  <a:cubicBezTo>
                    <a:pt x="3867483" y="936665"/>
                    <a:pt x="3862762" y="941386"/>
                    <a:pt x="3856939" y="941386"/>
                  </a:cubicBezTo>
                  <a:lnTo>
                    <a:pt x="10544" y="941386"/>
                  </a:lnTo>
                  <a:cubicBezTo>
                    <a:pt x="4721" y="941386"/>
                    <a:pt x="0" y="936665"/>
                    <a:pt x="0" y="930841"/>
                  </a:cubicBezTo>
                  <a:lnTo>
                    <a:pt x="0" y="10544"/>
                  </a:lnTo>
                  <a:cubicBezTo>
                    <a:pt x="0" y="4721"/>
                    <a:pt x="4721" y="0"/>
                    <a:pt x="1054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3867483" cy="912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89009" y="6406373"/>
            <a:ext cx="6666450" cy="3090224"/>
            <a:chOff x="0" y="0"/>
            <a:chExt cx="1755773" cy="8138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55773" cy="813886"/>
            </a:xfrm>
            <a:custGeom>
              <a:avLst/>
              <a:gdLst/>
              <a:ahLst/>
              <a:cxnLst/>
              <a:rect l="l" t="t" r="r" b="b"/>
              <a:pathLst>
                <a:path w="1755773" h="813886">
                  <a:moveTo>
                    <a:pt x="23227" y="0"/>
                  </a:moveTo>
                  <a:lnTo>
                    <a:pt x="1732546" y="0"/>
                  </a:lnTo>
                  <a:cubicBezTo>
                    <a:pt x="1745374" y="0"/>
                    <a:pt x="1755773" y="10399"/>
                    <a:pt x="1755773" y="23227"/>
                  </a:cubicBezTo>
                  <a:lnTo>
                    <a:pt x="1755773" y="790660"/>
                  </a:lnTo>
                  <a:cubicBezTo>
                    <a:pt x="1755773" y="803487"/>
                    <a:pt x="1745374" y="813886"/>
                    <a:pt x="1732546" y="813886"/>
                  </a:cubicBezTo>
                  <a:lnTo>
                    <a:pt x="23227" y="813886"/>
                  </a:lnTo>
                  <a:cubicBezTo>
                    <a:pt x="17066" y="813886"/>
                    <a:pt x="11159" y="811439"/>
                    <a:pt x="6803" y="807083"/>
                  </a:cubicBezTo>
                  <a:cubicBezTo>
                    <a:pt x="2447" y="802727"/>
                    <a:pt x="0" y="796820"/>
                    <a:pt x="0" y="790660"/>
                  </a:cubicBezTo>
                  <a:lnTo>
                    <a:pt x="0" y="23227"/>
                  </a:lnTo>
                  <a:cubicBezTo>
                    <a:pt x="0" y="10399"/>
                    <a:pt x="10399" y="0"/>
                    <a:pt x="2322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1755773" cy="785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477196" y="6604531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9593718" y="6406373"/>
            <a:ext cx="6666450" cy="3090224"/>
            <a:chOff x="0" y="0"/>
            <a:chExt cx="1755773" cy="8138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55773" cy="813886"/>
            </a:xfrm>
            <a:custGeom>
              <a:avLst/>
              <a:gdLst/>
              <a:ahLst/>
              <a:cxnLst/>
              <a:rect l="l" t="t" r="r" b="b"/>
              <a:pathLst>
                <a:path w="1755773" h="813886">
                  <a:moveTo>
                    <a:pt x="23227" y="0"/>
                  </a:moveTo>
                  <a:lnTo>
                    <a:pt x="1732546" y="0"/>
                  </a:lnTo>
                  <a:cubicBezTo>
                    <a:pt x="1745374" y="0"/>
                    <a:pt x="1755773" y="10399"/>
                    <a:pt x="1755773" y="23227"/>
                  </a:cubicBezTo>
                  <a:lnTo>
                    <a:pt x="1755773" y="790660"/>
                  </a:lnTo>
                  <a:cubicBezTo>
                    <a:pt x="1755773" y="803487"/>
                    <a:pt x="1745374" y="813886"/>
                    <a:pt x="1732546" y="813886"/>
                  </a:cubicBezTo>
                  <a:lnTo>
                    <a:pt x="23227" y="813886"/>
                  </a:lnTo>
                  <a:cubicBezTo>
                    <a:pt x="17066" y="813886"/>
                    <a:pt x="11159" y="811439"/>
                    <a:pt x="6803" y="807083"/>
                  </a:cubicBezTo>
                  <a:cubicBezTo>
                    <a:pt x="2447" y="802727"/>
                    <a:pt x="0" y="796820"/>
                    <a:pt x="0" y="790660"/>
                  </a:cubicBezTo>
                  <a:lnTo>
                    <a:pt x="0" y="23227"/>
                  </a:lnTo>
                  <a:cubicBezTo>
                    <a:pt x="0" y="10399"/>
                    <a:pt x="10399" y="0"/>
                    <a:pt x="2322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755773" cy="785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908460" y="6619042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3878566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4.3 페르소나별 데이터 활용결과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6717" y="1793695"/>
            <a:ext cx="8044590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 컴플라이언스 담당자의 진단 요청 처리 과정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6717" y="2575746"/>
            <a:ext cx="9451301" cy="30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1900" b="1" spc="-77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→ 각 단계의 처리 결과를 구조화된 형태로 기록하여 검색 품질 및 진단 신뢰도를 추적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3420" y="3694108"/>
            <a:ext cx="2667000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5555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사용자 질의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36920" y="3652833"/>
            <a:ext cx="7049107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"자사 상품을 검색 결과 상단에 올리면 문제가 되나요?"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3420" y="4179326"/>
            <a:ext cx="2667000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4849F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재작성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36920" y="4138051"/>
            <a:ext cx="7049107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4845FD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"자사상품 검색결과 상단 노출의 법적 문제" — 의도 분류: 법령중심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24821" y="7150574"/>
            <a:ext cx="41321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내부 검색 (Internal Retrieval)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24821" y="7621161"/>
            <a:ext cx="5396127" cy="175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762" lvl="1" indent="-177881" algn="l">
              <a:lnSpc>
                <a:spcPts val="2801"/>
              </a:lnSpc>
              <a:buFont typeface="Arial"/>
              <a:buChar char="•"/>
            </a:pPr>
            <a:r>
              <a:rPr lang="en-US" sz="1647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Hybrid Search(BM25+Dense) →                                             Re-ranking → LLM Semantic Filtering</a:t>
            </a:r>
          </a:p>
          <a:p>
            <a:pPr marL="355762" lvl="1" indent="-177881" algn="l">
              <a:lnSpc>
                <a:spcPts val="2801"/>
              </a:lnSpc>
              <a:buFont typeface="Arial"/>
              <a:buChar char="•"/>
            </a:pPr>
            <a:r>
              <a:rPr lang="en-US" sz="1647" u="none" strike="noStrike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검색 후보 10건 → 4건,                                                                쿠팡 PB상품 검색순위 조정 관련 의결서 청크 선별</a:t>
            </a:r>
          </a:p>
          <a:p>
            <a:pPr marL="355762" lvl="1" indent="-177881" algn="l">
              <a:lnSpc>
                <a:spcPts val="2801"/>
              </a:lnSpc>
              <a:buFont typeface="Arial"/>
              <a:buChar char="•"/>
            </a:pPr>
            <a:r>
              <a:rPr lang="en-US" sz="1647" u="none" strike="noStrike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시나리오 QA DB: 자사우대 검색노출 관련 QA 3건 매칭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08460" y="7150574"/>
            <a:ext cx="41321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외부 검색 (External, MCP)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08460" y="7621161"/>
            <a:ext cx="6036967" cy="175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762" lvl="1" indent="-177881" algn="l">
              <a:lnSpc>
                <a:spcPts val="2801"/>
              </a:lnSpc>
              <a:buFont typeface="Arial"/>
              <a:buChar char="•"/>
            </a:pPr>
            <a:r>
              <a:rPr lang="en-US" sz="1647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법령: 독점규제 및 공정거래에 관한 법률·시행령 (현행)</a:t>
            </a:r>
          </a:p>
          <a:p>
            <a:pPr marL="355762" lvl="1" indent="-177881" algn="l">
              <a:lnSpc>
                <a:spcPts val="2801"/>
              </a:lnSpc>
              <a:buFont typeface="Arial"/>
              <a:buChar char="•"/>
            </a:pPr>
            <a:r>
              <a:rPr lang="en-US" sz="1647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의결:</a:t>
            </a:r>
            <a:r>
              <a:rPr lang="en-US" sz="1647" u="none" strike="noStrike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공정위 2024.8.5. 의결 제2024-284호      </a:t>
            </a:r>
          </a:p>
          <a:p>
            <a:pPr algn="l">
              <a:lnSpc>
                <a:spcPts val="2801"/>
              </a:lnSpc>
            </a:pPr>
            <a:r>
              <a:rPr lang="en-US" sz="1647" u="none" strike="noStrike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 (쿠팡·씨피엘비 위계에 의한 고객유인)</a:t>
            </a:r>
          </a:p>
          <a:p>
            <a:pPr algn="l">
              <a:lnSpc>
                <a:spcPts val="2801"/>
              </a:lnSpc>
            </a:pPr>
            <a:r>
              <a:rPr lang="en-US" sz="1647" u="none" strike="noStrike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 — 검색순위 조정 및 후기·평점 조작을 통한 부당 고객유인에 </a:t>
            </a:r>
          </a:p>
          <a:p>
            <a:pPr algn="l">
              <a:lnSpc>
                <a:spcPts val="2801"/>
              </a:lnSpc>
            </a:pPr>
            <a:r>
              <a:rPr lang="en-US" sz="1647" u="none" strike="noStrike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      시정명령·과징금 부과 사례</a:t>
            </a:r>
          </a:p>
        </p:txBody>
      </p:sp>
      <p:sp>
        <p:nvSpPr>
          <p:cNvPr id="30" name="Freeform 30"/>
          <p:cNvSpPr/>
          <p:nvPr/>
        </p:nvSpPr>
        <p:spPr>
          <a:xfrm rot="5400000">
            <a:off x="8872147" y="5143500"/>
            <a:ext cx="738321" cy="738321"/>
          </a:xfrm>
          <a:custGeom>
            <a:avLst/>
            <a:gdLst/>
            <a:ahLst/>
            <a:cxnLst/>
            <a:rect l="l" t="t" r="r" b="b"/>
            <a:pathLst>
              <a:path w="738321" h="738321">
                <a:moveTo>
                  <a:pt x="0" y="0"/>
                </a:moveTo>
                <a:lnTo>
                  <a:pt x="738321" y="0"/>
                </a:lnTo>
                <a:lnTo>
                  <a:pt x="738321" y="738321"/>
                </a:lnTo>
                <a:lnTo>
                  <a:pt x="0" y="7383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2" name="Freeform 32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AutoShape 2">
            <a:extLst>
              <a:ext uri="{FF2B5EF4-FFF2-40B4-BE49-F238E27FC236}">
                <a16:creationId xmlns:a16="http://schemas.microsoft.com/office/drawing/2014/main" id="{BE1230C2-2F80-42B6-FB44-B9654BA0666A}"/>
              </a:ext>
            </a:extLst>
          </p:cNvPr>
          <p:cNvSpPr/>
          <p:nvPr/>
        </p:nvSpPr>
        <p:spPr>
          <a:xfrm>
            <a:off x="894272" y="952500"/>
            <a:ext cx="265402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AA099205-5E58-2E2B-387F-EEF0C98F56AD}"/>
              </a:ext>
            </a:extLst>
          </p:cNvPr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데이터 활용 결과</a:t>
            </a:r>
          </a:p>
        </p:txBody>
      </p:sp>
      <p:sp>
        <p:nvSpPr>
          <p:cNvPr id="37" name="슬라이드 번호 개체 틀 36">
            <a:extLst>
              <a:ext uri="{FF2B5EF4-FFF2-40B4-BE49-F238E27FC236}">
                <a16:creationId xmlns:a16="http://schemas.microsoft.com/office/drawing/2014/main" id="{86E1B6EF-6004-E568-F64C-57ECE46B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1345075" y="7473877"/>
            <a:ext cx="4450932" cy="2205568"/>
            <a:chOff x="0" y="0"/>
            <a:chExt cx="1172262" cy="5808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2262" cy="580890"/>
            </a:xfrm>
            <a:custGeom>
              <a:avLst/>
              <a:gdLst/>
              <a:ahLst/>
              <a:cxnLst/>
              <a:rect l="l" t="t" r="r" b="b"/>
              <a:pathLst>
                <a:path w="1172262" h="580890">
                  <a:moveTo>
                    <a:pt x="34788" y="0"/>
                  </a:moveTo>
                  <a:lnTo>
                    <a:pt x="1137474" y="0"/>
                  </a:lnTo>
                  <a:cubicBezTo>
                    <a:pt x="1156687" y="0"/>
                    <a:pt x="1172262" y="15575"/>
                    <a:pt x="1172262" y="34788"/>
                  </a:cubicBezTo>
                  <a:lnTo>
                    <a:pt x="1172262" y="546103"/>
                  </a:lnTo>
                  <a:cubicBezTo>
                    <a:pt x="1172262" y="565315"/>
                    <a:pt x="1156687" y="580890"/>
                    <a:pt x="1137474" y="580890"/>
                  </a:cubicBezTo>
                  <a:lnTo>
                    <a:pt x="34788" y="580890"/>
                  </a:lnTo>
                  <a:cubicBezTo>
                    <a:pt x="15575" y="580890"/>
                    <a:pt x="0" y="565315"/>
                    <a:pt x="0" y="546103"/>
                  </a:cubicBezTo>
                  <a:lnTo>
                    <a:pt x="0" y="34788"/>
                  </a:lnTo>
                  <a:cubicBezTo>
                    <a:pt x="0" y="15575"/>
                    <a:pt x="15575" y="0"/>
                    <a:pt x="3478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172262" cy="55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65092" y="7743334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83150" y="7473516"/>
            <a:ext cx="4450932" cy="2205568"/>
            <a:chOff x="0" y="0"/>
            <a:chExt cx="1172262" cy="5808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2262" cy="580890"/>
            </a:xfrm>
            <a:custGeom>
              <a:avLst/>
              <a:gdLst/>
              <a:ahLst/>
              <a:cxnLst/>
              <a:rect l="l" t="t" r="r" b="b"/>
              <a:pathLst>
                <a:path w="1172262" h="580890">
                  <a:moveTo>
                    <a:pt x="34788" y="0"/>
                  </a:moveTo>
                  <a:lnTo>
                    <a:pt x="1137474" y="0"/>
                  </a:lnTo>
                  <a:cubicBezTo>
                    <a:pt x="1156687" y="0"/>
                    <a:pt x="1172262" y="15575"/>
                    <a:pt x="1172262" y="34788"/>
                  </a:cubicBezTo>
                  <a:lnTo>
                    <a:pt x="1172262" y="546103"/>
                  </a:lnTo>
                  <a:cubicBezTo>
                    <a:pt x="1172262" y="565315"/>
                    <a:pt x="1156687" y="580890"/>
                    <a:pt x="1137474" y="580890"/>
                  </a:cubicBezTo>
                  <a:lnTo>
                    <a:pt x="34788" y="580890"/>
                  </a:lnTo>
                  <a:cubicBezTo>
                    <a:pt x="15575" y="580890"/>
                    <a:pt x="0" y="565315"/>
                    <a:pt x="0" y="546103"/>
                  </a:cubicBezTo>
                  <a:lnTo>
                    <a:pt x="0" y="34788"/>
                  </a:lnTo>
                  <a:cubicBezTo>
                    <a:pt x="0" y="15575"/>
                    <a:pt x="15575" y="0"/>
                    <a:pt x="3478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172262" cy="55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263972" y="774369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2686608" y="7473516"/>
            <a:ext cx="4450932" cy="2205568"/>
            <a:chOff x="0" y="0"/>
            <a:chExt cx="1172262" cy="5808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72262" cy="580890"/>
            </a:xfrm>
            <a:custGeom>
              <a:avLst/>
              <a:gdLst/>
              <a:ahLst/>
              <a:cxnLst/>
              <a:rect l="l" t="t" r="r" b="b"/>
              <a:pathLst>
                <a:path w="1172262" h="580890">
                  <a:moveTo>
                    <a:pt x="34788" y="0"/>
                  </a:moveTo>
                  <a:lnTo>
                    <a:pt x="1137474" y="0"/>
                  </a:lnTo>
                  <a:cubicBezTo>
                    <a:pt x="1156687" y="0"/>
                    <a:pt x="1172262" y="15575"/>
                    <a:pt x="1172262" y="34788"/>
                  </a:cubicBezTo>
                  <a:lnTo>
                    <a:pt x="1172262" y="546103"/>
                  </a:lnTo>
                  <a:cubicBezTo>
                    <a:pt x="1172262" y="565315"/>
                    <a:pt x="1156687" y="580890"/>
                    <a:pt x="1137474" y="580890"/>
                  </a:cubicBezTo>
                  <a:lnTo>
                    <a:pt x="34788" y="580890"/>
                  </a:lnTo>
                  <a:cubicBezTo>
                    <a:pt x="15575" y="580890"/>
                    <a:pt x="0" y="565315"/>
                    <a:pt x="0" y="546103"/>
                  </a:cubicBezTo>
                  <a:lnTo>
                    <a:pt x="0" y="34788"/>
                  </a:lnTo>
                  <a:cubicBezTo>
                    <a:pt x="0" y="15575"/>
                    <a:pt x="15575" y="0"/>
                    <a:pt x="3478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172262" cy="55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2902611" y="7743334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5789931" y="3224717"/>
            <a:ext cx="9767714" cy="821006"/>
            <a:chOff x="0" y="0"/>
            <a:chExt cx="2572567" cy="2162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72567" cy="216232"/>
            </a:xfrm>
            <a:custGeom>
              <a:avLst/>
              <a:gdLst/>
              <a:ahLst/>
              <a:cxnLst/>
              <a:rect l="l" t="t" r="r" b="b"/>
              <a:pathLst>
                <a:path w="2572567" h="216232">
                  <a:moveTo>
                    <a:pt x="15852" y="0"/>
                  </a:moveTo>
                  <a:lnTo>
                    <a:pt x="2556714" y="0"/>
                  </a:lnTo>
                  <a:cubicBezTo>
                    <a:pt x="2560919" y="0"/>
                    <a:pt x="2564951" y="1670"/>
                    <a:pt x="2567924" y="4643"/>
                  </a:cubicBezTo>
                  <a:cubicBezTo>
                    <a:pt x="2570897" y="7616"/>
                    <a:pt x="2572567" y="11648"/>
                    <a:pt x="2572567" y="15852"/>
                  </a:cubicBezTo>
                  <a:lnTo>
                    <a:pt x="2572567" y="200380"/>
                  </a:lnTo>
                  <a:cubicBezTo>
                    <a:pt x="2572567" y="204584"/>
                    <a:pt x="2570897" y="208616"/>
                    <a:pt x="2567924" y="211589"/>
                  </a:cubicBezTo>
                  <a:cubicBezTo>
                    <a:pt x="2564951" y="214562"/>
                    <a:pt x="2560919" y="216232"/>
                    <a:pt x="2556714" y="216232"/>
                  </a:cubicBezTo>
                  <a:lnTo>
                    <a:pt x="15852" y="216232"/>
                  </a:lnTo>
                  <a:cubicBezTo>
                    <a:pt x="11648" y="216232"/>
                    <a:pt x="7616" y="214562"/>
                    <a:pt x="4643" y="211589"/>
                  </a:cubicBezTo>
                  <a:cubicBezTo>
                    <a:pt x="1670" y="208616"/>
                    <a:pt x="0" y="204584"/>
                    <a:pt x="0" y="200380"/>
                  </a:cubicBezTo>
                  <a:lnTo>
                    <a:pt x="0" y="15852"/>
                  </a:lnTo>
                  <a:cubicBezTo>
                    <a:pt x="0" y="11648"/>
                    <a:pt x="1670" y="7616"/>
                    <a:pt x="4643" y="4643"/>
                  </a:cubicBezTo>
                  <a:cubicBezTo>
                    <a:pt x="7616" y="1670"/>
                    <a:pt x="11648" y="0"/>
                    <a:pt x="1585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2572567" cy="187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6080522" y="3433234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3878566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4.3 페르소나별 데이터 활용 결과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6717" y="1793695"/>
            <a:ext cx="8044590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최종 진단 결과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89931" y="4714715"/>
            <a:ext cx="9555920" cy="1411003"/>
            <a:chOff x="0" y="0"/>
            <a:chExt cx="2516786" cy="37162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16786" cy="371622"/>
            </a:xfrm>
            <a:custGeom>
              <a:avLst/>
              <a:gdLst/>
              <a:ahLst/>
              <a:cxnLst/>
              <a:rect l="l" t="t" r="r" b="b"/>
              <a:pathLst>
                <a:path w="2516786" h="371622">
                  <a:moveTo>
                    <a:pt x="16203" y="0"/>
                  </a:moveTo>
                  <a:lnTo>
                    <a:pt x="2500582" y="0"/>
                  </a:lnTo>
                  <a:cubicBezTo>
                    <a:pt x="2504879" y="0"/>
                    <a:pt x="2509001" y="1707"/>
                    <a:pt x="2512040" y="4746"/>
                  </a:cubicBezTo>
                  <a:cubicBezTo>
                    <a:pt x="2515078" y="7785"/>
                    <a:pt x="2516786" y="11906"/>
                    <a:pt x="2516786" y="16203"/>
                  </a:cubicBezTo>
                  <a:lnTo>
                    <a:pt x="2516786" y="355419"/>
                  </a:lnTo>
                  <a:cubicBezTo>
                    <a:pt x="2516786" y="359716"/>
                    <a:pt x="2515078" y="363838"/>
                    <a:pt x="2512040" y="366876"/>
                  </a:cubicBezTo>
                  <a:cubicBezTo>
                    <a:pt x="2509001" y="369915"/>
                    <a:pt x="2504879" y="371622"/>
                    <a:pt x="2500582" y="371622"/>
                  </a:cubicBezTo>
                  <a:lnTo>
                    <a:pt x="16203" y="371622"/>
                  </a:lnTo>
                  <a:cubicBezTo>
                    <a:pt x="11906" y="371622"/>
                    <a:pt x="7785" y="369915"/>
                    <a:pt x="4746" y="366876"/>
                  </a:cubicBezTo>
                  <a:cubicBezTo>
                    <a:pt x="1707" y="363838"/>
                    <a:pt x="0" y="359716"/>
                    <a:pt x="0" y="355419"/>
                  </a:cubicBezTo>
                  <a:lnTo>
                    <a:pt x="0" y="16203"/>
                  </a:lnTo>
                  <a:cubicBezTo>
                    <a:pt x="0" y="11906"/>
                    <a:pt x="1707" y="7785"/>
                    <a:pt x="4746" y="4746"/>
                  </a:cubicBezTo>
                  <a:cubicBezTo>
                    <a:pt x="7785" y="1707"/>
                    <a:pt x="11906" y="0"/>
                    <a:pt x="1620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28575"/>
              <a:ext cx="2516786" cy="343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2422" y="4862283"/>
            <a:ext cx="266700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55555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 결론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42422" y="5177564"/>
            <a:ext cx="1095216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자사상품의 검색 상단 노출에 후기·평점 조작 등 위계가 결합되면 소비자 오인을 초래할 수 있으며, </a:t>
            </a:r>
          </a:p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공정거래법 제45조 제1항 제4호 </a:t>
            </a:r>
            <a:r>
              <a:rPr lang="en-US" sz="1899" b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위계에 의한</a:t>
            </a:r>
            <a:r>
              <a:rPr lang="en-US" sz="1899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b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고객유인에 해당할 가능성이 높음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51869" y="6856931"/>
            <a:ext cx="2667000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5555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컴플라이언스 체크리스트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65092" y="8229109"/>
            <a:ext cx="41321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검색 노출 기준 점검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37996" y="7679200"/>
            <a:ext cx="695606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4849F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필수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65092" y="8699696"/>
            <a:ext cx="3641266" cy="69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1647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자사상품과 입점업체 상품의 검색 노출 순위 결정 기준이 객관적이고 투명한지 검토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63972" y="8229470"/>
            <a:ext cx="41321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소비자 고지 여부 확인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603643" y="7659367"/>
            <a:ext cx="695606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4849F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필수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63972" y="8700057"/>
            <a:ext cx="3641266" cy="69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1647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자사상품이 우대 노출될 수 있다는 사실을 </a:t>
            </a:r>
          </a:p>
          <a:p>
            <a:pPr algn="l">
              <a:lnSpc>
                <a:spcPts val="2801"/>
              </a:lnSpc>
            </a:pPr>
            <a:r>
              <a:rPr lang="en-US" sz="1647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소비자에게 고지하고 있는지 확인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02611" y="8229109"/>
            <a:ext cx="41321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모니터링 체계 구축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196074" y="7679200"/>
            <a:ext cx="695606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권장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902611" y="8699696"/>
            <a:ext cx="3641266" cy="69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1647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검색 결과 노출 현황을 정기적으로 점검하는 내부 프로세스 마련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43356" y="3483458"/>
            <a:ext cx="4132184" cy="290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9"/>
              </a:lnSpc>
            </a:pPr>
            <a:r>
              <a:rPr lang="en-US" sz="1647" b="1" spc="-32">
                <a:solidFill>
                  <a:srgbClr val="737373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관련 법령 및 근거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31016" y="3327054"/>
            <a:ext cx="6924067" cy="593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1447" spc="-28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공정거래법 제45조 제1항 제4호(위계에 의한 고객유인) · 검색순위 조작·후기 조작 관련 공정위 의결 및 시정명령·과징금 부과 선례</a:t>
            </a:r>
          </a:p>
        </p:txBody>
      </p:sp>
      <p:sp>
        <p:nvSpPr>
          <p:cNvPr id="46" name="Freeform 46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3" name="AutoShape 2">
            <a:extLst>
              <a:ext uri="{FF2B5EF4-FFF2-40B4-BE49-F238E27FC236}">
                <a16:creationId xmlns:a16="http://schemas.microsoft.com/office/drawing/2014/main" id="{0F67776E-3E79-3875-2392-13E4E6D752C3}"/>
              </a:ext>
            </a:extLst>
          </p:cNvPr>
          <p:cNvSpPr/>
          <p:nvPr/>
        </p:nvSpPr>
        <p:spPr>
          <a:xfrm>
            <a:off x="894272" y="952500"/>
            <a:ext cx="265402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Box 21">
            <a:extLst>
              <a:ext uri="{FF2B5EF4-FFF2-40B4-BE49-F238E27FC236}">
                <a16:creationId xmlns:a16="http://schemas.microsoft.com/office/drawing/2014/main" id="{DCD551BD-F2F8-D9BB-3FE8-9FDADF04FE77}"/>
              </a:ext>
            </a:extLst>
          </p:cNvPr>
          <p:cNvSpPr txBox="1"/>
          <p:nvPr/>
        </p:nvSpPr>
        <p:spPr>
          <a:xfrm>
            <a:off x="881207" y="398628"/>
            <a:ext cx="3255124" cy="52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데이터 활용 결과</a:t>
            </a:r>
          </a:p>
        </p:txBody>
      </p:sp>
      <p:sp>
        <p:nvSpPr>
          <p:cNvPr id="56" name="슬라이드 번호 개체 틀 55">
            <a:extLst>
              <a:ext uri="{FF2B5EF4-FFF2-40B4-BE49-F238E27FC236}">
                <a16:creationId xmlns:a16="http://schemas.microsoft.com/office/drawing/2014/main" id="{D8B2A6BE-5974-2EC1-C95B-B3467F71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6BEF24C-FCBF-C83B-A1B0-104B3D253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321" y="3192620"/>
            <a:ext cx="3302079" cy="293309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268" y="3261164"/>
            <a:ext cx="3830679" cy="4338633"/>
            <a:chOff x="0" y="0"/>
            <a:chExt cx="1008903" cy="11426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8903" cy="1142685"/>
            </a:xfrm>
            <a:custGeom>
              <a:avLst/>
              <a:gdLst/>
              <a:ahLst/>
              <a:cxnLst/>
              <a:rect l="l" t="t" r="r" b="b"/>
              <a:pathLst>
                <a:path w="1008903" h="1142685">
                  <a:moveTo>
                    <a:pt x="40421" y="0"/>
                  </a:moveTo>
                  <a:lnTo>
                    <a:pt x="968483" y="0"/>
                  </a:lnTo>
                  <a:cubicBezTo>
                    <a:pt x="979203" y="0"/>
                    <a:pt x="989484" y="4259"/>
                    <a:pt x="997064" y="11839"/>
                  </a:cubicBezTo>
                  <a:cubicBezTo>
                    <a:pt x="1004645" y="19419"/>
                    <a:pt x="1008903" y="29700"/>
                    <a:pt x="1008903" y="40421"/>
                  </a:cubicBezTo>
                  <a:lnTo>
                    <a:pt x="1008903" y="1102265"/>
                  </a:lnTo>
                  <a:cubicBezTo>
                    <a:pt x="1008903" y="1112985"/>
                    <a:pt x="1004645" y="1123266"/>
                    <a:pt x="997064" y="1130846"/>
                  </a:cubicBezTo>
                  <a:cubicBezTo>
                    <a:pt x="989484" y="1138427"/>
                    <a:pt x="979203" y="1142685"/>
                    <a:pt x="968483" y="1142685"/>
                  </a:cubicBezTo>
                  <a:lnTo>
                    <a:pt x="40421" y="1142685"/>
                  </a:lnTo>
                  <a:cubicBezTo>
                    <a:pt x="29700" y="1142685"/>
                    <a:pt x="19419" y="1138427"/>
                    <a:pt x="11839" y="1130846"/>
                  </a:cubicBezTo>
                  <a:cubicBezTo>
                    <a:pt x="4259" y="1123266"/>
                    <a:pt x="0" y="1112985"/>
                    <a:pt x="0" y="1102265"/>
                  </a:cubicBezTo>
                  <a:lnTo>
                    <a:pt x="0" y="40421"/>
                  </a:lnTo>
                  <a:cubicBezTo>
                    <a:pt x="0" y="29700"/>
                    <a:pt x="4259" y="19419"/>
                    <a:pt x="11839" y="11839"/>
                  </a:cubicBezTo>
                  <a:cubicBezTo>
                    <a:pt x="19419" y="4259"/>
                    <a:pt x="29700" y="0"/>
                    <a:pt x="4042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008903" cy="1114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94861" y="3742870"/>
            <a:ext cx="2495594" cy="1609450"/>
            <a:chOff x="0" y="0"/>
            <a:chExt cx="662303" cy="4271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2303" cy="427130"/>
            </a:xfrm>
            <a:custGeom>
              <a:avLst/>
              <a:gdLst/>
              <a:ahLst/>
              <a:cxnLst/>
              <a:rect l="l" t="t" r="r" b="b"/>
              <a:pathLst>
                <a:path w="662303" h="427130">
                  <a:moveTo>
                    <a:pt x="93067" y="0"/>
                  </a:moveTo>
                  <a:lnTo>
                    <a:pt x="569236" y="0"/>
                  </a:lnTo>
                  <a:cubicBezTo>
                    <a:pt x="620635" y="0"/>
                    <a:pt x="662303" y="41668"/>
                    <a:pt x="662303" y="93067"/>
                  </a:cubicBezTo>
                  <a:lnTo>
                    <a:pt x="662303" y="334063"/>
                  </a:lnTo>
                  <a:cubicBezTo>
                    <a:pt x="662303" y="358746"/>
                    <a:pt x="652497" y="382418"/>
                    <a:pt x="635044" y="399871"/>
                  </a:cubicBezTo>
                  <a:cubicBezTo>
                    <a:pt x="617591" y="417325"/>
                    <a:pt x="593919" y="427130"/>
                    <a:pt x="569236" y="427130"/>
                  </a:cubicBezTo>
                  <a:lnTo>
                    <a:pt x="93067" y="427130"/>
                  </a:lnTo>
                  <a:cubicBezTo>
                    <a:pt x="41668" y="427130"/>
                    <a:pt x="0" y="385463"/>
                    <a:pt x="0" y="334063"/>
                  </a:cubicBezTo>
                  <a:lnTo>
                    <a:pt x="0" y="93067"/>
                  </a:lnTo>
                  <a:cubicBezTo>
                    <a:pt x="0" y="41668"/>
                    <a:pt x="41668" y="0"/>
                    <a:pt x="93067" y="0"/>
                  </a:cubicBezTo>
                  <a:close/>
                </a:path>
              </a:pathLst>
            </a:custGeom>
            <a:blipFill>
              <a:blip r:embed="rId2"/>
              <a:stretch>
                <a:fillRect t="-27529" b="-2752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49053" y="3261164"/>
            <a:ext cx="3830679" cy="4338633"/>
            <a:chOff x="0" y="0"/>
            <a:chExt cx="1008903" cy="11426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8903" cy="1142685"/>
            </a:xfrm>
            <a:custGeom>
              <a:avLst/>
              <a:gdLst/>
              <a:ahLst/>
              <a:cxnLst/>
              <a:rect l="l" t="t" r="r" b="b"/>
              <a:pathLst>
                <a:path w="1008903" h="1142685">
                  <a:moveTo>
                    <a:pt x="40421" y="0"/>
                  </a:moveTo>
                  <a:lnTo>
                    <a:pt x="968483" y="0"/>
                  </a:lnTo>
                  <a:cubicBezTo>
                    <a:pt x="979203" y="0"/>
                    <a:pt x="989484" y="4259"/>
                    <a:pt x="997064" y="11839"/>
                  </a:cubicBezTo>
                  <a:cubicBezTo>
                    <a:pt x="1004645" y="19419"/>
                    <a:pt x="1008903" y="29700"/>
                    <a:pt x="1008903" y="40421"/>
                  </a:cubicBezTo>
                  <a:lnTo>
                    <a:pt x="1008903" y="1102265"/>
                  </a:lnTo>
                  <a:cubicBezTo>
                    <a:pt x="1008903" y="1112985"/>
                    <a:pt x="1004645" y="1123266"/>
                    <a:pt x="997064" y="1130846"/>
                  </a:cubicBezTo>
                  <a:cubicBezTo>
                    <a:pt x="989484" y="1138427"/>
                    <a:pt x="979203" y="1142685"/>
                    <a:pt x="968483" y="1142685"/>
                  </a:cubicBezTo>
                  <a:lnTo>
                    <a:pt x="40421" y="1142685"/>
                  </a:lnTo>
                  <a:cubicBezTo>
                    <a:pt x="29700" y="1142685"/>
                    <a:pt x="19419" y="1138427"/>
                    <a:pt x="11839" y="1130846"/>
                  </a:cubicBezTo>
                  <a:cubicBezTo>
                    <a:pt x="4259" y="1123266"/>
                    <a:pt x="0" y="1112985"/>
                    <a:pt x="0" y="1102265"/>
                  </a:cubicBezTo>
                  <a:lnTo>
                    <a:pt x="0" y="40421"/>
                  </a:lnTo>
                  <a:cubicBezTo>
                    <a:pt x="0" y="29700"/>
                    <a:pt x="4259" y="19419"/>
                    <a:pt x="11839" y="11839"/>
                  </a:cubicBezTo>
                  <a:cubicBezTo>
                    <a:pt x="19419" y="4259"/>
                    <a:pt x="29700" y="0"/>
                    <a:pt x="4042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008903" cy="1114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630905" y="3742870"/>
            <a:ext cx="2505075" cy="1609725"/>
            <a:chOff x="0" y="0"/>
            <a:chExt cx="1105343" cy="7102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5343" cy="710278"/>
            </a:xfrm>
            <a:custGeom>
              <a:avLst/>
              <a:gdLst/>
              <a:ahLst/>
              <a:cxnLst/>
              <a:rect l="l" t="t" r="r" b="b"/>
              <a:pathLst>
                <a:path w="1105343" h="710278">
                  <a:moveTo>
                    <a:pt x="92715" y="0"/>
                  </a:moveTo>
                  <a:lnTo>
                    <a:pt x="1012629" y="0"/>
                  </a:lnTo>
                  <a:cubicBezTo>
                    <a:pt x="1063833" y="0"/>
                    <a:pt x="1105343" y="41510"/>
                    <a:pt x="1105343" y="92715"/>
                  </a:cubicBezTo>
                  <a:lnTo>
                    <a:pt x="1105343" y="617563"/>
                  </a:lnTo>
                  <a:cubicBezTo>
                    <a:pt x="1105343" y="668768"/>
                    <a:pt x="1063833" y="710278"/>
                    <a:pt x="1012629" y="710278"/>
                  </a:cubicBezTo>
                  <a:lnTo>
                    <a:pt x="92715" y="710278"/>
                  </a:lnTo>
                  <a:cubicBezTo>
                    <a:pt x="41510" y="710278"/>
                    <a:pt x="0" y="668768"/>
                    <a:pt x="0" y="617563"/>
                  </a:cubicBezTo>
                  <a:lnTo>
                    <a:pt x="0" y="92715"/>
                  </a:lnTo>
                  <a:cubicBezTo>
                    <a:pt x="0" y="41510"/>
                    <a:pt x="41510" y="0"/>
                    <a:pt x="92715" y="0"/>
                  </a:cubicBezTo>
                  <a:close/>
                </a:path>
              </a:pathLst>
            </a:custGeom>
            <a:blipFill>
              <a:blip r:embed="rId3"/>
              <a:stretch>
                <a:fillRect t="-27810" b="-2781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01047" y="3261164"/>
            <a:ext cx="4496691" cy="4338633"/>
            <a:chOff x="0" y="0"/>
            <a:chExt cx="1184314" cy="11426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4314" cy="1142685"/>
            </a:xfrm>
            <a:custGeom>
              <a:avLst/>
              <a:gdLst/>
              <a:ahLst/>
              <a:cxnLst/>
              <a:rect l="l" t="t" r="r" b="b"/>
              <a:pathLst>
                <a:path w="1184314" h="1142685">
                  <a:moveTo>
                    <a:pt x="34434" y="0"/>
                  </a:moveTo>
                  <a:lnTo>
                    <a:pt x="1149880" y="0"/>
                  </a:lnTo>
                  <a:cubicBezTo>
                    <a:pt x="1168897" y="0"/>
                    <a:pt x="1184314" y="15417"/>
                    <a:pt x="1184314" y="34434"/>
                  </a:cubicBezTo>
                  <a:lnTo>
                    <a:pt x="1184314" y="1108251"/>
                  </a:lnTo>
                  <a:cubicBezTo>
                    <a:pt x="1184314" y="1127268"/>
                    <a:pt x="1168897" y="1142685"/>
                    <a:pt x="1149880" y="1142685"/>
                  </a:cubicBezTo>
                  <a:lnTo>
                    <a:pt x="34434" y="1142685"/>
                  </a:lnTo>
                  <a:cubicBezTo>
                    <a:pt x="15417" y="1142685"/>
                    <a:pt x="0" y="1127268"/>
                    <a:pt x="0" y="1108251"/>
                  </a:cubicBezTo>
                  <a:lnTo>
                    <a:pt x="0" y="34434"/>
                  </a:lnTo>
                  <a:cubicBezTo>
                    <a:pt x="0" y="15417"/>
                    <a:pt x="15417" y="0"/>
                    <a:pt x="3443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184314" cy="1114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96855" y="3737471"/>
            <a:ext cx="2505075" cy="1614849"/>
            <a:chOff x="0" y="0"/>
            <a:chExt cx="662597" cy="4271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2597" cy="427130"/>
            </a:xfrm>
            <a:custGeom>
              <a:avLst/>
              <a:gdLst/>
              <a:ahLst/>
              <a:cxnLst/>
              <a:rect l="l" t="t" r="r" b="b"/>
              <a:pathLst>
                <a:path w="662597" h="427130">
                  <a:moveTo>
                    <a:pt x="92715" y="0"/>
                  </a:moveTo>
                  <a:lnTo>
                    <a:pt x="569882" y="0"/>
                  </a:lnTo>
                  <a:cubicBezTo>
                    <a:pt x="621087" y="0"/>
                    <a:pt x="662597" y="41510"/>
                    <a:pt x="662597" y="92715"/>
                  </a:cubicBezTo>
                  <a:lnTo>
                    <a:pt x="662597" y="334415"/>
                  </a:lnTo>
                  <a:cubicBezTo>
                    <a:pt x="662597" y="359005"/>
                    <a:pt x="652828" y="382587"/>
                    <a:pt x="635441" y="399975"/>
                  </a:cubicBezTo>
                  <a:cubicBezTo>
                    <a:pt x="618054" y="417362"/>
                    <a:pt x="594471" y="427130"/>
                    <a:pt x="569882" y="427130"/>
                  </a:cubicBezTo>
                  <a:lnTo>
                    <a:pt x="92715" y="427130"/>
                  </a:lnTo>
                  <a:cubicBezTo>
                    <a:pt x="41510" y="427130"/>
                    <a:pt x="0" y="385620"/>
                    <a:pt x="0" y="334415"/>
                  </a:cubicBezTo>
                  <a:lnTo>
                    <a:pt x="0" y="92715"/>
                  </a:lnTo>
                  <a:cubicBezTo>
                    <a:pt x="0" y="41510"/>
                    <a:pt x="41510" y="0"/>
                    <a:pt x="92715" y="0"/>
                  </a:cubicBezTo>
                  <a:close/>
                </a:path>
              </a:pathLst>
            </a:custGeom>
            <a:blipFill>
              <a:blip r:embed="rId4"/>
              <a:stretch>
                <a:fillRect t="-27563" b="-275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5.1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수요자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관점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예상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기대효과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1207" y="398628"/>
            <a:ext cx="162874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기대효과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62881" y="6065743"/>
            <a:ext cx="3321453" cy="110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9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2047" u="none" strike="noStrike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위반을 사전에 예방하여 </a:t>
            </a:r>
          </a:p>
          <a:p>
            <a:pPr marL="0" lvl="0" indent="0" algn="ctr">
              <a:lnSpc>
                <a:spcPts val="2969"/>
              </a:lnSpc>
            </a:pPr>
            <a:r>
              <a:rPr lang="en-US" sz="2047" u="none" strike="noStrike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불공정 거래 피해를 줄이고, </a:t>
            </a:r>
          </a:p>
          <a:p>
            <a:pPr marL="0" lvl="0" indent="0" algn="ctr">
              <a:lnSpc>
                <a:spcPts val="2969"/>
              </a:lnSpc>
            </a:pPr>
            <a:r>
              <a:rPr lang="en-US" sz="2047" u="none" strike="noStrike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시장 투명성을 높임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04382" y="5560283"/>
            <a:ext cx="2876550" cy="42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4"/>
              </a:lnSpc>
            </a:pPr>
            <a:r>
              <a:rPr lang="en-US" sz="2347" b="1" spc="-4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국민 관점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75737" y="6065743"/>
            <a:ext cx="4147312" cy="110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9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상황별</a:t>
            </a:r>
            <a:r>
              <a:rPr lang="en-US" sz="2047" u="none" strike="noStrike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리스크 진단과 근거 기반 보고서로 컴플라이언스 업무 효율성과 </a:t>
            </a:r>
          </a:p>
          <a:p>
            <a:pPr marL="0" lvl="0" indent="0" algn="ctr">
              <a:lnSpc>
                <a:spcPts val="2969"/>
              </a:lnSpc>
            </a:pPr>
            <a:r>
              <a:rPr lang="en-US" sz="2047" u="none" strike="noStrike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준법 경영 수준을 높임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11118" y="5560283"/>
            <a:ext cx="2876550" cy="42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4"/>
              </a:lnSpc>
            </a:pPr>
            <a:r>
              <a:rPr lang="en-US" sz="2347" b="1" spc="-4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 관점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957146" y="6065743"/>
            <a:ext cx="3814493" cy="110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9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기업의</a:t>
            </a:r>
            <a:r>
              <a:rPr lang="en-US" sz="2047" u="none" strike="noStrike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자율적 사전 예방을 유도하여 </a:t>
            </a:r>
          </a:p>
          <a:p>
            <a:pPr marL="0" lvl="0" indent="0" algn="ctr">
              <a:lnSpc>
                <a:spcPts val="2969"/>
              </a:lnSpc>
            </a:pPr>
            <a:r>
              <a:rPr lang="en-US" sz="2047" u="none" strike="noStrike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사후 제재 부담을 줄이고 </a:t>
            </a:r>
          </a:p>
          <a:p>
            <a:pPr marL="0" lvl="0" indent="0" algn="ctr">
              <a:lnSpc>
                <a:spcPts val="2969"/>
              </a:lnSpc>
            </a:pPr>
            <a:r>
              <a:rPr lang="en-US" sz="2047" u="none" strike="noStrike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 질서 확립에 기여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45168" y="5560283"/>
            <a:ext cx="2876550" cy="42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4"/>
              </a:lnSpc>
            </a:pPr>
            <a:r>
              <a:rPr lang="en-US" sz="2347" b="1" spc="-4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정부 관점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3266601" y="8691525"/>
            <a:ext cx="11754799" cy="566775"/>
            <a:chOff x="0" y="0"/>
            <a:chExt cx="3095914" cy="14927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95914" cy="149274"/>
            </a:xfrm>
            <a:custGeom>
              <a:avLst/>
              <a:gdLst/>
              <a:ahLst/>
              <a:cxnLst/>
              <a:rect l="l" t="t" r="r" b="b"/>
              <a:pathLst>
                <a:path w="3095914" h="149274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136102"/>
                  </a:lnTo>
                  <a:cubicBezTo>
                    <a:pt x="3095914" y="139595"/>
                    <a:pt x="3094526" y="142946"/>
                    <a:pt x="3092056" y="145416"/>
                  </a:cubicBezTo>
                  <a:cubicBezTo>
                    <a:pt x="3089586" y="147886"/>
                    <a:pt x="3086235" y="149274"/>
                    <a:pt x="3082742" y="149274"/>
                  </a:cubicBezTo>
                  <a:lnTo>
                    <a:pt x="13172" y="149274"/>
                  </a:lnTo>
                  <a:cubicBezTo>
                    <a:pt x="9679" y="149274"/>
                    <a:pt x="6328" y="147886"/>
                    <a:pt x="3858" y="145416"/>
                  </a:cubicBezTo>
                  <a:cubicBezTo>
                    <a:pt x="1388" y="142946"/>
                    <a:pt x="0" y="139595"/>
                    <a:pt x="0" y="136102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28575"/>
              <a:ext cx="3095914" cy="12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682971" y="8798355"/>
            <a:ext cx="10922057" cy="31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 위반 예방 역량을 높이고, 준법 문화 확산과 데이터 확장 기반을 마련</a:t>
            </a:r>
          </a:p>
        </p:txBody>
      </p:sp>
      <p:sp>
        <p:nvSpPr>
          <p:cNvPr id="30" name="Freeform 30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국민·기업·정부 관점 기대효과</a:t>
            </a:r>
          </a:p>
        </p:txBody>
      </p:sp>
      <p:sp>
        <p:nvSpPr>
          <p:cNvPr id="33" name="Freeform 33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FF2C1C58-798D-67F0-25A0-3B56B951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3266601" y="8837896"/>
            <a:ext cx="11754799" cy="1199093"/>
            <a:chOff x="0" y="0"/>
            <a:chExt cx="3095914" cy="3158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95914" cy="315810"/>
            </a:xfrm>
            <a:custGeom>
              <a:avLst/>
              <a:gdLst/>
              <a:ahLst/>
              <a:cxnLst/>
              <a:rect l="l" t="t" r="r" b="b"/>
              <a:pathLst>
                <a:path w="3095914" h="315810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302638"/>
                  </a:lnTo>
                  <a:cubicBezTo>
                    <a:pt x="3095914" y="306132"/>
                    <a:pt x="3094526" y="309482"/>
                    <a:pt x="3092056" y="311952"/>
                  </a:cubicBezTo>
                  <a:cubicBezTo>
                    <a:pt x="3089586" y="314423"/>
                    <a:pt x="3086235" y="315810"/>
                    <a:pt x="3082742" y="315810"/>
                  </a:cubicBezTo>
                  <a:lnTo>
                    <a:pt x="13172" y="315810"/>
                  </a:lnTo>
                  <a:cubicBezTo>
                    <a:pt x="9679" y="315810"/>
                    <a:pt x="6328" y="314423"/>
                    <a:pt x="3858" y="311952"/>
                  </a:cubicBezTo>
                  <a:cubicBezTo>
                    <a:pt x="1388" y="309482"/>
                    <a:pt x="0" y="306132"/>
                    <a:pt x="0" y="302638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3095914" cy="2872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4092868" y="3150396"/>
            <a:ext cx="10102264" cy="5291061"/>
          </a:xfrm>
          <a:custGeom>
            <a:avLst/>
            <a:gdLst/>
            <a:ahLst/>
            <a:cxnLst/>
            <a:rect l="l" t="t" r="r" b="b"/>
            <a:pathLst>
              <a:path w="10102264" h="5291061">
                <a:moveTo>
                  <a:pt x="0" y="0"/>
                </a:moveTo>
                <a:lnTo>
                  <a:pt x="10102264" y="0"/>
                </a:lnTo>
                <a:lnTo>
                  <a:pt x="10102264" y="5291060"/>
                </a:lnTo>
                <a:lnTo>
                  <a:pt x="0" y="5291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5.2 실제 적용한 결과 자체 평가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사용자 질문과 진단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5813" y="2426296"/>
            <a:ext cx="13056260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"협력업체들에 작업을 위탁하면서 정당한 사유 없이 모든 업체에 똑같은 비율로 단가를 깎아 하도급대금을 정했는데, 위반인가요?"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1328" y="8941825"/>
            <a:ext cx="10725345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spc="-3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4개 에이전트가 법령·의결서·판례·사례 각 관점에서 근거를 제시함(Confidence Score 85~90점)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이를 종합한 리스크 스코어는 75점·고위험으로, 정당한 사유 없이 일률적 비율로 단가를 인하한 행위가 하도급법 제4조 제2항 제1호 부당한 하도급대금 결정에 해당하고 인하액 지급·과징금·시정조치 위험이 있다는 </a:t>
            </a:r>
            <a:r>
              <a:rPr lang="en-US" sz="1800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결론이 실제 사안에 부합</a:t>
            </a: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함.</a:t>
            </a:r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7034AE8-F5BE-BCA1-C804-12A34E98C0A5}"/>
              </a:ext>
            </a:extLst>
          </p:cNvPr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D9908254-228C-B4DB-FB17-F89ACBA6B3E3}"/>
              </a:ext>
            </a:extLst>
          </p:cNvPr>
          <p:cNvSpPr txBox="1"/>
          <p:nvPr/>
        </p:nvSpPr>
        <p:spPr>
          <a:xfrm>
            <a:off x="881207" y="398628"/>
            <a:ext cx="162874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기대효과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6BEAEF48-58E7-789A-FD4D-19B7CD6F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549614" y="7868152"/>
            <a:ext cx="6181504" cy="1720896"/>
            <a:chOff x="0" y="0"/>
            <a:chExt cx="1628051" cy="453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8051" cy="453240"/>
            </a:xfrm>
            <a:custGeom>
              <a:avLst/>
              <a:gdLst/>
              <a:ahLst/>
              <a:cxnLst/>
              <a:rect l="l" t="t" r="r" b="b"/>
              <a:pathLst>
                <a:path w="1628051" h="453240">
                  <a:moveTo>
                    <a:pt x="25049" y="0"/>
                  </a:moveTo>
                  <a:lnTo>
                    <a:pt x="1603002" y="0"/>
                  </a:lnTo>
                  <a:cubicBezTo>
                    <a:pt x="1609645" y="0"/>
                    <a:pt x="1616016" y="2639"/>
                    <a:pt x="1620714" y="7337"/>
                  </a:cubicBezTo>
                  <a:cubicBezTo>
                    <a:pt x="1625412" y="12034"/>
                    <a:pt x="1628051" y="18405"/>
                    <a:pt x="1628051" y="25049"/>
                  </a:cubicBezTo>
                  <a:lnTo>
                    <a:pt x="1628051" y="428192"/>
                  </a:lnTo>
                  <a:cubicBezTo>
                    <a:pt x="1628051" y="442026"/>
                    <a:pt x="1616836" y="453240"/>
                    <a:pt x="1603002" y="453240"/>
                  </a:cubicBezTo>
                  <a:lnTo>
                    <a:pt x="25049" y="453240"/>
                  </a:lnTo>
                  <a:cubicBezTo>
                    <a:pt x="11215" y="453240"/>
                    <a:pt x="0" y="442026"/>
                    <a:pt x="0" y="428192"/>
                  </a:cubicBezTo>
                  <a:lnTo>
                    <a:pt x="0" y="25049"/>
                  </a:lnTo>
                  <a:cubicBezTo>
                    <a:pt x="0" y="11215"/>
                    <a:pt x="11215" y="0"/>
                    <a:pt x="25049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628051" cy="424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80535" y="8064817"/>
            <a:ext cx="5980152" cy="1327565"/>
            <a:chOff x="0" y="0"/>
            <a:chExt cx="1575019" cy="3496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5019" cy="349647"/>
            </a:xfrm>
            <a:custGeom>
              <a:avLst/>
              <a:gdLst/>
              <a:ahLst/>
              <a:cxnLst/>
              <a:rect l="l" t="t" r="r" b="b"/>
              <a:pathLst>
                <a:path w="1575019" h="349647">
                  <a:moveTo>
                    <a:pt x="25892" y="0"/>
                  </a:moveTo>
                  <a:lnTo>
                    <a:pt x="1549127" y="0"/>
                  </a:lnTo>
                  <a:cubicBezTo>
                    <a:pt x="1563427" y="0"/>
                    <a:pt x="1575019" y="11592"/>
                    <a:pt x="1575019" y="25892"/>
                  </a:cubicBezTo>
                  <a:lnTo>
                    <a:pt x="1575019" y="323755"/>
                  </a:lnTo>
                  <a:cubicBezTo>
                    <a:pt x="1575019" y="338055"/>
                    <a:pt x="1563427" y="349647"/>
                    <a:pt x="1549127" y="349647"/>
                  </a:cubicBezTo>
                  <a:lnTo>
                    <a:pt x="25892" y="349647"/>
                  </a:lnTo>
                  <a:cubicBezTo>
                    <a:pt x="11592" y="349647"/>
                    <a:pt x="0" y="338055"/>
                    <a:pt x="0" y="323755"/>
                  </a:cubicBezTo>
                  <a:lnTo>
                    <a:pt x="0" y="25892"/>
                  </a:lnTo>
                  <a:cubicBezTo>
                    <a:pt x="0" y="11592"/>
                    <a:pt x="11592" y="0"/>
                    <a:pt x="2589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575019" cy="32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1503997" y="3175714"/>
            <a:ext cx="6272738" cy="4085120"/>
          </a:xfrm>
          <a:custGeom>
            <a:avLst/>
            <a:gdLst/>
            <a:ahLst/>
            <a:cxnLst/>
            <a:rect l="l" t="t" r="r" b="b"/>
            <a:pathLst>
              <a:path w="6272738" h="4085120">
                <a:moveTo>
                  <a:pt x="0" y="0"/>
                </a:moveTo>
                <a:lnTo>
                  <a:pt x="6272738" y="0"/>
                </a:lnTo>
                <a:lnTo>
                  <a:pt x="6272738" y="4085120"/>
                </a:lnTo>
                <a:lnTo>
                  <a:pt x="0" y="4085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9762947" y="3175714"/>
            <a:ext cx="6215328" cy="3853503"/>
          </a:xfrm>
          <a:custGeom>
            <a:avLst/>
            <a:gdLst/>
            <a:ahLst/>
            <a:cxnLst/>
            <a:rect l="l" t="t" r="r" b="b"/>
            <a:pathLst>
              <a:path w="6215328" h="3853503">
                <a:moveTo>
                  <a:pt x="0" y="0"/>
                </a:moveTo>
                <a:lnTo>
                  <a:pt x="6215328" y="0"/>
                </a:lnTo>
                <a:lnTo>
                  <a:pt x="6215328" y="3853503"/>
                </a:lnTo>
                <a:lnTo>
                  <a:pt x="0" y="38535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5.2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실제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적용한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결과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자체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평가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관련 법령·의결서 근거 및 유사 사례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2520" y="8084710"/>
            <a:ext cx="5875692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하도급법 제4조 제2항 제1호(정당한 사유 없는 일률적 단가 인하 — 부당한 하도급대금 결정)를 </a:t>
            </a:r>
            <a:r>
              <a:rPr lang="en-US" sz="1800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핵심 근거로 정확히 식별</a:t>
            </a: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하여,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모든 수급사업자에 동일 비율로 단가를 인하한 행위가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부당한 대금 결정에 해당함을 제시함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00998" y="8241872"/>
            <a:ext cx="5539225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공정위 의결서 DB에서 동일 위반 유형(정당한 사유 없는 일률적 단가 인하)의 실제 제재 사례를 높은 유사도로 매칭하여,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 결론과 </a:t>
            </a:r>
            <a:r>
              <a:rPr lang="en-US" sz="1800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동일한 패턴의 선례가 존재함을 확인</a:t>
            </a: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</a:t>
            </a:r>
          </a:p>
        </p:txBody>
      </p:sp>
      <p:sp>
        <p:nvSpPr>
          <p:cNvPr id="24" name="AutoShape 17">
            <a:extLst>
              <a:ext uri="{FF2B5EF4-FFF2-40B4-BE49-F238E27FC236}">
                <a16:creationId xmlns:a16="http://schemas.microsoft.com/office/drawing/2014/main" id="{8765C03A-FA61-AA3B-06EF-C3567549E6FA}"/>
              </a:ext>
            </a:extLst>
          </p:cNvPr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F7DE334C-3DCB-4B67-06FB-5200EF533519}"/>
              </a:ext>
            </a:extLst>
          </p:cNvPr>
          <p:cNvSpPr txBox="1"/>
          <p:nvPr/>
        </p:nvSpPr>
        <p:spPr>
          <a:xfrm>
            <a:off x="881207" y="398628"/>
            <a:ext cx="162874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기대효과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C80D8D69-0B35-3421-0B77-F7F49205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635186" y="8409148"/>
            <a:ext cx="6188404" cy="1327565"/>
            <a:chOff x="0" y="0"/>
            <a:chExt cx="1629868" cy="3496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9868" cy="349647"/>
            </a:xfrm>
            <a:custGeom>
              <a:avLst/>
              <a:gdLst/>
              <a:ahLst/>
              <a:cxnLst/>
              <a:rect l="l" t="t" r="r" b="b"/>
              <a:pathLst>
                <a:path w="1629868" h="349647">
                  <a:moveTo>
                    <a:pt x="25021" y="0"/>
                  </a:moveTo>
                  <a:lnTo>
                    <a:pt x="1604847" y="0"/>
                  </a:lnTo>
                  <a:cubicBezTo>
                    <a:pt x="1618666" y="0"/>
                    <a:pt x="1629868" y="11202"/>
                    <a:pt x="1629868" y="25021"/>
                  </a:cubicBezTo>
                  <a:lnTo>
                    <a:pt x="1629868" y="324626"/>
                  </a:lnTo>
                  <a:cubicBezTo>
                    <a:pt x="1629868" y="338445"/>
                    <a:pt x="1618666" y="349647"/>
                    <a:pt x="1604847" y="349647"/>
                  </a:cubicBezTo>
                  <a:lnTo>
                    <a:pt x="25021" y="349647"/>
                  </a:lnTo>
                  <a:cubicBezTo>
                    <a:pt x="11202" y="349647"/>
                    <a:pt x="0" y="338445"/>
                    <a:pt x="0" y="324626"/>
                  </a:cubicBezTo>
                  <a:lnTo>
                    <a:pt x="0" y="25021"/>
                  </a:lnTo>
                  <a:cubicBezTo>
                    <a:pt x="0" y="11202"/>
                    <a:pt x="11202" y="0"/>
                    <a:pt x="2502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629868" cy="32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21778" y="8382506"/>
            <a:ext cx="5475712" cy="1327565"/>
            <a:chOff x="0" y="0"/>
            <a:chExt cx="1442163" cy="3496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42163" cy="349647"/>
            </a:xfrm>
            <a:custGeom>
              <a:avLst/>
              <a:gdLst/>
              <a:ahLst/>
              <a:cxnLst/>
              <a:rect l="l" t="t" r="r" b="b"/>
              <a:pathLst>
                <a:path w="1442163" h="349647">
                  <a:moveTo>
                    <a:pt x="28277" y="0"/>
                  </a:moveTo>
                  <a:lnTo>
                    <a:pt x="1413886" y="0"/>
                  </a:lnTo>
                  <a:cubicBezTo>
                    <a:pt x="1421385" y="0"/>
                    <a:pt x="1428578" y="2979"/>
                    <a:pt x="1433881" y="8282"/>
                  </a:cubicBezTo>
                  <a:cubicBezTo>
                    <a:pt x="1439184" y="13585"/>
                    <a:pt x="1442163" y="20778"/>
                    <a:pt x="1442163" y="28277"/>
                  </a:cubicBezTo>
                  <a:lnTo>
                    <a:pt x="1442163" y="321370"/>
                  </a:lnTo>
                  <a:cubicBezTo>
                    <a:pt x="1442163" y="328869"/>
                    <a:pt x="1439184" y="336062"/>
                    <a:pt x="1433881" y="341365"/>
                  </a:cubicBezTo>
                  <a:cubicBezTo>
                    <a:pt x="1428578" y="346668"/>
                    <a:pt x="1421385" y="349647"/>
                    <a:pt x="1413886" y="349647"/>
                  </a:cubicBezTo>
                  <a:lnTo>
                    <a:pt x="28277" y="349647"/>
                  </a:lnTo>
                  <a:cubicBezTo>
                    <a:pt x="20778" y="349647"/>
                    <a:pt x="13585" y="346668"/>
                    <a:pt x="8282" y="341365"/>
                  </a:cubicBezTo>
                  <a:cubicBezTo>
                    <a:pt x="2979" y="336062"/>
                    <a:pt x="0" y="328869"/>
                    <a:pt x="0" y="321370"/>
                  </a:cubicBezTo>
                  <a:lnTo>
                    <a:pt x="0" y="28277"/>
                  </a:lnTo>
                  <a:cubicBezTo>
                    <a:pt x="0" y="20778"/>
                    <a:pt x="2979" y="13585"/>
                    <a:pt x="8282" y="8282"/>
                  </a:cubicBezTo>
                  <a:cubicBezTo>
                    <a:pt x="13585" y="2979"/>
                    <a:pt x="20778" y="0"/>
                    <a:pt x="2827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442163" cy="32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1278840" y="4606345"/>
            <a:ext cx="6901097" cy="1966813"/>
          </a:xfrm>
          <a:custGeom>
            <a:avLst/>
            <a:gdLst/>
            <a:ahLst/>
            <a:cxnLst/>
            <a:rect l="l" t="t" r="r" b="b"/>
            <a:pathLst>
              <a:path w="6901097" h="1966813">
                <a:moveTo>
                  <a:pt x="0" y="0"/>
                </a:moveTo>
                <a:lnTo>
                  <a:pt x="6901097" y="0"/>
                </a:lnTo>
                <a:lnTo>
                  <a:pt x="6901097" y="1966812"/>
                </a:lnTo>
                <a:lnTo>
                  <a:pt x="0" y="1966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9984303" y="2341559"/>
            <a:ext cx="5950661" cy="5318404"/>
          </a:xfrm>
          <a:custGeom>
            <a:avLst/>
            <a:gdLst/>
            <a:ahLst/>
            <a:cxnLst/>
            <a:rect l="l" t="t" r="r" b="b"/>
            <a:pathLst>
              <a:path w="5950661" h="5318404">
                <a:moveTo>
                  <a:pt x="0" y="0"/>
                </a:moveTo>
                <a:lnTo>
                  <a:pt x="5950662" y="0"/>
                </a:lnTo>
                <a:lnTo>
                  <a:pt x="5950662" y="5318404"/>
                </a:lnTo>
                <a:lnTo>
                  <a:pt x="0" y="5318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5.2 실제 적용한 결과 자체 평가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법리 해석과 컴플라이언스 체크리스트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88264" y="8612845"/>
            <a:ext cx="5882250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정당한 사유 없는 일률적 단가 인하가 하도급법 제4조 제2항 제1호 부당한 하도급대금 결정에 해당한다는 점에서,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 결론과 일관된 법리적 근거를 제시하여 신뢰성을 높임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7226" y="8743366"/>
            <a:ext cx="5204816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사유 확인·계약서 검토·법률 자문을 필수 항목으로 도출하여, </a:t>
            </a:r>
            <a:r>
              <a:rPr lang="en-US" sz="1800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 결과를 실무 대응까지 연결</a:t>
            </a: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</a:t>
            </a:r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D4342E14-82C4-F100-A04F-2452822C4631}"/>
              </a:ext>
            </a:extLst>
          </p:cNvPr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90C43A98-9E62-8E15-08DB-EB665DBA05B3}"/>
              </a:ext>
            </a:extLst>
          </p:cNvPr>
          <p:cNvSpPr txBox="1"/>
          <p:nvPr/>
        </p:nvSpPr>
        <p:spPr>
          <a:xfrm>
            <a:off x="881207" y="398628"/>
            <a:ext cx="162874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기대효과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5452848C-775A-2F12-34FA-754827C6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0316" y="3067592"/>
            <a:ext cx="5652882" cy="2917622"/>
            <a:chOff x="0" y="0"/>
            <a:chExt cx="1488825" cy="7684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8825" cy="768427"/>
            </a:xfrm>
            <a:custGeom>
              <a:avLst/>
              <a:gdLst/>
              <a:ahLst/>
              <a:cxnLst/>
              <a:rect l="l" t="t" r="r" b="b"/>
              <a:pathLst>
                <a:path w="1488825" h="768427">
                  <a:moveTo>
                    <a:pt x="27391" y="0"/>
                  </a:moveTo>
                  <a:lnTo>
                    <a:pt x="1461434" y="0"/>
                  </a:lnTo>
                  <a:cubicBezTo>
                    <a:pt x="1468698" y="0"/>
                    <a:pt x="1475665" y="2886"/>
                    <a:pt x="1480802" y="8023"/>
                  </a:cubicBezTo>
                  <a:cubicBezTo>
                    <a:pt x="1485939" y="13159"/>
                    <a:pt x="1488825" y="20126"/>
                    <a:pt x="1488825" y="27391"/>
                  </a:cubicBezTo>
                  <a:lnTo>
                    <a:pt x="1488825" y="741036"/>
                  </a:lnTo>
                  <a:cubicBezTo>
                    <a:pt x="1488825" y="748301"/>
                    <a:pt x="1485939" y="755268"/>
                    <a:pt x="1480802" y="760405"/>
                  </a:cubicBezTo>
                  <a:cubicBezTo>
                    <a:pt x="1475665" y="765541"/>
                    <a:pt x="1468698" y="768427"/>
                    <a:pt x="1461434" y="768427"/>
                  </a:cubicBezTo>
                  <a:lnTo>
                    <a:pt x="27391" y="768427"/>
                  </a:lnTo>
                  <a:cubicBezTo>
                    <a:pt x="20126" y="768427"/>
                    <a:pt x="13159" y="765541"/>
                    <a:pt x="8023" y="760405"/>
                  </a:cubicBezTo>
                  <a:cubicBezTo>
                    <a:pt x="2886" y="755268"/>
                    <a:pt x="0" y="748301"/>
                    <a:pt x="0" y="741036"/>
                  </a:cubicBezTo>
                  <a:lnTo>
                    <a:pt x="0" y="27391"/>
                  </a:lnTo>
                  <a:cubicBezTo>
                    <a:pt x="0" y="20126"/>
                    <a:pt x="2886" y="13159"/>
                    <a:pt x="8023" y="8023"/>
                  </a:cubicBezTo>
                  <a:cubicBezTo>
                    <a:pt x="13159" y="2886"/>
                    <a:pt x="20126" y="0"/>
                    <a:pt x="2739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488825" cy="739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7375" y="3117881"/>
            <a:ext cx="812226" cy="812226"/>
          </a:xfrm>
          <a:custGeom>
            <a:avLst/>
            <a:gdLst/>
            <a:ahLst/>
            <a:cxnLst/>
            <a:rect l="l" t="t" r="r" b="b"/>
            <a:pathLst>
              <a:path w="812226" h="812226">
                <a:moveTo>
                  <a:pt x="0" y="0"/>
                </a:moveTo>
                <a:lnTo>
                  <a:pt x="812227" y="0"/>
                </a:lnTo>
                <a:lnTo>
                  <a:pt x="812227" y="812226"/>
                </a:lnTo>
                <a:lnTo>
                  <a:pt x="0" y="812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20" t="-5720" r="-5720" b="-572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 flipV="1">
            <a:off x="9144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6094620" y="3072172"/>
            <a:ext cx="5875821" cy="2917622"/>
            <a:chOff x="0" y="0"/>
            <a:chExt cx="1547541" cy="7684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7541" cy="768427"/>
            </a:xfrm>
            <a:custGeom>
              <a:avLst/>
              <a:gdLst/>
              <a:ahLst/>
              <a:cxnLst/>
              <a:rect l="l" t="t" r="r" b="b"/>
              <a:pathLst>
                <a:path w="1547541" h="768427">
                  <a:moveTo>
                    <a:pt x="26352" y="0"/>
                  </a:moveTo>
                  <a:lnTo>
                    <a:pt x="1521190" y="0"/>
                  </a:lnTo>
                  <a:cubicBezTo>
                    <a:pt x="1535743" y="0"/>
                    <a:pt x="1547541" y="11798"/>
                    <a:pt x="1547541" y="26352"/>
                  </a:cubicBezTo>
                  <a:lnTo>
                    <a:pt x="1547541" y="742075"/>
                  </a:lnTo>
                  <a:cubicBezTo>
                    <a:pt x="1547541" y="749064"/>
                    <a:pt x="1544765" y="755767"/>
                    <a:pt x="1539823" y="760709"/>
                  </a:cubicBezTo>
                  <a:cubicBezTo>
                    <a:pt x="1534881" y="765651"/>
                    <a:pt x="1528179" y="768427"/>
                    <a:pt x="1521190" y="768427"/>
                  </a:cubicBezTo>
                  <a:lnTo>
                    <a:pt x="26352" y="768427"/>
                  </a:lnTo>
                  <a:cubicBezTo>
                    <a:pt x="11798" y="768427"/>
                    <a:pt x="0" y="756629"/>
                    <a:pt x="0" y="742075"/>
                  </a:cubicBezTo>
                  <a:lnTo>
                    <a:pt x="0" y="26352"/>
                  </a:lnTo>
                  <a:cubicBezTo>
                    <a:pt x="0" y="19363"/>
                    <a:pt x="2776" y="12660"/>
                    <a:pt x="7718" y="7718"/>
                  </a:cubicBezTo>
                  <a:cubicBezTo>
                    <a:pt x="12660" y="2776"/>
                    <a:pt x="19363" y="0"/>
                    <a:pt x="2635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547541" cy="739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239329" y="3138223"/>
            <a:ext cx="771543" cy="771543"/>
          </a:xfrm>
          <a:custGeom>
            <a:avLst/>
            <a:gdLst/>
            <a:ahLst/>
            <a:cxnLst/>
            <a:rect l="l" t="t" r="r" b="b"/>
            <a:pathLst>
              <a:path w="771543" h="771543">
                <a:moveTo>
                  <a:pt x="0" y="0"/>
                </a:moveTo>
                <a:lnTo>
                  <a:pt x="771542" y="0"/>
                </a:lnTo>
                <a:lnTo>
                  <a:pt x="771542" y="771542"/>
                </a:lnTo>
                <a:lnTo>
                  <a:pt x="0" y="771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80" t="-5780" r="-5780" b="-5780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3614352" y="7365600"/>
            <a:ext cx="11059296" cy="2081632"/>
            <a:chOff x="0" y="0"/>
            <a:chExt cx="891718" cy="1678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1718" cy="167843"/>
            </a:xfrm>
            <a:custGeom>
              <a:avLst/>
              <a:gdLst/>
              <a:ahLst/>
              <a:cxnLst/>
              <a:rect l="l" t="t" r="r" b="b"/>
              <a:pathLst>
                <a:path w="891718" h="167843">
                  <a:moveTo>
                    <a:pt x="27345" y="0"/>
                  </a:moveTo>
                  <a:lnTo>
                    <a:pt x="864373" y="0"/>
                  </a:lnTo>
                  <a:cubicBezTo>
                    <a:pt x="871625" y="0"/>
                    <a:pt x="878580" y="2881"/>
                    <a:pt x="883709" y="8009"/>
                  </a:cubicBezTo>
                  <a:cubicBezTo>
                    <a:pt x="888837" y="13137"/>
                    <a:pt x="891718" y="20093"/>
                    <a:pt x="891718" y="27345"/>
                  </a:cubicBezTo>
                  <a:lnTo>
                    <a:pt x="891718" y="140498"/>
                  </a:lnTo>
                  <a:cubicBezTo>
                    <a:pt x="891718" y="147750"/>
                    <a:pt x="888837" y="154706"/>
                    <a:pt x="883709" y="159834"/>
                  </a:cubicBezTo>
                  <a:cubicBezTo>
                    <a:pt x="878580" y="164962"/>
                    <a:pt x="871625" y="167843"/>
                    <a:pt x="864373" y="167843"/>
                  </a:cubicBezTo>
                  <a:lnTo>
                    <a:pt x="27345" y="167843"/>
                  </a:lnTo>
                  <a:cubicBezTo>
                    <a:pt x="20093" y="167843"/>
                    <a:pt x="13137" y="164962"/>
                    <a:pt x="8009" y="159834"/>
                  </a:cubicBezTo>
                  <a:cubicBezTo>
                    <a:pt x="2881" y="154706"/>
                    <a:pt x="0" y="147750"/>
                    <a:pt x="0" y="140498"/>
                  </a:cubicBezTo>
                  <a:lnTo>
                    <a:pt x="0" y="27345"/>
                  </a:lnTo>
                  <a:cubicBezTo>
                    <a:pt x="0" y="20093"/>
                    <a:pt x="2881" y="13137"/>
                    <a:pt x="8009" y="8009"/>
                  </a:cubicBezTo>
                  <a:cubicBezTo>
                    <a:pt x="13137" y="2881"/>
                    <a:pt x="20093" y="0"/>
                    <a:pt x="27345" y="0"/>
                  </a:cubicBezTo>
                  <a:close/>
                </a:path>
              </a:pathLst>
            </a:custGeom>
            <a:solidFill>
              <a:srgbClr val="A3BFDB">
                <a:alpha val="43922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891718" cy="224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030697" y="7397134"/>
            <a:ext cx="794903" cy="794903"/>
          </a:xfrm>
          <a:custGeom>
            <a:avLst/>
            <a:gdLst/>
            <a:ahLst/>
            <a:cxnLst/>
            <a:rect l="l" t="t" r="r" b="b"/>
            <a:pathLst>
              <a:path w="794903" h="794903">
                <a:moveTo>
                  <a:pt x="0" y="0"/>
                </a:moveTo>
                <a:lnTo>
                  <a:pt x="794904" y="0"/>
                </a:lnTo>
                <a:lnTo>
                  <a:pt x="794904" y="794903"/>
                </a:lnTo>
                <a:lnTo>
                  <a:pt x="0" y="794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22" t="-5722" r="-5722" b="-5722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2191863" y="3067592"/>
            <a:ext cx="5875821" cy="2917622"/>
            <a:chOff x="0" y="0"/>
            <a:chExt cx="1547541" cy="76842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47541" cy="768427"/>
            </a:xfrm>
            <a:custGeom>
              <a:avLst/>
              <a:gdLst/>
              <a:ahLst/>
              <a:cxnLst/>
              <a:rect l="l" t="t" r="r" b="b"/>
              <a:pathLst>
                <a:path w="1547541" h="768427">
                  <a:moveTo>
                    <a:pt x="26352" y="0"/>
                  </a:moveTo>
                  <a:lnTo>
                    <a:pt x="1521190" y="0"/>
                  </a:lnTo>
                  <a:cubicBezTo>
                    <a:pt x="1535743" y="0"/>
                    <a:pt x="1547541" y="11798"/>
                    <a:pt x="1547541" y="26352"/>
                  </a:cubicBezTo>
                  <a:lnTo>
                    <a:pt x="1547541" y="742075"/>
                  </a:lnTo>
                  <a:cubicBezTo>
                    <a:pt x="1547541" y="749064"/>
                    <a:pt x="1544765" y="755767"/>
                    <a:pt x="1539823" y="760709"/>
                  </a:cubicBezTo>
                  <a:cubicBezTo>
                    <a:pt x="1534881" y="765651"/>
                    <a:pt x="1528179" y="768427"/>
                    <a:pt x="1521190" y="768427"/>
                  </a:cubicBezTo>
                  <a:lnTo>
                    <a:pt x="26352" y="768427"/>
                  </a:lnTo>
                  <a:cubicBezTo>
                    <a:pt x="11798" y="768427"/>
                    <a:pt x="0" y="756629"/>
                    <a:pt x="0" y="742075"/>
                  </a:cubicBezTo>
                  <a:lnTo>
                    <a:pt x="0" y="26352"/>
                  </a:lnTo>
                  <a:cubicBezTo>
                    <a:pt x="0" y="19363"/>
                    <a:pt x="2776" y="12660"/>
                    <a:pt x="7718" y="7718"/>
                  </a:cubicBezTo>
                  <a:cubicBezTo>
                    <a:pt x="12660" y="2776"/>
                    <a:pt x="19363" y="0"/>
                    <a:pt x="2635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547541" cy="739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2300961" y="3174460"/>
            <a:ext cx="625491" cy="614808"/>
          </a:xfrm>
          <a:custGeom>
            <a:avLst/>
            <a:gdLst/>
            <a:ahLst/>
            <a:cxnLst/>
            <a:rect l="l" t="t" r="r" b="b"/>
            <a:pathLst>
              <a:path w="625491" h="614808">
                <a:moveTo>
                  <a:pt x="0" y="0"/>
                </a:moveTo>
                <a:lnTo>
                  <a:pt x="625490" y="0"/>
                </a:lnTo>
                <a:lnTo>
                  <a:pt x="625490" y="614807"/>
                </a:lnTo>
                <a:lnTo>
                  <a:pt x="0" y="6148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200" r="-3920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284029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6.1 구현의 한계와 교훈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1206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향후</a:t>
            </a: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사항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구현의 한계와 교훈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8450" y="3882482"/>
            <a:ext cx="5336630" cy="1460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공정위 의결서에서 총 과징금이 개별 행위별로 세분화되지 않아 산정 과정에서 한계 존재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생성 데이터의 법령·의결서 출처 부정확성 발견, 수작업 보정 필요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9658" y="3263547"/>
            <a:ext cx="2876550" cy="37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구축 한계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06781" y="3844382"/>
            <a:ext cx="5493277" cy="183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 해석 에이전트의 적용 법령 범위가 넓게 산출되어 정확도 개선 필요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멀티에이전트 구조 특성상 응답 생성 시간 최적화 필요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에이전트 간 판단이 상충할 경우, 명시적 규칙이 아닌 LLM   판단에 따라 매 실행마다 출력결과가 달라짐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66102" y="3263547"/>
            <a:ext cx="3273681" cy="37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멀티에이전트 기술 구현 한계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37792" y="7953779"/>
            <a:ext cx="9871678" cy="114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8941" lvl="1" indent="-199471" algn="l">
              <a:lnSpc>
                <a:spcPts val="3141"/>
              </a:lnSpc>
              <a:buFont typeface="Arial"/>
              <a:buChar char="•"/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기반 데이터 생성에서는 수작업 검증 단계가 필수적이며, 구조화된 검증 프로세스로 발전 필요</a:t>
            </a:r>
          </a:p>
          <a:p>
            <a:pPr marL="398941" lvl="1" indent="-199471" algn="l">
              <a:lnSpc>
                <a:spcPts val="3141"/>
              </a:lnSpc>
              <a:buFont typeface="Arial"/>
              <a:buChar char="•"/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멀티에이전트 구조는 일관된 판단 도출에 효과적이나, 에이전트 간 역할 경계의 명확화 필요</a:t>
            </a:r>
          </a:p>
          <a:p>
            <a:pPr marL="398941" lvl="1" indent="-199471" algn="l">
              <a:lnSpc>
                <a:spcPts val="3141"/>
              </a:lnSpc>
              <a:buFont typeface="Arial"/>
              <a:buChar char="•"/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 도메인 특화 서비스의 신뢰성 확보를 위해 지속적인 데이터 보강과 법령 업데이트 체계 구축 중요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10122" y="7557219"/>
            <a:ext cx="2876550" cy="37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교훈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86686" y="3824040"/>
            <a:ext cx="5245189" cy="183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외부 검색(MCP) 시, 내부 검색 목적으로 재작성된 쿼리를 그대로 사용할 경우 검색 품질이 저하되는 문제를 확인하여 MCP 전용 쿼리 재작성 단계를 별도로 추가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MCP 모듈의 검색 결과에는 관련도 평가 및 재순위화 단계 부재, 추후 후처리 구조 고도화 필요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935976" y="3263547"/>
            <a:ext cx="3273681" cy="37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검색 기술 구현 한계</a:t>
            </a:r>
          </a:p>
        </p:txBody>
      </p: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6FFC9F32-58E5-455F-C655-325AFB1E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2987484" y="2894800"/>
            <a:ext cx="5471329" cy="2604022"/>
            <a:chOff x="0" y="0"/>
            <a:chExt cx="1441009" cy="6858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241159" y="3212648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9829187" y="2894800"/>
            <a:ext cx="5471329" cy="2604022"/>
            <a:chOff x="0" y="0"/>
            <a:chExt cx="1441009" cy="6858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165834" y="3193598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987484" y="5717896"/>
            <a:ext cx="5471329" cy="2604022"/>
            <a:chOff x="0" y="0"/>
            <a:chExt cx="1441009" cy="6858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241159" y="5970689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6" name="Group 16"/>
          <p:cNvGrpSpPr/>
          <p:nvPr/>
        </p:nvGrpSpPr>
        <p:grpSpPr>
          <a:xfrm>
            <a:off x="9829187" y="5717896"/>
            <a:ext cx="5471329" cy="2604022"/>
            <a:chOff x="0" y="0"/>
            <a:chExt cx="1441009" cy="6858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137259" y="5951639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2840291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6.2 활용 데이터 및 참고문헌 출처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출처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09287" y="3753705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공정거래위원회 원문 자료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09287" y="6552279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통계 및 행정자료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32509" y="3715605"/>
            <a:ext cx="359862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법령·판례·결정문 자료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32509" y="6514179"/>
            <a:ext cx="46646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보조 참고자료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09287" y="4176667"/>
            <a:ext cx="4404490" cy="79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공개본</a:t>
            </a: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의결서</a:t>
            </a:r>
          </a:p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보도자료 및 설명자료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32509" y="4176667"/>
            <a:ext cx="4404490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국가법령정보 공동활용 OPEN API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09287" y="6976212"/>
            <a:ext cx="4404490" cy="79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「2024년</a:t>
            </a: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통계연보」</a:t>
            </a:r>
          </a:p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데이터포털 통계 간행물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32509" y="6966687"/>
            <a:ext cx="4404490" cy="79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「과징금고시」 개정안</a:t>
            </a: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행정예고 자료</a:t>
            </a:r>
          </a:p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정책·보도자료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AutoShape 6">
            <a:extLst>
              <a:ext uri="{FF2B5EF4-FFF2-40B4-BE49-F238E27FC236}">
                <a16:creationId xmlns:a16="http://schemas.microsoft.com/office/drawing/2014/main" id="{0E5E4DBC-33B7-0EF8-EF6A-38E2B56B751A}"/>
              </a:ext>
            </a:extLst>
          </p:cNvPr>
          <p:cNvSpPr/>
          <p:nvPr/>
        </p:nvSpPr>
        <p:spPr>
          <a:xfrm flipV="1">
            <a:off x="9144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23FC8EC3-54E3-4C98-A319-A6557C96D4E4}"/>
              </a:ext>
            </a:extLst>
          </p:cNvPr>
          <p:cNvSpPr txBox="1"/>
          <p:nvPr/>
        </p:nvSpPr>
        <p:spPr>
          <a:xfrm>
            <a:off x="881206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향후</a:t>
            </a: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사항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7" name="슬라이드 번호 개체 틀 36">
            <a:extLst>
              <a:ext uri="{FF2B5EF4-FFF2-40B4-BE49-F238E27FC236}">
                <a16:creationId xmlns:a16="http://schemas.microsoft.com/office/drawing/2014/main" id="{EC7846AA-A5AA-7D73-DBEA-BCF56DBB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76885" y="4886633"/>
            <a:ext cx="2334230" cy="570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22"/>
              </a:lnSpc>
            </a:pPr>
            <a:r>
              <a:rPr lang="en-US" sz="4139" b="1" spc="-82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감사합니다</a:t>
            </a:r>
            <a:endParaRPr lang="en-US" sz="4139" b="1" spc="-82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037771" y="9808109"/>
            <a:ext cx="3750241" cy="25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서비스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</p:txBody>
      </p:sp>
      <p:sp>
        <p:nvSpPr>
          <p:cNvPr id="5" name="Freeform 5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hlinkClick r:id="rId3"/>
            <a:extLst>
              <a:ext uri="{FF2B5EF4-FFF2-40B4-BE49-F238E27FC236}">
                <a16:creationId xmlns:a16="http://schemas.microsoft.com/office/drawing/2014/main" id="{DE7557E4-ECC3-C351-A3B7-D21F684D3F5E}"/>
              </a:ext>
            </a:extLst>
          </p:cNvPr>
          <p:cNvSpPr txBox="1"/>
          <p:nvPr/>
        </p:nvSpPr>
        <p:spPr>
          <a:xfrm>
            <a:off x="17234144" y="9721557"/>
            <a:ext cx="990600" cy="42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51"/>
              </a:lnSpc>
              <a:spcBef>
                <a:spcPct val="0"/>
              </a:spcBef>
            </a:pPr>
            <a:r>
              <a:rPr lang="ko-KR" altLang="en-US" sz="2100" b="1" u="sng" spc="-86" dirty="0">
                <a:solidFill>
                  <a:schemeClr val="accent1">
                    <a:lumMod val="75000"/>
                  </a:schemeClr>
                </a:solidFill>
                <a:latin typeface="프리텐다드 Bold"/>
                <a:ea typeface="프리텐다드 Bold"/>
                <a:cs typeface="프리텐다드 Bold"/>
                <a:sym typeface="프리텐다드"/>
              </a:rPr>
              <a:t>헤아림</a:t>
            </a:r>
            <a:endParaRPr lang="ko-KR" altLang="en-US" sz="2100" b="1" u="sng" spc="-86" dirty="0">
              <a:solidFill>
                <a:schemeClr val="accent1">
                  <a:lumMod val="75000"/>
                </a:schemeClr>
              </a:solidFill>
              <a:latin typeface="프리텐다드 Bold"/>
              <a:ea typeface="프리텐다드 Bold"/>
              <a:cs typeface="프리텐다드 Bol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F77ED-509E-0EAF-7159-CEEBECB2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43E12D-2A4E-EACF-E7B1-E5373A0D8190}"/>
              </a:ext>
            </a:extLst>
          </p:cNvPr>
          <p:cNvSpPr/>
          <p:nvPr/>
        </p:nvSpPr>
        <p:spPr>
          <a:xfrm rot="-5400000">
            <a:off x="17574786" y="382159"/>
            <a:ext cx="71874" cy="319441"/>
          </a:xfrm>
          <a:custGeom>
            <a:avLst/>
            <a:gdLst/>
            <a:ahLst/>
            <a:cxnLst/>
            <a:rect l="l" t="t" r="r" b="b"/>
            <a:pathLst>
              <a:path w="71874" h="319441">
                <a:moveTo>
                  <a:pt x="0" y="0"/>
                </a:moveTo>
                <a:lnTo>
                  <a:pt x="71875" y="0"/>
                </a:lnTo>
                <a:lnTo>
                  <a:pt x="71875" y="319441"/>
                </a:lnTo>
                <a:lnTo>
                  <a:pt x="0" y="319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A8D4336-04F1-1CC6-8807-1FFDED9EC943}"/>
              </a:ext>
            </a:extLst>
          </p:cNvPr>
          <p:cNvGrpSpPr/>
          <p:nvPr/>
        </p:nvGrpSpPr>
        <p:grpSpPr>
          <a:xfrm>
            <a:off x="1028700" y="6963678"/>
            <a:ext cx="2318646" cy="583671"/>
            <a:chOff x="0" y="0"/>
            <a:chExt cx="610672" cy="1537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A345C9-CC9A-DDD0-AE04-2A7B4ED6F285}"/>
                </a:ext>
              </a:extLst>
            </p:cNvPr>
            <p:cNvSpPr/>
            <p:nvPr/>
          </p:nvSpPr>
          <p:spPr>
            <a:xfrm>
              <a:off x="0" y="0"/>
              <a:ext cx="610672" cy="153724"/>
            </a:xfrm>
            <a:custGeom>
              <a:avLst/>
              <a:gdLst/>
              <a:ahLst/>
              <a:cxnLst/>
              <a:rect l="l" t="t" r="r" b="b"/>
              <a:pathLst>
                <a:path w="610672" h="153724">
                  <a:moveTo>
                    <a:pt x="66780" y="0"/>
                  </a:moveTo>
                  <a:lnTo>
                    <a:pt x="543892" y="0"/>
                  </a:lnTo>
                  <a:cubicBezTo>
                    <a:pt x="580774" y="0"/>
                    <a:pt x="610672" y="29898"/>
                    <a:pt x="610672" y="66780"/>
                  </a:cubicBezTo>
                  <a:lnTo>
                    <a:pt x="610672" y="86944"/>
                  </a:lnTo>
                  <a:cubicBezTo>
                    <a:pt x="610672" y="123826"/>
                    <a:pt x="580774" y="153724"/>
                    <a:pt x="543892" y="153724"/>
                  </a:cubicBezTo>
                  <a:lnTo>
                    <a:pt x="66780" y="153724"/>
                  </a:lnTo>
                  <a:cubicBezTo>
                    <a:pt x="29898" y="153724"/>
                    <a:pt x="0" y="123826"/>
                    <a:pt x="0" y="86944"/>
                  </a:cubicBezTo>
                  <a:lnTo>
                    <a:pt x="0" y="66780"/>
                  </a:lnTo>
                  <a:cubicBezTo>
                    <a:pt x="0" y="29898"/>
                    <a:pt x="29898" y="0"/>
                    <a:pt x="66780" y="0"/>
                  </a:cubicBez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E508B94-2AE8-93C9-12CB-07E5167BFD54}"/>
                </a:ext>
              </a:extLst>
            </p:cNvPr>
            <p:cNvSpPr txBox="1"/>
            <p:nvPr/>
          </p:nvSpPr>
          <p:spPr>
            <a:xfrm>
              <a:off x="0" y="9525"/>
              <a:ext cx="610672" cy="14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b="1" spc="-39" dirty="0" err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호박죽</a:t>
              </a:r>
              <a:endParaRPr lang="en-US" sz="1988" b="1" spc="-39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6B817B6-9159-FD7E-B8C9-3D0F07CCBFBF}"/>
              </a:ext>
            </a:extLst>
          </p:cNvPr>
          <p:cNvSpPr txBox="1"/>
          <p:nvPr/>
        </p:nvSpPr>
        <p:spPr>
          <a:xfrm>
            <a:off x="1028700" y="6339895"/>
            <a:ext cx="9451301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RAG · MCP ·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멀티에이전트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(MAS)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기반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상황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맞춤형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리스크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및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법리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해석</a:t>
            </a:r>
            <a:r>
              <a:rPr lang="en-US" sz="2000" b="1" spc="-82" dirty="0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000" b="1" spc="-82" dirty="0" err="1">
                <a:solidFill>
                  <a:srgbClr val="333333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프레임워크</a:t>
            </a:r>
            <a:endParaRPr lang="en-US" sz="2000" b="1" spc="-82" dirty="0">
              <a:solidFill>
                <a:srgbClr val="333333">
                  <a:alpha val="93725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001BF97B-4240-2B39-9499-E625A6CCC9B5}"/>
              </a:ext>
            </a:extLst>
          </p:cNvPr>
          <p:cNvSpPr txBox="1"/>
          <p:nvPr/>
        </p:nvSpPr>
        <p:spPr>
          <a:xfrm>
            <a:off x="1028700" y="3197850"/>
            <a:ext cx="8402142" cy="43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4"/>
              </a:lnSpc>
            </a:pPr>
            <a:r>
              <a:rPr lang="en-US" sz="3142" b="1" spc="-62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AI </a:t>
            </a:r>
            <a:r>
              <a:rPr lang="en-US" sz="3142" b="1" spc="-62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기반</a:t>
            </a:r>
            <a:r>
              <a:rPr lang="en-US" sz="3142" b="1" spc="-62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3142" b="1" spc="-62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</a:t>
            </a:r>
            <a:r>
              <a:rPr lang="en-US" sz="3142" b="1" spc="-62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3142" b="1" spc="-62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</a:t>
            </a:r>
            <a:r>
              <a:rPr lang="en-US" sz="3142" b="1" spc="-62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3142" b="1" spc="-62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리스크</a:t>
            </a:r>
            <a:r>
              <a:rPr lang="en-US" sz="3142" b="1" spc="-62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3142" b="1" spc="-62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</a:t>
            </a:r>
            <a:r>
              <a:rPr lang="en-US" sz="3142" b="1" spc="-62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3142" b="1" spc="-62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서비스</a:t>
            </a:r>
            <a:endParaRPr lang="en-US" sz="3142" b="1" spc="-62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B338118D-53DA-32D7-D386-E9C3915E90F1}"/>
              </a:ext>
            </a:extLst>
          </p:cNvPr>
          <p:cNvSpPr txBox="1"/>
          <p:nvPr/>
        </p:nvSpPr>
        <p:spPr>
          <a:xfrm>
            <a:off x="1028700" y="4061077"/>
            <a:ext cx="4725650" cy="190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08"/>
              </a:lnSpc>
            </a:pPr>
            <a:r>
              <a:rPr lang="en-US" sz="14027" b="1" spc="-280" dirty="0" err="1">
                <a:solidFill>
                  <a:srgbClr val="454C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</a:t>
            </a:r>
            <a:endParaRPr lang="en-US" sz="14027" b="1" spc="-280" dirty="0">
              <a:solidFill>
                <a:srgbClr val="454CD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3A399149-AEDC-4C25-8887-3B44472C6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001" y="2518511"/>
            <a:ext cx="7744743" cy="688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88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69458" y="3734199"/>
            <a:ext cx="8323097" cy="4161548"/>
          </a:xfrm>
          <a:custGeom>
            <a:avLst/>
            <a:gdLst/>
            <a:ahLst/>
            <a:cxnLst/>
            <a:rect l="l" t="t" r="r" b="b"/>
            <a:pathLst>
              <a:path w="8323097" h="4161548">
                <a:moveTo>
                  <a:pt x="0" y="0"/>
                </a:moveTo>
                <a:lnTo>
                  <a:pt x="8323097" y="0"/>
                </a:lnTo>
                <a:lnTo>
                  <a:pt x="8323097" y="4161548"/>
                </a:lnTo>
                <a:lnTo>
                  <a:pt x="0" y="4161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755699"/>
            <a:ext cx="7762423" cy="295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분야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분쟁조정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접수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2024년 1,795건 / </a:t>
            </a:r>
            <a:r>
              <a:rPr lang="en-US" sz="2199" b="1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전년</a:t>
            </a:r>
            <a:r>
              <a:rPr lang="en-US" sz="2199" b="1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199" b="1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대비</a:t>
            </a:r>
            <a:r>
              <a:rPr lang="en-US" sz="2199" b="1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31% </a:t>
            </a:r>
            <a:r>
              <a:rPr lang="en-US" sz="2199" b="1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증가</a:t>
            </a:r>
            <a:endParaRPr lang="en-US" sz="2199" b="1" spc="-43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760887" y="7909560"/>
            <a:ext cx="5557655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출처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: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한국공정거래조정원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2024년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분쟁조정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실적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발표</a:t>
            </a:r>
            <a:endParaRPr lang="en-US" sz="1100" spc="-22" dirty="0">
              <a:solidFill>
                <a:srgbClr val="333333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altLang="ko-KR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1.1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 분쟁 증가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빠르게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늘고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있는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분쟁</a:t>
            </a:r>
            <a:endParaRPr lang="en-US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3266601" y="8749187"/>
            <a:ext cx="11754799" cy="566775"/>
            <a:chOff x="0" y="0"/>
            <a:chExt cx="3095914" cy="1492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95914" cy="149274"/>
            </a:xfrm>
            <a:custGeom>
              <a:avLst/>
              <a:gdLst/>
              <a:ahLst/>
              <a:cxnLst/>
              <a:rect l="l" t="t" r="r" b="b"/>
              <a:pathLst>
                <a:path w="3095914" h="149274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136102"/>
                  </a:lnTo>
                  <a:cubicBezTo>
                    <a:pt x="3095914" y="139595"/>
                    <a:pt x="3094526" y="142946"/>
                    <a:pt x="3092056" y="145416"/>
                  </a:cubicBezTo>
                  <a:cubicBezTo>
                    <a:pt x="3089586" y="147886"/>
                    <a:pt x="3086235" y="149274"/>
                    <a:pt x="3082742" y="149274"/>
                  </a:cubicBezTo>
                  <a:lnTo>
                    <a:pt x="13172" y="149274"/>
                  </a:lnTo>
                  <a:cubicBezTo>
                    <a:pt x="9679" y="149274"/>
                    <a:pt x="6328" y="147886"/>
                    <a:pt x="3858" y="145416"/>
                  </a:cubicBezTo>
                  <a:cubicBezTo>
                    <a:pt x="1388" y="142946"/>
                    <a:pt x="0" y="139595"/>
                    <a:pt x="0" y="136102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3095914" cy="12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682971" y="8856017"/>
            <a:ext cx="10922057" cy="31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 분야 분쟁은 최근 3년간 </a:t>
            </a:r>
            <a:r>
              <a:rPr lang="en-US" sz="1847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지속적으로 증가</a:t>
            </a:r>
            <a:r>
              <a:rPr lang="en-US" sz="1847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하고 있음</a:t>
            </a:r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63302C51-1229-250C-B1B3-C2F9A3968208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29B954E9-117E-C693-CCF3-3910BE362ADA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ko-KR" alt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배경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B15CD995-7579-4583-A141-80F2CCC5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152525" y="2625725"/>
            <a:ext cx="11010020" cy="295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1"/>
              </a:lnSpc>
              <a:spcBef>
                <a:spcPct val="0"/>
              </a:spcBef>
            </a:pPr>
            <a:r>
              <a:rPr lang="en-US" sz="2199" u="none" strike="noStrike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2026년 </a:t>
            </a:r>
            <a:r>
              <a:rPr lang="en-US" sz="2199" u="none" strike="noStrike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</a:t>
            </a:r>
            <a:r>
              <a:rPr lang="en-US" sz="2199" u="none" strike="noStrike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u="none" strike="noStrike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과징금</a:t>
            </a:r>
            <a:r>
              <a:rPr lang="en-US" sz="2199" u="none" strike="noStrike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u="none" strike="noStrike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고시</a:t>
            </a:r>
            <a:r>
              <a:rPr lang="en-US" sz="2199" u="none" strike="noStrike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u="none" strike="noStrike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개정안에</a:t>
            </a:r>
            <a:r>
              <a:rPr lang="en-US" sz="2199" u="none" strike="noStrike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u="none" strike="noStrike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따라</a:t>
            </a:r>
            <a:r>
              <a:rPr lang="en-US" sz="2199" u="none" strike="noStrike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b="1" u="none" strike="noStrike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기업의</a:t>
            </a:r>
            <a:r>
              <a:rPr lang="en-US" sz="2199" b="1" u="none" strike="noStrike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199" b="1" u="none" strike="noStrike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과징금</a:t>
            </a:r>
            <a:r>
              <a:rPr lang="en-US" sz="2199" b="1" u="none" strike="noStrike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199" b="1" u="none" strike="noStrike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부담이</a:t>
            </a:r>
            <a:r>
              <a:rPr lang="en-US" sz="2199" b="1" u="none" strike="noStrike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199" b="1" u="none" strike="noStrike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크게</a:t>
            </a:r>
            <a:r>
              <a:rPr lang="en-US" sz="2199" b="1" u="none" strike="noStrike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199" b="1" u="none" strike="noStrike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강화됨</a:t>
            </a:r>
            <a:endParaRPr lang="en-US" sz="2199" b="1" u="none" strike="noStrike" spc="-43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1.2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과징금 제재 강화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제도적 변화 : 과징금 제재 강화</a:t>
            </a:r>
          </a:p>
        </p:txBody>
      </p:sp>
      <p:sp>
        <p:nvSpPr>
          <p:cNvPr id="25" name="Freeform 25"/>
          <p:cNvSpPr/>
          <p:nvPr/>
        </p:nvSpPr>
        <p:spPr>
          <a:xfrm>
            <a:off x="5405946" y="4991100"/>
            <a:ext cx="7476108" cy="1616708"/>
          </a:xfrm>
          <a:custGeom>
            <a:avLst/>
            <a:gdLst/>
            <a:ahLst/>
            <a:cxnLst/>
            <a:rect l="l" t="t" r="r" b="b"/>
            <a:pathLst>
              <a:path w="7476108" h="1616708">
                <a:moveTo>
                  <a:pt x="0" y="0"/>
                </a:moveTo>
                <a:lnTo>
                  <a:pt x="7476108" y="0"/>
                </a:lnTo>
                <a:lnTo>
                  <a:pt x="7476108" y="1616709"/>
                </a:lnTo>
                <a:lnTo>
                  <a:pt x="0" y="16167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5663651" y="6714751"/>
            <a:ext cx="7218403" cy="24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84"/>
              </a:lnSpc>
            </a:pPr>
            <a:r>
              <a:rPr lang="en-US" sz="1389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</a:t>
            </a:r>
            <a:r>
              <a:rPr lang="en-US" sz="1389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「</a:t>
            </a:r>
            <a:r>
              <a:rPr lang="en-US" sz="1389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과징금</a:t>
            </a:r>
            <a:r>
              <a:rPr lang="en-US" sz="1389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389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고시</a:t>
            </a:r>
            <a:r>
              <a:rPr lang="en-US" sz="1389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389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개정안</a:t>
            </a:r>
            <a:r>
              <a:rPr lang="en-US" sz="1389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389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행정예고</a:t>
            </a:r>
            <a:r>
              <a:rPr lang="en-US" sz="1389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」, 2026.3.9.</a:t>
            </a:r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AD289227-C5D4-653C-6B7E-769D37EF41A3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CF43C833-40CE-623E-276E-DFB4F911706D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04C39F5F-AB4F-75F3-604D-7F1EF91B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263496BD-3B66-5CB2-F6BA-BD5210CE2075}"/>
              </a:ext>
            </a:extLst>
          </p:cNvPr>
          <p:cNvGrpSpPr/>
          <p:nvPr/>
        </p:nvGrpSpPr>
        <p:grpSpPr>
          <a:xfrm>
            <a:off x="3266601" y="8572500"/>
            <a:ext cx="11754799" cy="566775"/>
            <a:chOff x="0" y="0"/>
            <a:chExt cx="3095914" cy="14927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BE540681-3DFE-6026-61FE-62476F25B1FC}"/>
                </a:ext>
              </a:extLst>
            </p:cNvPr>
            <p:cNvSpPr/>
            <p:nvPr/>
          </p:nvSpPr>
          <p:spPr>
            <a:xfrm>
              <a:off x="0" y="0"/>
              <a:ext cx="3095914" cy="149274"/>
            </a:xfrm>
            <a:custGeom>
              <a:avLst/>
              <a:gdLst/>
              <a:ahLst/>
              <a:cxnLst/>
              <a:rect l="l" t="t" r="r" b="b"/>
              <a:pathLst>
                <a:path w="3095914" h="149274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136102"/>
                  </a:lnTo>
                  <a:cubicBezTo>
                    <a:pt x="3095914" y="139595"/>
                    <a:pt x="3094526" y="142946"/>
                    <a:pt x="3092056" y="145416"/>
                  </a:cubicBezTo>
                  <a:cubicBezTo>
                    <a:pt x="3089586" y="147886"/>
                    <a:pt x="3086235" y="149274"/>
                    <a:pt x="3082742" y="149274"/>
                  </a:cubicBezTo>
                  <a:lnTo>
                    <a:pt x="13172" y="149274"/>
                  </a:lnTo>
                  <a:cubicBezTo>
                    <a:pt x="9679" y="149274"/>
                    <a:pt x="6328" y="147886"/>
                    <a:pt x="3858" y="145416"/>
                  </a:cubicBezTo>
                  <a:cubicBezTo>
                    <a:pt x="1388" y="142946"/>
                    <a:pt x="0" y="139595"/>
                    <a:pt x="0" y="136102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14">
              <a:extLst>
                <a:ext uri="{FF2B5EF4-FFF2-40B4-BE49-F238E27FC236}">
                  <a16:creationId xmlns:a16="http://schemas.microsoft.com/office/drawing/2014/main" id="{BFBAAEF4-5C36-9A7A-FDB1-F78008ABE2C2}"/>
                </a:ext>
              </a:extLst>
            </p:cNvPr>
            <p:cNvSpPr txBox="1"/>
            <p:nvPr/>
          </p:nvSpPr>
          <p:spPr>
            <a:xfrm>
              <a:off x="0" y="28575"/>
              <a:ext cx="3095914" cy="12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15">
            <a:extLst>
              <a:ext uri="{FF2B5EF4-FFF2-40B4-BE49-F238E27FC236}">
                <a16:creationId xmlns:a16="http://schemas.microsoft.com/office/drawing/2014/main" id="{539D8342-5386-10DB-8BB1-DA6BF6665E59}"/>
              </a:ext>
            </a:extLst>
          </p:cNvPr>
          <p:cNvSpPr txBox="1"/>
          <p:nvPr/>
        </p:nvSpPr>
        <p:spPr>
          <a:xfrm>
            <a:off x="3682971" y="8679330"/>
            <a:ext cx="10922057" cy="31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수사에 협조해도 처벌 </a:t>
            </a:r>
            <a:r>
              <a:rPr lang="ko-KR" altLang="en-US" sz="1847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감경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폭이 </a:t>
            </a:r>
            <a:r>
              <a:rPr lang="ko-KR" altLang="en-US" sz="1847" b="1" spc="-36" dirty="0">
                <a:solidFill>
                  <a:srgbClr val="000000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  <a:sym typeface="프리텐다드"/>
              </a:rPr>
              <a:t>절반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으로 줄어듦 </a:t>
            </a:r>
            <a:endParaRPr lang="en-US" sz="1847" spc="-36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1.2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과징금 제재 강화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제도적 변화 : 반복 위반 시 제재 강화</a:t>
            </a:r>
          </a:p>
        </p:txBody>
      </p:sp>
      <p:sp>
        <p:nvSpPr>
          <p:cNvPr id="24" name="Freeform 24"/>
          <p:cNvSpPr/>
          <p:nvPr/>
        </p:nvSpPr>
        <p:spPr>
          <a:xfrm>
            <a:off x="5257800" y="4556802"/>
            <a:ext cx="8030722" cy="1144378"/>
          </a:xfrm>
          <a:custGeom>
            <a:avLst/>
            <a:gdLst/>
            <a:ahLst/>
            <a:cxnLst/>
            <a:rect l="l" t="t" r="r" b="b"/>
            <a:pathLst>
              <a:path w="8030722" h="1144378">
                <a:moveTo>
                  <a:pt x="0" y="0"/>
                </a:moveTo>
                <a:lnTo>
                  <a:pt x="8030722" y="0"/>
                </a:lnTo>
                <a:lnTo>
                  <a:pt x="8030722" y="1144378"/>
                </a:lnTo>
                <a:lnTo>
                  <a:pt x="0" y="1144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5383614" y="5797009"/>
            <a:ext cx="7904908" cy="26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3"/>
              </a:lnSpc>
            </a:pP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「</a:t>
            </a: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과징금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고시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개정안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행정예고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」, 2026.3.9.</a:t>
            </a:r>
          </a:p>
        </p:txBody>
      </p:sp>
      <p:sp>
        <p:nvSpPr>
          <p:cNvPr id="27" name="AutoShape 2">
            <a:extLst>
              <a:ext uri="{FF2B5EF4-FFF2-40B4-BE49-F238E27FC236}">
                <a16:creationId xmlns:a16="http://schemas.microsoft.com/office/drawing/2014/main" id="{340A59D1-AE57-9CF9-1743-FA1EE049D530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4485F5BD-BFCB-B1C2-3480-388A1110D58B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0" name="슬라이드 번호 개체 틀 29">
            <a:extLst>
              <a:ext uri="{FF2B5EF4-FFF2-40B4-BE49-F238E27FC236}">
                <a16:creationId xmlns:a16="http://schemas.microsoft.com/office/drawing/2014/main" id="{387E6286-4730-DB4F-4BBB-91C39486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28" name="Group 12">
            <a:extLst>
              <a:ext uri="{FF2B5EF4-FFF2-40B4-BE49-F238E27FC236}">
                <a16:creationId xmlns:a16="http://schemas.microsoft.com/office/drawing/2014/main" id="{63DC13BD-F78D-5FEE-1B61-511B961B2ED5}"/>
              </a:ext>
            </a:extLst>
          </p:cNvPr>
          <p:cNvGrpSpPr/>
          <p:nvPr/>
        </p:nvGrpSpPr>
        <p:grpSpPr>
          <a:xfrm>
            <a:off x="3266601" y="8572500"/>
            <a:ext cx="11754799" cy="566775"/>
            <a:chOff x="0" y="0"/>
            <a:chExt cx="3095914" cy="149274"/>
          </a:xfrm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F7F946B3-685C-23A6-AF25-FE1C973ED8EC}"/>
                </a:ext>
              </a:extLst>
            </p:cNvPr>
            <p:cNvSpPr/>
            <p:nvPr/>
          </p:nvSpPr>
          <p:spPr>
            <a:xfrm>
              <a:off x="0" y="0"/>
              <a:ext cx="3095914" cy="149274"/>
            </a:xfrm>
            <a:custGeom>
              <a:avLst/>
              <a:gdLst/>
              <a:ahLst/>
              <a:cxnLst/>
              <a:rect l="l" t="t" r="r" b="b"/>
              <a:pathLst>
                <a:path w="3095914" h="149274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136102"/>
                  </a:lnTo>
                  <a:cubicBezTo>
                    <a:pt x="3095914" y="139595"/>
                    <a:pt x="3094526" y="142946"/>
                    <a:pt x="3092056" y="145416"/>
                  </a:cubicBezTo>
                  <a:cubicBezTo>
                    <a:pt x="3089586" y="147886"/>
                    <a:pt x="3086235" y="149274"/>
                    <a:pt x="3082742" y="149274"/>
                  </a:cubicBezTo>
                  <a:lnTo>
                    <a:pt x="13172" y="149274"/>
                  </a:lnTo>
                  <a:cubicBezTo>
                    <a:pt x="9679" y="149274"/>
                    <a:pt x="6328" y="147886"/>
                    <a:pt x="3858" y="145416"/>
                  </a:cubicBezTo>
                  <a:cubicBezTo>
                    <a:pt x="1388" y="142946"/>
                    <a:pt x="0" y="139595"/>
                    <a:pt x="0" y="136102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14">
              <a:extLst>
                <a:ext uri="{FF2B5EF4-FFF2-40B4-BE49-F238E27FC236}">
                  <a16:creationId xmlns:a16="http://schemas.microsoft.com/office/drawing/2014/main" id="{27612876-66E3-A994-FD0E-C99E96483513}"/>
                </a:ext>
              </a:extLst>
            </p:cNvPr>
            <p:cNvSpPr txBox="1"/>
            <p:nvPr/>
          </p:nvSpPr>
          <p:spPr>
            <a:xfrm>
              <a:off x="0" y="28575"/>
              <a:ext cx="3095914" cy="12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15">
            <a:extLst>
              <a:ext uri="{FF2B5EF4-FFF2-40B4-BE49-F238E27FC236}">
                <a16:creationId xmlns:a16="http://schemas.microsoft.com/office/drawing/2014/main" id="{0571EE6D-0C5C-6FF9-6CE0-A1F34E6D08E3}"/>
              </a:ext>
            </a:extLst>
          </p:cNvPr>
          <p:cNvSpPr txBox="1"/>
          <p:nvPr/>
        </p:nvSpPr>
        <p:spPr>
          <a:xfrm>
            <a:off x="3682971" y="8679330"/>
            <a:ext cx="10922057" cy="31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위반을 반복하면 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  <a:sym typeface="프리텐다드"/>
              </a:rPr>
              <a:t>과징금이 최대 </a:t>
            </a:r>
            <a:r>
              <a:rPr lang="en-US" altLang="ko-KR" sz="1847" spc="-36" dirty="0">
                <a:solidFill>
                  <a:srgbClr val="000000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  <a:sym typeface="프리텐다드"/>
              </a:rPr>
              <a:t>2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  <a:sym typeface="프리텐다드"/>
              </a:rPr>
              <a:t>배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까지 늘어남</a:t>
            </a:r>
            <a:endParaRPr lang="en-US" altLang="ko-KR" sz="1847" spc="-36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F1A5-1817-B83A-669D-3E2243D0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>
            <a:extLst>
              <a:ext uri="{FF2B5EF4-FFF2-40B4-BE49-F238E27FC236}">
                <a16:creationId xmlns:a16="http://schemas.microsoft.com/office/drawing/2014/main" id="{73C37781-E17C-F217-36CA-84F748EC6B91}"/>
              </a:ext>
            </a:extLst>
          </p:cNvPr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1.2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과징금 제재 강화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21E7ECA-7A15-0731-9A32-B4C9521E6FAA}"/>
              </a:ext>
            </a:extLst>
          </p:cNvPr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436DCB2-AB8D-B89A-DF81-EE37F71B7D27}"/>
              </a:ext>
            </a:extLst>
          </p:cNvPr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제도적 변화 : 반복 위반 시 제재 강화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3C89B898-EB11-C65C-43C9-DCFAF087502C}"/>
              </a:ext>
            </a:extLst>
          </p:cNvPr>
          <p:cNvSpPr/>
          <p:nvPr/>
        </p:nvSpPr>
        <p:spPr>
          <a:xfrm>
            <a:off x="5257800" y="4556802"/>
            <a:ext cx="8030722" cy="1144378"/>
          </a:xfrm>
          <a:custGeom>
            <a:avLst/>
            <a:gdLst/>
            <a:ahLst/>
            <a:cxnLst/>
            <a:rect l="l" t="t" r="r" b="b"/>
            <a:pathLst>
              <a:path w="8030722" h="1144378">
                <a:moveTo>
                  <a:pt x="0" y="0"/>
                </a:moveTo>
                <a:lnTo>
                  <a:pt x="8030722" y="0"/>
                </a:lnTo>
                <a:lnTo>
                  <a:pt x="8030722" y="1144378"/>
                </a:lnTo>
                <a:lnTo>
                  <a:pt x="0" y="1144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0D85CAF-901F-9FCD-20D5-784B2F638862}"/>
              </a:ext>
            </a:extLst>
          </p:cNvPr>
          <p:cNvSpPr txBox="1"/>
          <p:nvPr/>
        </p:nvSpPr>
        <p:spPr>
          <a:xfrm>
            <a:off x="5383614" y="5797009"/>
            <a:ext cx="7904908" cy="26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3"/>
              </a:lnSpc>
            </a:pP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「</a:t>
            </a: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과징금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고시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개정안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02" spc="-28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행정예고</a:t>
            </a:r>
            <a:r>
              <a:rPr lang="en-US" sz="1402" spc="-28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」, 2026.3.9.</a:t>
            </a:r>
          </a:p>
        </p:txBody>
      </p:sp>
      <p:sp>
        <p:nvSpPr>
          <p:cNvPr id="27" name="AutoShape 2">
            <a:extLst>
              <a:ext uri="{FF2B5EF4-FFF2-40B4-BE49-F238E27FC236}">
                <a16:creationId xmlns:a16="http://schemas.microsoft.com/office/drawing/2014/main" id="{3D94A051-72E0-0E9C-2C02-39B0F72BBD52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227F80CC-4371-756D-6CDC-2991119B20A3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0" name="슬라이드 번호 개체 틀 29">
            <a:extLst>
              <a:ext uri="{FF2B5EF4-FFF2-40B4-BE49-F238E27FC236}">
                <a16:creationId xmlns:a16="http://schemas.microsoft.com/office/drawing/2014/main" id="{13B7865A-AEF2-60FD-67BF-AE4D233D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grpSp>
        <p:nvGrpSpPr>
          <p:cNvPr id="28" name="Group 12">
            <a:extLst>
              <a:ext uri="{FF2B5EF4-FFF2-40B4-BE49-F238E27FC236}">
                <a16:creationId xmlns:a16="http://schemas.microsoft.com/office/drawing/2014/main" id="{DBB29DC8-EA2E-80E5-7079-62B7A7E42953}"/>
              </a:ext>
            </a:extLst>
          </p:cNvPr>
          <p:cNvGrpSpPr/>
          <p:nvPr/>
        </p:nvGrpSpPr>
        <p:grpSpPr>
          <a:xfrm>
            <a:off x="3266601" y="8572500"/>
            <a:ext cx="11754799" cy="566775"/>
            <a:chOff x="0" y="0"/>
            <a:chExt cx="3095914" cy="149274"/>
          </a:xfrm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F3EF99A4-EE6C-35DA-6E10-3B83BABFF020}"/>
                </a:ext>
              </a:extLst>
            </p:cNvPr>
            <p:cNvSpPr/>
            <p:nvPr/>
          </p:nvSpPr>
          <p:spPr>
            <a:xfrm>
              <a:off x="0" y="0"/>
              <a:ext cx="3095914" cy="149274"/>
            </a:xfrm>
            <a:custGeom>
              <a:avLst/>
              <a:gdLst/>
              <a:ahLst/>
              <a:cxnLst/>
              <a:rect l="l" t="t" r="r" b="b"/>
              <a:pathLst>
                <a:path w="3095914" h="149274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136102"/>
                  </a:lnTo>
                  <a:cubicBezTo>
                    <a:pt x="3095914" y="139595"/>
                    <a:pt x="3094526" y="142946"/>
                    <a:pt x="3092056" y="145416"/>
                  </a:cubicBezTo>
                  <a:cubicBezTo>
                    <a:pt x="3089586" y="147886"/>
                    <a:pt x="3086235" y="149274"/>
                    <a:pt x="3082742" y="149274"/>
                  </a:cubicBezTo>
                  <a:lnTo>
                    <a:pt x="13172" y="149274"/>
                  </a:lnTo>
                  <a:cubicBezTo>
                    <a:pt x="9679" y="149274"/>
                    <a:pt x="6328" y="147886"/>
                    <a:pt x="3858" y="145416"/>
                  </a:cubicBezTo>
                  <a:cubicBezTo>
                    <a:pt x="1388" y="142946"/>
                    <a:pt x="0" y="139595"/>
                    <a:pt x="0" y="136102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14">
              <a:extLst>
                <a:ext uri="{FF2B5EF4-FFF2-40B4-BE49-F238E27FC236}">
                  <a16:creationId xmlns:a16="http://schemas.microsoft.com/office/drawing/2014/main" id="{33C3EF6C-4017-F4E5-11AD-72CA69BD7EAA}"/>
                </a:ext>
              </a:extLst>
            </p:cNvPr>
            <p:cNvSpPr txBox="1"/>
            <p:nvPr/>
          </p:nvSpPr>
          <p:spPr>
            <a:xfrm>
              <a:off x="0" y="28575"/>
              <a:ext cx="3095914" cy="12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15">
            <a:extLst>
              <a:ext uri="{FF2B5EF4-FFF2-40B4-BE49-F238E27FC236}">
                <a16:creationId xmlns:a16="http://schemas.microsoft.com/office/drawing/2014/main" id="{A47A4CF7-6672-732A-9AFC-CB73052AA84F}"/>
              </a:ext>
            </a:extLst>
          </p:cNvPr>
          <p:cNvSpPr txBox="1"/>
          <p:nvPr/>
        </p:nvSpPr>
        <p:spPr>
          <a:xfrm>
            <a:off x="3682971" y="8679330"/>
            <a:ext cx="10922057" cy="31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위반을 반복하면 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  <a:sym typeface="프리텐다드"/>
              </a:rPr>
              <a:t>과징금이 최대 </a:t>
            </a:r>
            <a:r>
              <a:rPr lang="en-US" altLang="ko-KR" sz="1847" spc="-36" dirty="0">
                <a:solidFill>
                  <a:srgbClr val="000000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  <a:sym typeface="프리텐다드"/>
              </a:rPr>
              <a:t>2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  <a:sym typeface="프리텐다드"/>
              </a:rPr>
              <a:t>배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까지 늘어남</a:t>
            </a:r>
            <a:endParaRPr lang="en-US" altLang="ko-KR" sz="1847" spc="-36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E53C87-C4A5-1112-0CB5-734AD8247F3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4EB3B13-B418-98F2-F941-84132A99FC1F}"/>
              </a:ext>
            </a:extLst>
          </p:cNvPr>
          <p:cNvSpPr/>
          <p:nvPr/>
        </p:nvSpPr>
        <p:spPr>
          <a:xfrm>
            <a:off x="2895599" y="4684038"/>
            <a:ext cx="12496800" cy="11540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FC3F582F-2D67-EE6B-9373-785992942F31}"/>
              </a:ext>
            </a:extLst>
          </p:cNvPr>
          <p:cNvSpPr txBox="1"/>
          <p:nvPr/>
        </p:nvSpPr>
        <p:spPr>
          <a:xfrm>
            <a:off x="2066319" y="5143500"/>
            <a:ext cx="14155360" cy="31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2"/>
              </a:lnSpc>
            </a:pPr>
            <a:r>
              <a:rPr lang="en-US" sz="2419" spc="-48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제재</a:t>
            </a:r>
            <a:r>
              <a:rPr lang="en-US" sz="2419" spc="-48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419" spc="-48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수준이</a:t>
            </a:r>
            <a:r>
              <a:rPr lang="en-US" sz="2419" spc="-48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419" spc="-48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강화됨에</a:t>
            </a:r>
            <a:r>
              <a:rPr lang="en-US" sz="2419" spc="-48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419" spc="-48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따라</a:t>
            </a:r>
            <a:r>
              <a:rPr lang="en-US" sz="2419" spc="-48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en-US" sz="2419" spc="-48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위반</a:t>
            </a:r>
            <a:r>
              <a:rPr lang="en-US" sz="2419" spc="-48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419" spc="-48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발생</a:t>
            </a:r>
            <a:r>
              <a:rPr lang="en-US" sz="2419" spc="-48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419" spc="-48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이후</a:t>
            </a:r>
            <a:r>
              <a:rPr lang="en-US" sz="2419" spc="-48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419" spc="-48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대응보다</a:t>
            </a:r>
            <a:r>
              <a:rPr lang="en-US" sz="2419" spc="-48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419" b="1" spc="-48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사전</a:t>
            </a:r>
            <a:r>
              <a:rPr lang="en-US" sz="2419" b="1" spc="-48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419" b="1" spc="-48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예방의</a:t>
            </a:r>
            <a:r>
              <a:rPr lang="en-US" sz="2419" b="1" spc="-48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419" b="1" spc="-48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중요성이</a:t>
            </a:r>
            <a:r>
              <a:rPr lang="en-US" sz="2419" b="1" spc="-48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419" b="1" spc="-48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더욱</a:t>
            </a:r>
            <a:r>
              <a:rPr lang="en-US" sz="2419" b="1" spc="-48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419" b="1" spc="-48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커짐</a:t>
            </a:r>
            <a:endParaRPr lang="en-US" sz="2419" b="1" spc="-48" dirty="0">
              <a:solidFill>
                <a:srgbClr val="000000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  <p:extLst>
      <p:ext uri="{BB962C8B-B14F-4D97-AF65-F5344CB8AC3E}">
        <p14:creationId xmlns:p14="http://schemas.microsoft.com/office/powerpoint/2010/main" val="35820792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1.3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기존 방식의 한계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컴플라이언스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담당자의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어려움</a:t>
            </a:r>
            <a:endParaRPr lang="en-US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946495" y="3298053"/>
            <a:ext cx="8395011" cy="3410473"/>
          </a:xfrm>
          <a:custGeom>
            <a:avLst/>
            <a:gdLst/>
            <a:ahLst/>
            <a:cxnLst/>
            <a:rect l="l" t="t" r="r" b="b"/>
            <a:pathLst>
              <a:path w="8395011" h="3410473">
                <a:moveTo>
                  <a:pt x="0" y="0"/>
                </a:moveTo>
                <a:lnTo>
                  <a:pt x="8395010" y="0"/>
                </a:lnTo>
                <a:lnTo>
                  <a:pt x="8395010" y="3410473"/>
                </a:lnTo>
                <a:lnTo>
                  <a:pt x="0" y="3410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5026722" y="6729222"/>
            <a:ext cx="8314784" cy="24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5"/>
              </a:lnSpc>
            </a:pP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매일경제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「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컴플라이언스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어렵지만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꼭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필요한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일」,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안준규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2026.6.12.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0D421FEA-0BB6-D436-9164-E9330E6C4893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0F92582D-1E07-3B02-A658-AE83ED3274BB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492333EC-71F2-8A14-D9D4-8FB37CD9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25" name="Group 12">
            <a:extLst>
              <a:ext uri="{FF2B5EF4-FFF2-40B4-BE49-F238E27FC236}">
                <a16:creationId xmlns:a16="http://schemas.microsoft.com/office/drawing/2014/main" id="{36BF8446-12AE-70AF-0C59-44702E9A63EF}"/>
              </a:ext>
            </a:extLst>
          </p:cNvPr>
          <p:cNvGrpSpPr/>
          <p:nvPr/>
        </p:nvGrpSpPr>
        <p:grpSpPr>
          <a:xfrm>
            <a:off x="3266601" y="8572500"/>
            <a:ext cx="11754799" cy="566775"/>
            <a:chOff x="0" y="0"/>
            <a:chExt cx="3095914" cy="149274"/>
          </a:xfrm>
        </p:grpSpPr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B7AB0046-87C6-A0DC-C9F6-81F3D9E38A7E}"/>
                </a:ext>
              </a:extLst>
            </p:cNvPr>
            <p:cNvSpPr/>
            <p:nvPr/>
          </p:nvSpPr>
          <p:spPr>
            <a:xfrm>
              <a:off x="0" y="0"/>
              <a:ext cx="3095914" cy="149274"/>
            </a:xfrm>
            <a:custGeom>
              <a:avLst/>
              <a:gdLst/>
              <a:ahLst/>
              <a:cxnLst/>
              <a:rect l="l" t="t" r="r" b="b"/>
              <a:pathLst>
                <a:path w="3095914" h="149274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136102"/>
                  </a:lnTo>
                  <a:cubicBezTo>
                    <a:pt x="3095914" y="139595"/>
                    <a:pt x="3094526" y="142946"/>
                    <a:pt x="3092056" y="145416"/>
                  </a:cubicBezTo>
                  <a:cubicBezTo>
                    <a:pt x="3089586" y="147886"/>
                    <a:pt x="3086235" y="149274"/>
                    <a:pt x="3082742" y="149274"/>
                  </a:cubicBezTo>
                  <a:lnTo>
                    <a:pt x="13172" y="149274"/>
                  </a:lnTo>
                  <a:cubicBezTo>
                    <a:pt x="9679" y="149274"/>
                    <a:pt x="6328" y="147886"/>
                    <a:pt x="3858" y="145416"/>
                  </a:cubicBezTo>
                  <a:cubicBezTo>
                    <a:pt x="1388" y="142946"/>
                    <a:pt x="0" y="139595"/>
                    <a:pt x="0" y="136102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0019C6E7-0E8E-43DD-F13B-7DFEBCCEE97D}"/>
                </a:ext>
              </a:extLst>
            </p:cNvPr>
            <p:cNvSpPr txBox="1"/>
            <p:nvPr/>
          </p:nvSpPr>
          <p:spPr>
            <a:xfrm>
              <a:off x="0" y="28575"/>
              <a:ext cx="3095914" cy="12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15">
            <a:extLst>
              <a:ext uri="{FF2B5EF4-FFF2-40B4-BE49-F238E27FC236}">
                <a16:creationId xmlns:a16="http://schemas.microsoft.com/office/drawing/2014/main" id="{A8896EF0-8748-A080-0484-0E93927F4C5B}"/>
              </a:ext>
            </a:extLst>
          </p:cNvPr>
          <p:cNvSpPr txBox="1"/>
          <p:nvPr/>
        </p:nvSpPr>
        <p:spPr>
          <a:xfrm>
            <a:off x="3682971" y="8679330"/>
            <a:ext cx="10922057" cy="31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ko-KR" altLang="ko-KR" sz="1847" spc="-36" dirty="0">
                <a:solidFill>
                  <a:srgbClr val="000000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</a:rPr>
              <a:t>수백 건의 의결서를 일일이 </a:t>
            </a:r>
            <a:r>
              <a:rPr lang="ko-KR" altLang="ko-KR" sz="1847" spc="-36" dirty="0" err="1">
                <a:solidFill>
                  <a:srgbClr val="000000"/>
                </a:solidFill>
                <a:latin typeface="프리텐다드 Bold" panose="020B0600000101010101" charset="-127"/>
                <a:ea typeface="프리텐다드 Bold" panose="020B0600000101010101" charset="-127"/>
                <a:cs typeface="프리텐다드 Bold" panose="020B0600000101010101" charset="-127"/>
              </a:rPr>
              <a:t>검색·검토</a:t>
            </a:r>
            <a:r>
              <a:rPr lang="ko-KR" altLang="ko-KR" sz="1847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해야</a:t>
            </a:r>
            <a:r>
              <a:rPr lang="ko-KR" altLang="ko-KR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 해서 리스크 판단에 많은 시간이 걸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림</a:t>
            </a:r>
            <a:endParaRPr lang="en-US" sz="1847" spc="-36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733248" y="3685966"/>
            <a:ext cx="6736475" cy="2585122"/>
          </a:xfrm>
          <a:custGeom>
            <a:avLst/>
            <a:gdLst/>
            <a:ahLst/>
            <a:cxnLst/>
            <a:rect l="l" t="t" r="r" b="b"/>
            <a:pathLst>
              <a:path w="6736475" h="2585122">
                <a:moveTo>
                  <a:pt x="0" y="0"/>
                </a:moveTo>
                <a:lnTo>
                  <a:pt x="6736476" y="0"/>
                </a:lnTo>
                <a:lnTo>
                  <a:pt x="6736476" y="2585122"/>
                </a:lnTo>
                <a:lnTo>
                  <a:pt x="0" y="2585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9597971" y="4126204"/>
            <a:ext cx="7661329" cy="1704646"/>
          </a:xfrm>
          <a:custGeom>
            <a:avLst/>
            <a:gdLst/>
            <a:ahLst/>
            <a:cxnLst/>
            <a:rect l="l" t="t" r="r" b="b"/>
            <a:pathLst>
              <a:path w="7661329" h="1704646">
                <a:moveTo>
                  <a:pt x="0" y="0"/>
                </a:moveTo>
                <a:lnTo>
                  <a:pt x="7661329" y="0"/>
                </a:lnTo>
                <a:lnTo>
                  <a:pt x="7661329" y="1704646"/>
                </a:lnTo>
                <a:lnTo>
                  <a:pt x="0" y="1704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3649534" y="6348222"/>
            <a:ext cx="4820189" cy="24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5"/>
              </a:lnSpc>
            </a:pPr>
            <a:r>
              <a:rPr lang="en-US" sz="1370" spc="-27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한경, 「법정에 버젓이 등장한 ‘AI 가짜 판례’」, 김유진, 2026.4.8.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02634" y="5898395"/>
            <a:ext cx="8314784" cy="24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5"/>
              </a:lnSpc>
            </a:pP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서울경제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「‘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규제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사각지대·환각현상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’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외국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법률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AI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챗봇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」, </a:t>
            </a:r>
            <a:r>
              <a:rPr lang="en-US" sz="1370" spc="-27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김유진</a:t>
            </a:r>
            <a:r>
              <a:rPr lang="en-US" sz="1370" spc="-27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2026.4.8.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왜 공정거래 특화 AI 서비스가 필요한가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BF351B58-37BE-AD89-42CF-291054AC6F39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28D19CB2-48CA-E01F-B512-FCC99E0E1AB7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40EF7F2F-A80C-5D24-9C71-7E4583E3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743717BE-B36C-F095-29C7-50FF84178A62}"/>
              </a:ext>
            </a:extLst>
          </p:cNvPr>
          <p:cNvGrpSpPr/>
          <p:nvPr/>
        </p:nvGrpSpPr>
        <p:grpSpPr>
          <a:xfrm>
            <a:off x="3266601" y="8572500"/>
            <a:ext cx="11754799" cy="566775"/>
            <a:chOff x="0" y="0"/>
            <a:chExt cx="3095914" cy="149274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3E7EC3E7-BAB0-54CB-0008-65D9ECB6F595}"/>
                </a:ext>
              </a:extLst>
            </p:cNvPr>
            <p:cNvSpPr/>
            <p:nvPr/>
          </p:nvSpPr>
          <p:spPr>
            <a:xfrm>
              <a:off x="0" y="0"/>
              <a:ext cx="3095914" cy="149274"/>
            </a:xfrm>
            <a:custGeom>
              <a:avLst/>
              <a:gdLst/>
              <a:ahLst/>
              <a:cxnLst/>
              <a:rect l="l" t="t" r="r" b="b"/>
              <a:pathLst>
                <a:path w="3095914" h="149274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136102"/>
                  </a:lnTo>
                  <a:cubicBezTo>
                    <a:pt x="3095914" y="139595"/>
                    <a:pt x="3094526" y="142946"/>
                    <a:pt x="3092056" y="145416"/>
                  </a:cubicBezTo>
                  <a:cubicBezTo>
                    <a:pt x="3089586" y="147886"/>
                    <a:pt x="3086235" y="149274"/>
                    <a:pt x="3082742" y="149274"/>
                  </a:cubicBezTo>
                  <a:lnTo>
                    <a:pt x="13172" y="149274"/>
                  </a:lnTo>
                  <a:cubicBezTo>
                    <a:pt x="9679" y="149274"/>
                    <a:pt x="6328" y="147886"/>
                    <a:pt x="3858" y="145416"/>
                  </a:cubicBezTo>
                  <a:cubicBezTo>
                    <a:pt x="1388" y="142946"/>
                    <a:pt x="0" y="139595"/>
                    <a:pt x="0" y="136102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4">
              <a:extLst>
                <a:ext uri="{FF2B5EF4-FFF2-40B4-BE49-F238E27FC236}">
                  <a16:creationId xmlns:a16="http://schemas.microsoft.com/office/drawing/2014/main" id="{42B82595-6E1D-CA21-17CB-420AA7F678F8}"/>
                </a:ext>
              </a:extLst>
            </p:cNvPr>
            <p:cNvSpPr txBox="1"/>
            <p:nvPr/>
          </p:nvSpPr>
          <p:spPr>
            <a:xfrm>
              <a:off x="0" y="28575"/>
              <a:ext cx="3095914" cy="12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5">
            <a:extLst>
              <a:ext uri="{FF2B5EF4-FFF2-40B4-BE49-F238E27FC236}">
                <a16:creationId xmlns:a16="http://schemas.microsoft.com/office/drawing/2014/main" id="{9A65746B-03EE-01B0-3086-6069130DD8F7}"/>
              </a:ext>
            </a:extLst>
          </p:cNvPr>
          <p:cNvSpPr txBox="1"/>
          <p:nvPr/>
        </p:nvSpPr>
        <p:spPr>
          <a:xfrm>
            <a:off x="3682971" y="8679330"/>
            <a:ext cx="10922057" cy="307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ko-KR" altLang="ko-KR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국내 법령에 특화되지 않은 범용 AI</a:t>
            </a:r>
            <a:r>
              <a:rPr lang="en-US" altLang="ko-KR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 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사용시</a:t>
            </a:r>
            <a:r>
              <a:rPr lang="en-US" altLang="ko-KR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,</a:t>
            </a:r>
            <a:r>
              <a:rPr lang="ko-KR" altLang="ko-KR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 존재하지 않는 판례를 만들어내는 환각현상이 발생</a:t>
            </a:r>
            <a:r>
              <a:rPr lang="en-US" altLang="ko-KR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 </a:t>
            </a:r>
            <a:r>
              <a:rPr lang="ko-KR" altLang="en-US" sz="1847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가능</a:t>
            </a:r>
            <a:endParaRPr lang="en-US" sz="1847" spc="-36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8A7C99D9-5F5F-A2FC-F516-6F3440991285}"/>
              </a:ext>
            </a:extLst>
          </p:cNvPr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1.3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기존 방식의 한계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245322" y="7958274"/>
            <a:ext cx="1305587" cy="575248"/>
            <a:chOff x="0" y="0"/>
            <a:chExt cx="343858" cy="1515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3858" cy="151506"/>
            </a:xfrm>
            <a:custGeom>
              <a:avLst/>
              <a:gdLst/>
              <a:ahLst/>
              <a:cxnLst/>
              <a:rect l="l" t="t" r="r" b="b"/>
              <a:pathLst>
                <a:path w="343858" h="151506">
                  <a:moveTo>
                    <a:pt x="75753" y="0"/>
                  </a:moveTo>
                  <a:lnTo>
                    <a:pt x="268106" y="0"/>
                  </a:lnTo>
                  <a:cubicBezTo>
                    <a:pt x="288196" y="0"/>
                    <a:pt x="307464" y="7981"/>
                    <a:pt x="321671" y="22187"/>
                  </a:cubicBezTo>
                  <a:cubicBezTo>
                    <a:pt x="335877" y="36394"/>
                    <a:pt x="343858" y="55662"/>
                    <a:pt x="343858" y="75753"/>
                  </a:cubicBezTo>
                  <a:lnTo>
                    <a:pt x="343858" y="75753"/>
                  </a:lnTo>
                  <a:cubicBezTo>
                    <a:pt x="343858" y="117590"/>
                    <a:pt x="309943" y="151506"/>
                    <a:pt x="268106" y="151506"/>
                  </a:cubicBezTo>
                  <a:lnTo>
                    <a:pt x="75753" y="151506"/>
                  </a:lnTo>
                  <a:cubicBezTo>
                    <a:pt x="33916" y="151506"/>
                    <a:pt x="0" y="117590"/>
                    <a:pt x="0" y="75753"/>
                  </a:cubicBezTo>
                  <a:lnTo>
                    <a:pt x="0" y="75753"/>
                  </a:lnTo>
                  <a:cubicBezTo>
                    <a:pt x="0" y="33916"/>
                    <a:pt x="33916" y="0"/>
                    <a:pt x="75753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343858" cy="141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spc="-39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RAG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9383161" y="2697470"/>
            <a:ext cx="8061907" cy="5488898"/>
          </a:xfrm>
          <a:custGeom>
            <a:avLst/>
            <a:gdLst/>
            <a:ahLst/>
            <a:cxnLst/>
            <a:rect l="l" t="t" r="r" b="b"/>
            <a:pathLst>
              <a:path w="8061907" h="5488898">
                <a:moveTo>
                  <a:pt x="0" y="0"/>
                </a:moveTo>
                <a:lnTo>
                  <a:pt x="8061908" y="0"/>
                </a:lnTo>
                <a:lnTo>
                  <a:pt x="8061908" y="5488898"/>
                </a:lnTo>
                <a:lnTo>
                  <a:pt x="0" y="5488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92" t="-25697" r="-15039"/>
            </a:stretch>
          </a:blipFill>
          <a:ln w="19050" cap="rnd">
            <a:solidFill>
              <a:srgbClr val="B5B5B5"/>
            </a:solidFill>
            <a:prstDash val="solid"/>
            <a:rou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304670" y="4885822"/>
            <a:ext cx="348347" cy="348347"/>
          </a:xfrm>
          <a:custGeom>
            <a:avLst/>
            <a:gdLst/>
            <a:ahLst/>
            <a:cxnLst/>
            <a:rect l="l" t="t" r="r" b="b"/>
            <a:pathLst>
              <a:path w="348347" h="348347">
                <a:moveTo>
                  <a:pt x="0" y="0"/>
                </a:moveTo>
                <a:lnTo>
                  <a:pt x="348348" y="0"/>
                </a:lnTo>
                <a:lnTo>
                  <a:pt x="348348" y="348347"/>
                </a:lnTo>
                <a:lnTo>
                  <a:pt x="0" y="348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304670" y="5409697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304670" y="5943097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304670" y="6476497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304670" y="4275622"/>
            <a:ext cx="4268739" cy="33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2519" b="1" spc="-50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핵심</a:t>
            </a:r>
            <a:r>
              <a:rPr lang="en-US" sz="2519" b="1" spc="-50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519" b="1" spc="-50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기능</a:t>
            </a:r>
            <a:endParaRPr lang="en-US" sz="2519" b="1" spc="-50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786247" y="7949523"/>
            <a:ext cx="1305587" cy="575248"/>
            <a:chOff x="0" y="0"/>
            <a:chExt cx="343858" cy="1515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3858" cy="151506"/>
            </a:xfrm>
            <a:custGeom>
              <a:avLst/>
              <a:gdLst/>
              <a:ahLst/>
              <a:cxnLst/>
              <a:rect l="l" t="t" r="r" b="b"/>
              <a:pathLst>
                <a:path w="343858" h="151506">
                  <a:moveTo>
                    <a:pt x="75753" y="0"/>
                  </a:moveTo>
                  <a:lnTo>
                    <a:pt x="268106" y="0"/>
                  </a:lnTo>
                  <a:cubicBezTo>
                    <a:pt x="288196" y="0"/>
                    <a:pt x="307464" y="7981"/>
                    <a:pt x="321671" y="22187"/>
                  </a:cubicBezTo>
                  <a:cubicBezTo>
                    <a:pt x="335877" y="36394"/>
                    <a:pt x="343858" y="55662"/>
                    <a:pt x="343858" y="75753"/>
                  </a:cubicBezTo>
                  <a:lnTo>
                    <a:pt x="343858" y="75753"/>
                  </a:lnTo>
                  <a:cubicBezTo>
                    <a:pt x="343858" y="117590"/>
                    <a:pt x="309943" y="151506"/>
                    <a:pt x="268106" y="151506"/>
                  </a:cubicBezTo>
                  <a:lnTo>
                    <a:pt x="75753" y="151506"/>
                  </a:lnTo>
                  <a:cubicBezTo>
                    <a:pt x="33916" y="151506"/>
                    <a:pt x="0" y="117590"/>
                    <a:pt x="0" y="75753"/>
                  </a:cubicBezTo>
                  <a:lnTo>
                    <a:pt x="0" y="75753"/>
                  </a:lnTo>
                  <a:cubicBezTo>
                    <a:pt x="0" y="33916"/>
                    <a:pt x="33916" y="0"/>
                    <a:pt x="75753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343858" cy="141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spc="-39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MCP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29959" y="7949523"/>
            <a:ext cx="2631037" cy="575248"/>
            <a:chOff x="0" y="0"/>
            <a:chExt cx="692948" cy="1515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2948" cy="151506"/>
            </a:xfrm>
            <a:custGeom>
              <a:avLst/>
              <a:gdLst/>
              <a:ahLst/>
              <a:cxnLst/>
              <a:rect l="l" t="t" r="r" b="b"/>
              <a:pathLst>
                <a:path w="692948" h="151506">
                  <a:moveTo>
                    <a:pt x="58851" y="0"/>
                  </a:moveTo>
                  <a:lnTo>
                    <a:pt x="634097" y="0"/>
                  </a:lnTo>
                  <a:cubicBezTo>
                    <a:pt x="649706" y="0"/>
                    <a:pt x="664674" y="6200"/>
                    <a:pt x="675711" y="17237"/>
                  </a:cubicBezTo>
                  <a:cubicBezTo>
                    <a:pt x="686748" y="28274"/>
                    <a:pt x="692948" y="43243"/>
                    <a:pt x="692948" y="58851"/>
                  </a:cubicBezTo>
                  <a:lnTo>
                    <a:pt x="692948" y="92655"/>
                  </a:lnTo>
                  <a:cubicBezTo>
                    <a:pt x="692948" y="108263"/>
                    <a:pt x="686748" y="123232"/>
                    <a:pt x="675711" y="134269"/>
                  </a:cubicBezTo>
                  <a:cubicBezTo>
                    <a:pt x="664674" y="145305"/>
                    <a:pt x="649706" y="151506"/>
                    <a:pt x="634097" y="151506"/>
                  </a:cubicBezTo>
                  <a:lnTo>
                    <a:pt x="58851" y="151506"/>
                  </a:lnTo>
                  <a:cubicBezTo>
                    <a:pt x="43243" y="151506"/>
                    <a:pt x="28274" y="145305"/>
                    <a:pt x="17237" y="134269"/>
                  </a:cubicBezTo>
                  <a:cubicBezTo>
                    <a:pt x="6200" y="123232"/>
                    <a:pt x="0" y="108263"/>
                    <a:pt x="0" y="92655"/>
                  </a:cubicBezTo>
                  <a:lnTo>
                    <a:pt x="0" y="58851"/>
                  </a:lnTo>
                  <a:cubicBezTo>
                    <a:pt x="0" y="43243"/>
                    <a:pt x="6200" y="28274"/>
                    <a:pt x="17237" y="17237"/>
                  </a:cubicBezTo>
                  <a:cubicBezTo>
                    <a:pt x="28274" y="6200"/>
                    <a:pt x="43243" y="0"/>
                    <a:pt x="58851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692948" cy="141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spc="-39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멀티에이전트 (MAS)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898890" y="4181889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734253" y="4843749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자연어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입력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ko-KR" alt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유사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사례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자동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검색</a:t>
            </a:r>
            <a:endParaRPr lang="en-US" sz="2049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34253" y="5375244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상황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유형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선택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맞춤형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</a:t>
            </a:r>
            <a:endParaRPr lang="en-US" sz="2049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34253" y="5906739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스코어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(0~100점) +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등급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시각화</a:t>
            </a:r>
            <a:endParaRPr lang="en-US" sz="2049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2.1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34253" y="6438235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멀티에이전트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법리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해석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및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보고서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제공</a:t>
            </a:r>
            <a:endParaRPr lang="en-US" sz="2049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45322" y="2868081"/>
            <a:ext cx="9451301" cy="35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컴플라이언스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담당자를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위한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AI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서비스</a:t>
            </a:r>
            <a:endParaRPr lang="en-US" sz="2199" spc="-90" dirty="0">
              <a:solidFill>
                <a:srgbClr val="000000">
                  <a:alpha val="93725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45322" y="2178192"/>
            <a:ext cx="4725650" cy="57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4449" b="1" spc="-88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</a:t>
            </a:r>
            <a:endParaRPr lang="en-US" sz="4449" b="1" spc="-88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04670" y="7386948"/>
            <a:ext cx="4268739" cy="33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2519" b="1" spc="-5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활용 기술</a:t>
            </a: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376EF11E-6E2E-C710-37DF-17FB48D7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4333875" y="2445702"/>
            <a:ext cx="2857500" cy="603018"/>
            <a:chOff x="0" y="0"/>
            <a:chExt cx="752593" cy="1588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715250" y="2445702"/>
            <a:ext cx="2857500" cy="603018"/>
            <a:chOff x="0" y="0"/>
            <a:chExt cx="752593" cy="1588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96625" y="2445702"/>
            <a:ext cx="2857500" cy="603018"/>
            <a:chOff x="0" y="0"/>
            <a:chExt cx="752593" cy="1588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52593" cy="158820"/>
            </a:xfrm>
            <a:custGeom>
              <a:avLst/>
              <a:gdLst/>
              <a:ahLst/>
              <a:cxnLst/>
              <a:rect l="l" t="t" r="r" b="b"/>
              <a:pathLst>
                <a:path w="752593" h="158820">
                  <a:moveTo>
                    <a:pt x="54187" y="0"/>
                  </a:moveTo>
                  <a:lnTo>
                    <a:pt x="698406" y="0"/>
                  </a:lnTo>
                  <a:cubicBezTo>
                    <a:pt x="728332" y="0"/>
                    <a:pt x="752593" y="24260"/>
                    <a:pt x="752593" y="54187"/>
                  </a:cubicBezTo>
                  <a:lnTo>
                    <a:pt x="752593" y="104633"/>
                  </a:lnTo>
                  <a:cubicBezTo>
                    <a:pt x="752593" y="134559"/>
                    <a:pt x="728332" y="158820"/>
                    <a:pt x="698406" y="158820"/>
                  </a:cubicBezTo>
                  <a:lnTo>
                    <a:pt x="54187" y="158820"/>
                  </a:lnTo>
                  <a:cubicBezTo>
                    <a:pt x="24260" y="158820"/>
                    <a:pt x="0" y="134559"/>
                    <a:pt x="0" y="10463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752593" cy="130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770201" y="3401272"/>
            <a:ext cx="12747599" cy="6628751"/>
          </a:xfrm>
          <a:custGeom>
            <a:avLst/>
            <a:gdLst/>
            <a:ahLst/>
            <a:cxnLst/>
            <a:rect l="l" t="t" r="r" b="b"/>
            <a:pathLst>
              <a:path w="12747599" h="6628751">
                <a:moveTo>
                  <a:pt x="0" y="0"/>
                </a:moveTo>
                <a:lnTo>
                  <a:pt x="12747598" y="0"/>
                </a:lnTo>
                <a:lnTo>
                  <a:pt x="12747598" y="6628751"/>
                </a:lnTo>
                <a:lnTo>
                  <a:pt x="0" y="6628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서비스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구현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아키텍처</a:t>
            </a:r>
            <a:endParaRPr lang="en-US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67517" y="2621226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 dirty="0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</a:t>
            </a:r>
            <a:r>
              <a:rPr lang="en-US" sz="1700" b="1" spc="-34" dirty="0" err="1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사용자</a:t>
            </a:r>
            <a:r>
              <a:rPr lang="en-US" sz="1700" b="1" spc="-34" dirty="0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700" b="1" spc="-34" dirty="0" err="1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질문</a:t>
            </a:r>
            <a:r>
              <a:rPr lang="en-US" sz="1700" b="1" spc="-34" dirty="0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700" b="1" spc="-34" dirty="0" err="1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입력</a:t>
            </a:r>
            <a:endParaRPr lang="en-US" sz="1700" b="1" spc="-34" dirty="0">
              <a:solidFill>
                <a:srgbClr val="444444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748892" y="2621226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AI 파이프라인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30267" y="2621226"/>
            <a:ext cx="2779149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sz="1700" b="1" spc="-34">
                <a:solidFill>
                  <a:srgbClr val="4444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최종 보고서 출력</a:t>
            </a: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67AF839B-A492-4394-E340-EFFCCC8A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3" name="AutoShape 2">
            <a:extLst>
              <a:ext uri="{FF2B5EF4-FFF2-40B4-BE49-F238E27FC236}">
                <a16:creationId xmlns:a16="http://schemas.microsoft.com/office/drawing/2014/main" id="{B2875A74-A26C-CA9C-B114-BCF3A7858395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9C9EEC0B-659A-009D-2579-DA3FD7211581}"/>
              </a:ext>
            </a:extLst>
          </p:cNvPr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2.2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서비스 아키텍처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62880F65-D7FC-C597-AAB9-4EE6ABE4FEBA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40E9291-1935-92F9-4702-8C3A10FA0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 sz="1600" dirty="0"/>
          </a:p>
        </p:txBody>
      </p:sp>
      <p:grpSp>
        <p:nvGrpSpPr>
          <p:cNvPr id="9" name="Group 18">
            <a:extLst>
              <a:ext uri="{FF2B5EF4-FFF2-40B4-BE49-F238E27FC236}">
                <a16:creationId xmlns:a16="http://schemas.microsoft.com/office/drawing/2014/main" id="{DCF36A73-5A2A-1C86-32FE-F42A77CE46D4}"/>
              </a:ext>
            </a:extLst>
          </p:cNvPr>
          <p:cNvGrpSpPr/>
          <p:nvPr/>
        </p:nvGrpSpPr>
        <p:grpSpPr>
          <a:xfrm>
            <a:off x="677108" y="1714499"/>
            <a:ext cx="16922663" cy="3789369"/>
            <a:chOff x="0" y="0"/>
            <a:chExt cx="4456998" cy="998023"/>
          </a:xfrm>
        </p:grpSpPr>
        <p:sp>
          <p:nvSpPr>
            <p:cNvPr id="10" name="Freeform 19">
              <a:extLst>
                <a:ext uri="{FF2B5EF4-FFF2-40B4-BE49-F238E27FC236}">
                  <a16:creationId xmlns:a16="http://schemas.microsoft.com/office/drawing/2014/main" id="{3FB7B6D5-B3ED-A578-00CF-1A087454981F}"/>
                </a:ext>
              </a:extLst>
            </p:cNvPr>
            <p:cNvSpPr/>
            <p:nvPr/>
          </p:nvSpPr>
          <p:spPr>
            <a:xfrm>
              <a:off x="0" y="0"/>
              <a:ext cx="4456998" cy="998023"/>
            </a:xfrm>
            <a:custGeom>
              <a:avLst/>
              <a:gdLst/>
              <a:ahLst/>
              <a:cxnLst/>
              <a:rect l="l" t="t" r="r" b="b"/>
              <a:pathLst>
                <a:path w="4456998" h="998023">
                  <a:moveTo>
                    <a:pt x="9150" y="0"/>
                  </a:moveTo>
                  <a:lnTo>
                    <a:pt x="4447848" y="0"/>
                  </a:lnTo>
                  <a:cubicBezTo>
                    <a:pt x="4450274" y="0"/>
                    <a:pt x="4452602" y="964"/>
                    <a:pt x="4454318" y="2680"/>
                  </a:cubicBezTo>
                  <a:cubicBezTo>
                    <a:pt x="4456034" y="4396"/>
                    <a:pt x="4456998" y="6723"/>
                    <a:pt x="4456998" y="9150"/>
                  </a:cubicBezTo>
                  <a:lnTo>
                    <a:pt x="4456998" y="988873"/>
                  </a:lnTo>
                  <a:cubicBezTo>
                    <a:pt x="4456998" y="993927"/>
                    <a:pt x="4452901" y="998023"/>
                    <a:pt x="4447848" y="998023"/>
                  </a:cubicBezTo>
                  <a:lnTo>
                    <a:pt x="9150" y="998023"/>
                  </a:lnTo>
                  <a:cubicBezTo>
                    <a:pt x="6723" y="998023"/>
                    <a:pt x="4396" y="997059"/>
                    <a:pt x="2680" y="995343"/>
                  </a:cubicBezTo>
                  <a:cubicBezTo>
                    <a:pt x="964" y="993627"/>
                    <a:pt x="0" y="991300"/>
                    <a:pt x="0" y="988873"/>
                  </a:cubicBezTo>
                  <a:lnTo>
                    <a:pt x="0" y="9150"/>
                  </a:lnTo>
                  <a:cubicBezTo>
                    <a:pt x="0" y="6723"/>
                    <a:pt x="964" y="4396"/>
                    <a:pt x="2680" y="2680"/>
                  </a:cubicBezTo>
                  <a:cubicBezTo>
                    <a:pt x="4396" y="964"/>
                    <a:pt x="6723" y="0"/>
                    <a:pt x="91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20">
              <a:extLst>
                <a:ext uri="{FF2B5EF4-FFF2-40B4-BE49-F238E27FC236}">
                  <a16:creationId xmlns:a16="http://schemas.microsoft.com/office/drawing/2014/main" id="{88398909-B850-48CC-2374-5287ED4E94BD}"/>
                </a:ext>
              </a:extLst>
            </p:cNvPr>
            <p:cNvSpPr txBox="1"/>
            <p:nvPr/>
          </p:nvSpPr>
          <p:spPr>
            <a:xfrm>
              <a:off x="0" y="28575"/>
              <a:ext cx="4456998" cy="969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21">
            <a:extLst>
              <a:ext uri="{FF2B5EF4-FFF2-40B4-BE49-F238E27FC236}">
                <a16:creationId xmlns:a16="http://schemas.microsoft.com/office/drawing/2014/main" id="{F245739E-2E95-4C25-4BB3-2A78182E9718}"/>
              </a:ext>
            </a:extLst>
          </p:cNvPr>
          <p:cNvSpPr txBox="1"/>
          <p:nvPr/>
        </p:nvSpPr>
        <p:spPr>
          <a:xfrm>
            <a:off x="1140499" y="2726317"/>
            <a:ext cx="9451301" cy="336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150" spc="-88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</a:t>
            </a:r>
            <a:r>
              <a:rPr lang="ko-KR" altLang="en-US" sz="2150" spc="-88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자사 상품을 검색 결과 상단에 올리고 싶다는 기업의 요청</a:t>
            </a:r>
            <a:endParaRPr lang="en-US" sz="2150" spc="-88" dirty="0">
              <a:solidFill>
                <a:srgbClr val="000000">
                  <a:alpha val="93725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3" name="TextBox 22">
            <a:extLst>
              <a:ext uri="{FF2B5EF4-FFF2-40B4-BE49-F238E27FC236}">
                <a16:creationId xmlns:a16="http://schemas.microsoft.com/office/drawing/2014/main" id="{4837D6E1-0795-C64F-946A-069672BC246F}"/>
              </a:ext>
            </a:extLst>
          </p:cNvPr>
          <p:cNvSpPr txBox="1"/>
          <p:nvPr/>
        </p:nvSpPr>
        <p:spPr>
          <a:xfrm>
            <a:off x="1140499" y="2021665"/>
            <a:ext cx="6577163" cy="36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ko-KR" alt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검토 상황 발생</a:t>
            </a:r>
            <a:endParaRPr lang="en-US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50A52FA7-B7F5-32A3-A1BC-C0BF91ED721A}"/>
              </a:ext>
            </a:extLst>
          </p:cNvPr>
          <p:cNvSpPr/>
          <p:nvPr/>
        </p:nvSpPr>
        <p:spPr>
          <a:xfrm>
            <a:off x="753308" y="19431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4" y="0"/>
                </a:lnTo>
                <a:lnTo>
                  <a:pt x="415344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24">
            <a:extLst>
              <a:ext uri="{FF2B5EF4-FFF2-40B4-BE49-F238E27FC236}">
                <a16:creationId xmlns:a16="http://schemas.microsoft.com/office/drawing/2014/main" id="{73539477-8E50-F94A-0FB5-312DEF51D9D4}"/>
              </a:ext>
            </a:extLst>
          </p:cNvPr>
          <p:cNvGrpSpPr/>
          <p:nvPr/>
        </p:nvGrpSpPr>
        <p:grpSpPr>
          <a:xfrm>
            <a:off x="7805259" y="2009775"/>
            <a:ext cx="6264140" cy="2836733"/>
            <a:chOff x="0" y="0"/>
            <a:chExt cx="8352187" cy="3782311"/>
          </a:xfrm>
        </p:grpSpPr>
        <p:sp>
          <p:nvSpPr>
            <p:cNvPr id="16" name="Freeform 25">
              <a:extLst>
                <a:ext uri="{FF2B5EF4-FFF2-40B4-BE49-F238E27FC236}">
                  <a16:creationId xmlns:a16="http://schemas.microsoft.com/office/drawing/2014/main" id="{060A1DAB-7CE6-147A-5D35-546E509B8C35}"/>
                </a:ext>
              </a:extLst>
            </p:cNvPr>
            <p:cNvSpPr/>
            <p:nvPr/>
          </p:nvSpPr>
          <p:spPr>
            <a:xfrm>
              <a:off x="0" y="73246"/>
              <a:ext cx="6790050" cy="3709065"/>
            </a:xfrm>
            <a:custGeom>
              <a:avLst/>
              <a:gdLst/>
              <a:ahLst/>
              <a:cxnLst/>
              <a:rect l="l" t="t" r="r" b="b"/>
              <a:pathLst>
                <a:path w="6790050" h="3709065">
                  <a:moveTo>
                    <a:pt x="0" y="0"/>
                  </a:moveTo>
                  <a:lnTo>
                    <a:pt x="6790050" y="0"/>
                  </a:lnTo>
                  <a:lnTo>
                    <a:pt x="6790050" y="3709065"/>
                  </a:lnTo>
                  <a:lnTo>
                    <a:pt x="0" y="3709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7" name="Group 26">
              <a:extLst>
                <a:ext uri="{FF2B5EF4-FFF2-40B4-BE49-F238E27FC236}">
                  <a16:creationId xmlns:a16="http://schemas.microsoft.com/office/drawing/2014/main" id="{CFA5FC5B-D79D-9DBB-AA8D-A5EF01D91C1E}"/>
                </a:ext>
              </a:extLst>
            </p:cNvPr>
            <p:cNvGrpSpPr/>
            <p:nvPr/>
          </p:nvGrpSpPr>
          <p:grpSpPr>
            <a:xfrm>
              <a:off x="5615878" y="0"/>
              <a:ext cx="2736309" cy="980050"/>
              <a:chOff x="0" y="0"/>
              <a:chExt cx="1418341" cy="508000"/>
            </a:xfrm>
          </p:grpSpPr>
          <p:sp>
            <p:nvSpPr>
              <p:cNvPr id="18" name="Freeform 27">
                <a:extLst>
                  <a:ext uri="{FF2B5EF4-FFF2-40B4-BE49-F238E27FC236}">
                    <a16:creationId xmlns:a16="http://schemas.microsoft.com/office/drawing/2014/main" id="{A993D69B-DA7D-2B47-4612-8E77A940A75F}"/>
                  </a:ext>
                </a:extLst>
              </p:cNvPr>
              <p:cNvSpPr/>
              <p:nvPr/>
            </p:nvSpPr>
            <p:spPr>
              <a:xfrm>
                <a:off x="0" y="0"/>
                <a:ext cx="1418341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1418341" h="508000">
                    <a:moveTo>
                      <a:pt x="1215141" y="0"/>
                    </a:moveTo>
                    <a:cubicBezTo>
                      <a:pt x="1325631" y="6350"/>
                      <a:pt x="1413261" y="93980"/>
                      <a:pt x="1418341" y="203200"/>
                    </a:cubicBezTo>
                    <a:lnTo>
                      <a:pt x="1418341" y="208280"/>
                    </a:lnTo>
                    <a:cubicBezTo>
                      <a:pt x="1413261" y="316230"/>
                      <a:pt x="1325631" y="403860"/>
                      <a:pt x="1217681" y="403860"/>
                    </a:cubicBezTo>
                    <a:lnTo>
                      <a:pt x="274320" y="403860"/>
                    </a:lnTo>
                    <a:cubicBezTo>
                      <a:pt x="245110" y="438150"/>
                      <a:pt x="213360" y="468630"/>
                      <a:pt x="176530" y="494030"/>
                    </a:cubicBezTo>
                    <a:lnTo>
                      <a:pt x="152400" y="508000"/>
                    </a:lnTo>
                    <a:cubicBezTo>
                      <a:pt x="139700" y="508000"/>
                      <a:pt x="137160" y="500380"/>
                      <a:pt x="140970" y="487680"/>
                    </a:cubicBezTo>
                    <a:cubicBezTo>
                      <a:pt x="149860" y="459740"/>
                      <a:pt x="148590" y="430530"/>
                      <a:pt x="138430" y="403860"/>
                    </a:cubicBezTo>
                    <a:lnTo>
                      <a:pt x="134620" y="392430"/>
                    </a:lnTo>
                    <a:cubicBezTo>
                      <a:pt x="57150" y="367030"/>
                      <a:pt x="1270" y="293370"/>
                      <a:pt x="0" y="208280"/>
                    </a:cubicBezTo>
                    <a:lnTo>
                      <a:pt x="0" y="201930"/>
                    </a:lnTo>
                    <a:cubicBezTo>
                      <a:pt x="0" y="93980"/>
                      <a:pt x="88900" y="6350"/>
                      <a:pt x="203200" y="0"/>
                    </a:cubicBezTo>
                    <a:lnTo>
                      <a:pt x="1217681" y="0"/>
                    </a:lnTo>
                    <a:close/>
                  </a:path>
                </a:pathLst>
              </a:custGeom>
              <a:solidFill>
                <a:srgbClr val="E3E3E3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28">
                <a:extLst>
                  <a:ext uri="{FF2B5EF4-FFF2-40B4-BE49-F238E27FC236}">
                    <a16:creationId xmlns:a16="http://schemas.microsoft.com/office/drawing/2014/main" id="{81655569-B604-1174-5EF0-3FC0686F5A13}"/>
                  </a:ext>
                </a:extLst>
              </p:cNvPr>
              <p:cNvSpPr txBox="1"/>
              <p:nvPr/>
            </p:nvSpPr>
            <p:spPr>
              <a:xfrm>
                <a:off x="107950" y="-38100"/>
                <a:ext cx="1202441" cy="431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99"/>
                  </a:lnSpc>
                </a:pPr>
                <a:r>
                  <a:rPr lang="en-US" altLang="ko-KR" sz="1200" dirty="0" err="1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자사</a:t>
                </a:r>
                <a:r>
                  <a:rPr lang="en-US" altLang="ko-KR" sz="12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 </a:t>
                </a:r>
                <a:r>
                  <a:rPr lang="en-US" altLang="ko-KR" sz="1200" dirty="0" err="1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상품을</a:t>
                </a:r>
                <a:r>
                  <a:rPr lang="en-US" altLang="ko-KR" sz="12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 </a:t>
                </a:r>
                <a:r>
                  <a:rPr lang="en-US" altLang="ko-KR" sz="1200" dirty="0" err="1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검색</a:t>
                </a:r>
                <a:r>
                  <a:rPr lang="en-US" altLang="ko-KR" sz="12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 </a:t>
                </a:r>
                <a:r>
                  <a:rPr lang="en-US" altLang="ko-KR" sz="1200" dirty="0" err="1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결과</a:t>
                </a:r>
                <a:r>
                  <a:rPr lang="en-US" altLang="ko-KR" sz="12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 </a:t>
                </a:r>
                <a:r>
                  <a:rPr lang="en-US" altLang="ko-KR" sz="1200" dirty="0" err="1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상단에</a:t>
                </a:r>
                <a:r>
                  <a:rPr lang="en-US" altLang="ko-KR" sz="12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 </a:t>
                </a:r>
                <a:r>
                  <a:rPr lang="en-US" altLang="ko-KR" sz="1200" dirty="0" err="1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올리</a:t>
                </a:r>
                <a:r>
                  <a:rPr lang="ko-KR" altLang="en-US" sz="12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고 싶어요</a:t>
                </a:r>
                <a:r>
                  <a:rPr lang="en-US" altLang="ko-KR" sz="1200" dirty="0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.</a:t>
                </a:r>
                <a:endParaRPr lang="en-US" altLang="ko-KR" sz="1200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 Bold"/>
                </a:endParaRPr>
              </a:p>
            </p:txBody>
          </p:sp>
        </p:grpSp>
      </p:grpSp>
      <p:sp>
        <p:nvSpPr>
          <p:cNvPr id="20" name="Freeform 29">
            <a:extLst>
              <a:ext uri="{FF2B5EF4-FFF2-40B4-BE49-F238E27FC236}">
                <a16:creationId xmlns:a16="http://schemas.microsoft.com/office/drawing/2014/main" id="{650E4641-70DC-04E0-D537-E9A8F0B9D735}"/>
              </a:ext>
            </a:extLst>
          </p:cNvPr>
          <p:cNvSpPr/>
          <p:nvPr/>
        </p:nvSpPr>
        <p:spPr>
          <a:xfrm>
            <a:off x="15046338" y="2086852"/>
            <a:ext cx="1964988" cy="2682578"/>
          </a:xfrm>
          <a:custGeom>
            <a:avLst/>
            <a:gdLst/>
            <a:ahLst/>
            <a:cxnLst/>
            <a:rect l="l" t="t" r="r" b="b"/>
            <a:pathLst>
              <a:path w="1964988" h="2682578">
                <a:moveTo>
                  <a:pt x="0" y="0"/>
                </a:moveTo>
                <a:lnTo>
                  <a:pt x="1964988" y="0"/>
                </a:lnTo>
                <a:lnTo>
                  <a:pt x="1964988" y="2682578"/>
                </a:lnTo>
                <a:lnTo>
                  <a:pt x="0" y="2682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Freeform 30">
            <a:extLst>
              <a:ext uri="{FF2B5EF4-FFF2-40B4-BE49-F238E27FC236}">
                <a16:creationId xmlns:a16="http://schemas.microsoft.com/office/drawing/2014/main" id="{45AA21E2-40A2-1FA4-ED64-B4BD50BA4045}"/>
              </a:ext>
            </a:extLst>
          </p:cNvPr>
          <p:cNvSpPr/>
          <p:nvPr/>
        </p:nvSpPr>
        <p:spPr>
          <a:xfrm>
            <a:off x="13700238" y="3240024"/>
            <a:ext cx="738321" cy="738321"/>
          </a:xfrm>
          <a:custGeom>
            <a:avLst/>
            <a:gdLst/>
            <a:ahLst/>
            <a:cxnLst/>
            <a:rect l="l" t="t" r="r" b="b"/>
            <a:pathLst>
              <a:path w="738321" h="738321">
                <a:moveTo>
                  <a:pt x="0" y="0"/>
                </a:moveTo>
                <a:lnTo>
                  <a:pt x="738321" y="0"/>
                </a:lnTo>
                <a:lnTo>
                  <a:pt x="738321" y="738321"/>
                </a:lnTo>
                <a:lnTo>
                  <a:pt x="0" y="738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32">
            <a:extLst>
              <a:ext uri="{FF2B5EF4-FFF2-40B4-BE49-F238E27FC236}">
                <a16:creationId xmlns:a16="http://schemas.microsoft.com/office/drawing/2014/main" id="{D508B010-267B-73CB-6978-EF15B3C63EBF}"/>
              </a:ext>
            </a:extLst>
          </p:cNvPr>
          <p:cNvSpPr txBox="1"/>
          <p:nvPr/>
        </p:nvSpPr>
        <p:spPr>
          <a:xfrm>
            <a:off x="14877376" y="4766920"/>
            <a:ext cx="2302912" cy="28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sz="1800" b="1" spc="-73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</a:t>
            </a:r>
            <a:r>
              <a:rPr lang="en-US" sz="1800" b="1" spc="-73" dirty="0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73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컴플라이언스</a:t>
            </a:r>
            <a:r>
              <a:rPr lang="en-US" sz="1800" b="1" spc="-73" dirty="0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73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담당자</a:t>
            </a:r>
            <a:endParaRPr lang="en-US" sz="1800" b="1" spc="-73" dirty="0">
              <a:solidFill>
                <a:srgbClr val="000000">
                  <a:alpha val="93725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23" name="Group 18">
            <a:extLst>
              <a:ext uri="{FF2B5EF4-FFF2-40B4-BE49-F238E27FC236}">
                <a16:creationId xmlns:a16="http://schemas.microsoft.com/office/drawing/2014/main" id="{0B84F8BD-E163-4CB0-A87F-0918732CCF88}"/>
              </a:ext>
            </a:extLst>
          </p:cNvPr>
          <p:cNvGrpSpPr/>
          <p:nvPr/>
        </p:nvGrpSpPr>
        <p:grpSpPr>
          <a:xfrm>
            <a:off x="682668" y="6051766"/>
            <a:ext cx="16922663" cy="3789369"/>
            <a:chOff x="0" y="0"/>
            <a:chExt cx="4456998" cy="998023"/>
          </a:xfrm>
        </p:grpSpPr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C218AD80-A004-DC5F-0FAC-64E990761B68}"/>
                </a:ext>
              </a:extLst>
            </p:cNvPr>
            <p:cNvSpPr/>
            <p:nvPr/>
          </p:nvSpPr>
          <p:spPr>
            <a:xfrm>
              <a:off x="0" y="0"/>
              <a:ext cx="4456998" cy="998023"/>
            </a:xfrm>
            <a:custGeom>
              <a:avLst/>
              <a:gdLst/>
              <a:ahLst/>
              <a:cxnLst/>
              <a:rect l="l" t="t" r="r" b="b"/>
              <a:pathLst>
                <a:path w="4456998" h="998023">
                  <a:moveTo>
                    <a:pt x="9150" y="0"/>
                  </a:moveTo>
                  <a:lnTo>
                    <a:pt x="4447848" y="0"/>
                  </a:lnTo>
                  <a:cubicBezTo>
                    <a:pt x="4450274" y="0"/>
                    <a:pt x="4452602" y="964"/>
                    <a:pt x="4454318" y="2680"/>
                  </a:cubicBezTo>
                  <a:cubicBezTo>
                    <a:pt x="4456034" y="4396"/>
                    <a:pt x="4456998" y="6723"/>
                    <a:pt x="4456998" y="9150"/>
                  </a:cubicBezTo>
                  <a:lnTo>
                    <a:pt x="4456998" y="988873"/>
                  </a:lnTo>
                  <a:cubicBezTo>
                    <a:pt x="4456998" y="993927"/>
                    <a:pt x="4452901" y="998023"/>
                    <a:pt x="4447848" y="998023"/>
                  </a:cubicBezTo>
                  <a:lnTo>
                    <a:pt x="9150" y="998023"/>
                  </a:lnTo>
                  <a:cubicBezTo>
                    <a:pt x="6723" y="998023"/>
                    <a:pt x="4396" y="997059"/>
                    <a:pt x="2680" y="995343"/>
                  </a:cubicBezTo>
                  <a:cubicBezTo>
                    <a:pt x="964" y="993627"/>
                    <a:pt x="0" y="991300"/>
                    <a:pt x="0" y="988873"/>
                  </a:cubicBezTo>
                  <a:lnTo>
                    <a:pt x="0" y="9150"/>
                  </a:lnTo>
                  <a:cubicBezTo>
                    <a:pt x="0" y="6723"/>
                    <a:pt x="964" y="4396"/>
                    <a:pt x="2680" y="2680"/>
                  </a:cubicBezTo>
                  <a:cubicBezTo>
                    <a:pt x="4396" y="964"/>
                    <a:pt x="6723" y="0"/>
                    <a:pt x="91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0">
              <a:extLst>
                <a:ext uri="{FF2B5EF4-FFF2-40B4-BE49-F238E27FC236}">
                  <a16:creationId xmlns:a16="http://schemas.microsoft.com/office/drawing/2014/main" id="{5FB3A839-DAB5-0790-4BF9-0E176166CC89}"/>
                </a:ext>
              </a:extLst>
            </p:cNvPr>
            <p:cNvSpPr txBox="1"/>
            <p:nvPr/>
          </p:nvSpPr>
          <p:spPr>
            <a:xfrm>
              <a:off x="0" y="28575"/>
              <a:ext cx="4456998" cy="969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AutoShape 2">
            <a:extLst>
              <a:ext uri="{FF2B5EF4-FFF2-40B4-BE49-F238E27FC236}">
                <a16:creationId xmlns:a16="http://schemas.microsoft.com/office/drawing/2014/main" id="{6903B1AC-8D7C-202E-AB44-D0A8DE6C5975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FCC5FC4C-0094-2FBE-72EA-F323DCDE1063}"/>
              </a:ext>
            </a:extLst>
          </p:cNvPr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3.1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시나리오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07B69E51-1053-AC3A-5503-F9D882FF1E8F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</a:t>
            </a:r>
            <a:r>
              <a:rPr lang="ko-KR" alt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시연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A9D2BE7E-604D-85BB-84CC-44A6BEF81BB7}"/>
              </a:ext>
            </a:extLst>
          </p:cNvPr>
          <p:cNvSpPr txBox="1"/>
          <p:nvPr/>
        </p:nvSpPr>
        <p:spPr>
          <a:xfrm>
            <a:off x="1143000" y="7145917"/>
            <a:ext cx="9451301" cy="336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150" spc="-88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</a:t>
            </a:r>
            <a:r>
              <a:rPr lang="ko-KR" altLang="en-US" sz="2150" spc="-88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 컴플라이언스 담당자</a:t>
            </a:r>
            <a:r>
              <a:rPr lang="en-US" altLang="ko-KR" sz="2150" spc="-88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sz="2150" spc="-88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헤아림으로 사전 검토 시작</a:t>
            </a:r>
            <a:endParaRPr lang="en-US" sz="2150" spc="-88" dirty="0">
              <a:solidFill>
                <a:srgbClr val="000000">
                  <a:alpha val="93725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2D4ECB66-6314-44A3-381A-B5AFFDD00FB3}"/>
              </a:ext>
            </a:extLst>
          </p:cNvPr>
          <p:cNvSpPr txBox="1"/>
          <p:nvPr/>
        </p:nvSpPr>
        <p:spPr>
          <a:xfrm>
            <a:off x="1143000" y="6441265"/>
            <a:ext cx="6577163" cy="36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ko-KR" alt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 사용</a:t>
            </a:r>
            <a:endParaRPr lang="en-US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7" name="Freeform 23">
            <a:extLst>
              <a:ext uri="{FF2B5EF4-FFF2-40B4-BE49-F238E27FC236}">
                <a16:creationId xmlns:a16="http://schemas.microsoft.com/office/drawing/2014/main" id="{1D857330-1B8D-B719-7788-3F0BE17EEA32}"/>
              </a:ext>
            </a:extLst>
          </p:cNvPr>
          <p:cNvSpPr/>
          <p:nvPr/>
        </p:nvSpPr>
        <p:spPr>
          <a:xfrm>
            <a:off x="755809" y="63627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4" y="0"/>
                </a:lnTo>
                <a:lnTo>
                  <a:pt x="415344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EEE0EEC0-485C-39BF-9ACE-8E8A611B79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4524" y="6143049"/>
            <a:ext cx="7352711" cy="358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647D-D9E4-F30D-F5A9-5CE967407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E6477E28-381A-9005-0C4A-9EF72207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5D55BE0-36E7-5439-ED45-7C5CFEE6A05F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5A6DE973-B12A-14EB-8AC5-770E5330F169}"/>
              </a:ext>
            </a:extLst>
          </p:cNvPr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3.2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시연 영상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E2954554-DEB3-EF2C-85C6-C8BC424DF42E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</a:t>
            </a:r>
            <a:r>
              <a:rPr lang="ko-KR" alt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시연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  <p:extLst>
      <p:ext uri="{BB962C8B-B14F-4D97-AF65-F5344CB8AC3E}">
        <p14:creationId xmlns:p14="http://schemas.microsoft.com/office/powerpoint/2010/main" val="2113525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1345075" y="7473877"/>
            <a:ext cx="4450932" cy="2205568"/>
            <a:chOff x="0" y="0"/>
            <a:chExt cx="1172262" cy="5808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2262" cy="580890"/>
            </a:xfrm>
            <a:custGeom>
              <a:avLst/>
              <a:gdLst/>
              <a:ahLst/>
              <a:cxnLst/>
              <a:rect l="l" t="t" r="r" b="b"/>
              <a:pathLst>
                <a:path w="1172262" h="580890">
                  <a:moveTo>
                    <a:pt x="34788" y="0"/>
                  </a:moveTo>
                  <a:lnTo>
                    <a:pt x="1137474" y="0"/>
                  </a:lnTo>
                  <a:cubicBezTo>
                    <a:pt x="1156687" y="0"/>
                    <a:pt x="1172262" y="15575"/>
                    <a:pt x="1172262" y="34788"/>
                  </a:cubicBezTo>
                  <a:lnTo>
                    <a:pt x="1172262" y="546103"/>
                  </a:lnTo>
                  <a:cubicBezTo>
                    <a:pt x="1172262" y="565315"/>
                    <a:pt x="1156687" y="580890"/>
                    <a:pt x="1137474" y="580890"/>
                  </a:cubicBezTo>
                  <a:lnTo>
                    <a:pt x="34788" y="580890"/>
                  </a:lnTo>
                  <a:cubicBezTo>
                    <a:pt x="15575" y="580890"/>
                    <a:pt x="0" y="565315"/>
                    <a:pt x="0" y="546103"/>
                  </a:cubicBezTo>
                  <a:lnTo>
                    <a:pt x="0" y="34788"/>
                  </a:lnTo>
                  <a:cubicBezTo>
                    <a:pt x="0" y="15575"/>
                    <a:pt x="15575" y="0"/>
                    <a:pt x="3478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172262" cy="55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65092" y="7743334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83150" y="7473516"/>
            <a:ext cx="4450932" cy="2205568"/>
            <a:chOff x="0" y="0"/>
            <a:chExt cx="1172262" cy="5808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2262" cy="580890"/>
            </a:xfrm>
            <a:custGeom>
              <a:avLst/>
              <a:gdLst/>
              <a:ahLst/>
              <a:cxnLst/>
              <a:rect l="l" t="t" r="r" b="b"/>
              <a:pathLst>
                <a:path w="1172262" h="580890">
                  <a:moveTo>
                    <a:pt x="34788" y="0"/>
                  </a:moveTo>
                  <a:lnTo>
                    <a:pt x="1137474" y="0"/>
                  </a:lnTo>
                  <a:cubicBezTo>
                    <a:pt x="1156687" y="0"/>
                    <a:pt x="1172262" y="15575"/>
                    <a:pt x="1172262" y="34788"/>
                  </a:cubicBezTo>
                  <a:lnTo>
                    <a:pt x="1172262" y="546103"/>
                  </a:lnTo>
                  <a:cubicBezTo>
                    <a:pt x="1172262" y="565315"/>
                    <a:pt x="1156687" y="580890"/>
                    <a:pt x="1137474" y="580890"/>
                  </a:cubicBezTo>
                  <a:lnTo>
                    <a:pt x="34788" y="580890"/>
                  </a:lnTo>
                  <a:cubicBezTo>
                    <a:pt x="15575" y="580890"/>
                    <a:pt x="0" y="565315"/>
                    <a:pt x="0" y="546103"/>
                  </a:cubicBezTo>
                  <a:lnTo>
                    <a:pt x="0" y="34788"/>
                  </a:lnTo>
                  <a:cubicBezTo>
                    <a:pt x="0" y="15575"/>
                    <a:pt x="15575" y="0"/>
                    <a:pt x="3478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172262" cy="55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263972" y="774369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2686608" y="7473516"/>
            <a:ext cx="4450932" cy="2205568"/>
            <a:chOff x="0" y="0"/>
            <a:chExt cx="1172262" cy="5808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72262" cy="580890"/>
            </a:xfrm>
            <a:custGeom>
              <a:avLst/>
              <a:gdLst/>
              <a:ahLst/>
              <a:cxnLst/>
              <a:rect l="l" t="t" r="r" b="b"/>
              <a:pathLst>
                <a:path w="1172262" h="580890">
                  <a:moveTo>
                    <a:pt x="34788" y="0"/>
                  </a:moveTo>
                  <a:lnTo>
                    <a:pt x="1137474" y="0"/>
                  </a:lnTo>
                  <a:cubicBezTo>
                    <a:pt x="1156687" y="0"/>
                    <a:pt x="1172262" y="15575"/>
                    <a:pt x="1172262" y="34788"/>
                  </a:cubicBezTo>
                  <a:lnTo>
                    <a:pt x="1172262" y="546103"/>
                  </a:lnTo>
                  <a:cubicBezTo>
                    <a:pt x="1172262" y="565315"/>
                    <a:pt x="1156687" y="580890"/>
                    <a:pt x="1137474" y="580890"/>
                  </a:cubicBezTo>
                  <a:lnTo>
                    <a:pt x="34788" y="580890"/>
                  </a:lnTo>
                  <a:cubicBezTo>
                    <a:pt x="15575" y="580890"/>
                    <a:pt x="0" y="565315"/>
                    <a:pt x="0" y="546103"/>
                  </a:cubicBezTo>
                  <a:lnTo>
                    <a:pt x="0" y="34788"/>
                  </a:lnTo>
                  <a:cubicBezTo>
                    <a:pt x="0" y="15575"/>
                    <a:pt x="15575" y="0"/>
                    <a:pt x="3478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172262" cy="55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2902611" y="7743334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5789931" y="3224717"/>
            <a:ext cx="9767714" cy="821006"/>
            <a:chOff x="0" y="0"/>
            <a:chExt cx="2572567" cy="2162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72567" cy="216232"/>
            </a:xfrm>
            <a:custGeom>
              <a:avLst/>
              <a:gdLst/>
              <a:ahLst/>
              <a:cxnLst/>
              <a:rect l="l" t="t" r="r" b="b"/>
              <a:pathLst>
                <a:path w="2572567" h="216232">
                  <a:moveTo>
                    <a:pt x="15852" y="0"/>
                  </a:moveTo>
                  <a:lnTo>
                    <a:pt x="2556714" y="0"/>
                  </a:lnTo>
                  <a:cubicBezTo>
                    <a:pt x="2560919" y="0"/>
                    <a:pt x="2564951" y="1670"/>
                    <a:pt x="2567924" y="4643"/>
                  </a:cubicBezTo>
                  <a:cubicBezTo>
                    <a:pt x="2570897" y="7616"/>
                    <a:pt x="2572567" y="11648"/>
                    <a:pt x="2572567" y="15852"/>
                  </a:cubicBezTo>
                  <a:lnTo>
                    <a:pt x="2572567" y="200380"/>
                  </a:lnTo>
                  <a:cubicBezTo>
                    <a:pt x="2572567" y="204584"/>
                    <a:pt x="2570897" y="208616"/>
                    <a:pt x="2567924" y="211589"/>
                  </a:cubicBezTo>
                  <a:cubicBezTo>
                    <a:pt x="2564951" y="214562"/>
                    <a:pt x="2560919" y="216232"/>
                    <a:pt x="2556714" y="216232"/>
                  </a:cubicBezTo>
                  <a:lnTo>
                    <a:pt x="15852" y="216232"/>
                  </a:lnTo>
                  <a:cubicBezTo>
                    <a:pt x="11648" y="216232"/>
                    <a:pt x="7616" y="214562"/>
                    <a:pt x="4643" y="211589"/>
                  </a:cubicBezTo>
                  <a:cubicBezTo>
                    <a:pt x="1670" y="208616"/>
                    <a:pt x="0" y="204584"/>
                    <a:pt x="0" y="200380"/>
                  </a:cubicBezTo>
                  <a:lnTo>
                    <a:pt x="0" y="15852"/>
                  </a:lnTo>
                  <a:cubicBezTo>
                    <a:pt x="0" y="11648"/>
                    <a:pt x="1670" y="7616"/>
                    <a:pt x="4643" y="4643"/>
                  </a:cubicBezTo>
                  <a:cubicBezTo>
                    <a:pt x="7616" y="1670"/>
                    <a:pt x="11648" y="0"/>
                    <a:pt x="1585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2572567" cy="187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6080522" y="3433234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196717" y="1793695"/>
            <a:ext cx="8044590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최종 진단 결과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89931" y="4714715"/>
            <a:ext cx="9555920" cy="1411003"/>
            <a:chOff x="0" y="0"/>
            <a:chExt cx="2516786" cy="37162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16786" cy="371622"/>
            </a:xfrm>
            <a:custGeom>
              <a:avLst/>
              <a:gdLst/>
              <a:ahLst/>
              <a:cxnLst/>
              <a:rect l="l" t="t" r="r" b="b"/>
              <a:pathLst>
                <a:path w="2516786" h="371622">
                  <a:moveTo>
                    <a:pt x="16203" y="0"/>
                  </a:moveTo>
                  <a:lnTo>
                    <a:pt x="2500582" y="0"/>
                  </a:lnTo>
                  <a:cubicBezTo>
                    <a:pt x="2504879" y="0"/>
                    <a:pt x="2509001" y="1707"/>
                    <a:pt x="2512040" y="4746"/>
                  </a:cubicBezTo>
                  <a:cubicBezTo>
                    <a:pt x="2515078" y="7785"/>
                    <a:pt x="2516786" y="11906"/>
                    <a:pt x="2516786" y="16203"/>
                  </a:cubicBezTo>
                  <a:lnTo>
                    <a:pt x="2516786" y="355419"/>
                  </a:lnTo>
                  <a:cubicBezTo>
                    <a:pt x="2516786" y="359716"/>
                    <a:pt x="2515078" y="363838"/>
                    <a:pt x="2512040" y="366876"/>
                  </a:cubicBezTo>
                  <a:cubicBezTo>
                    <a:pt x="2509001" y="369915"/>
                    <a:pt x="2504879" y="371622"/>
                    <a:pt x="2500582" y="371622"/>
                  </a:cubicBezTo>
                  <a:lnTo>
                    <a:pt x="16203" y="371622"/>
                  </a:lnTo>
                  <a:cubicBezTo>
                    <a:pt x="11906" y="371622"/>
                    <a:pt x="7785" y="369915"/>
                    <a:pt x="4746" y="366876"/>
                  </a:cubicBezTo>
                  <a:cubicBezTo>
                    <a:pt x="1707" y="363838"/>
                    <a:pt x="0" y="359716"/>
                    <a:pt x="0" y="355419"/>
                  </a:cubicBezTo>
                  <a:lnTo>
                    <a:pt x="0" y="16203"/>
                  </a:lnTo>
                  <a:cubicBezTo>
                    <a:pt x="0" y="11906"/>
                    <a:pt x="1707" y="7785"/>
                    <a:pt x="4746" y="4746"/>
                  </a:cubicBezTo>
                  <a:cubicBezTo>
                    <a:pt x="7785" y="1707"/>
                    <a:pt x="11906" y="0"/>
                    <a:pt x="1620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28575"/>
              <a:ext cx="2516786" cy="343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2422" y="4862283"/>
            <a:ext cx="266700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55555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 결론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42422" y="5177564"/>
            <a:ext cx="1095216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자사상품의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검색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상단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노출에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후기·평점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조작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등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위계가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결합되면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소비자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오인을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초래할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수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있으며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</a:p>
          <a:p>
            <a:pPr algn="l">
              <a:lnSpc>
                <a:spcPts val="2849"/>
              </a:lnSpc>
            </a:pP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공정거래법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제45조 제1항 제4호 </a:t>
            </a:r>
            <a:r>
              <a:rPr lang="en-US" sz="1899" b="1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위계에</a:t>
            </a:r>
            <a:r>
              <a:rPr lang="en-US" sz="1899" b="1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99" b="1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의한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b="1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고객유인에</a:t>
            </a:r>
            <a:r>
              <a:rPr lang="en-US" sz="1899" b="1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99" b="1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해당할</a:t>
            </a:r>
            <a:r>
              <a:rPr lang="en-US" sz="1899" b="1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99" b="1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가능성이</a:t>
            </a:r>
            <a:r>
              <a:rPr lang="en-US" sz="1899" b="1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99" b="1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높음</a:t>
            </a:r>
            <a:endParaRPr lang="en-US" sz="1899" b="1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51869" y="6856931"/>
            <a:ext cx="2667000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5555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컴플라이언스 체크리스트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65092" y="8229109"/>
            <a:ext cx="41321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검색</a:t>
            </a:r>
            <a:r>
              <a:rPr 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노출</a:t>
            </a:r>
            <a:r>
              <a:rPr 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기준</a:t>
            </a:r>
            <a:r>
              <a:rPr 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점검</a:t>
            </a:r>
            <a:endParaRPr lang="en-US" sz="1947" b="1" spc="-38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837996" y="7679200"/>
            <a:ext cx="695606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4849F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필수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65092" y="8699696"/>
            <a:ext cx="3641266" cy="69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자사상품과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입점업체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상품의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검색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노출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순위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결정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기준이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객관적이고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투명한지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검토</a:t>
            </a:r>
            <a:endParaRPr lang="en-US" sz="1647" spc="-32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263972" y="8229470"/>
            <a:ext cx="41321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소비자 고지 여부 확인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603643" y="7659367"/>
            <a:ext cx="695606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4849F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필수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63972" y="8700057"/>
            <a:ext cx="3641266" cy="69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자사상품이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우대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노출될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수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있다는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사실을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  <a:p>
            <a:pPr algn="l">
              <a:lnSpc>
                <a:spcPts val="2801"/>
              </a:lnSpc>
            </a:pP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소비자에게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고지하고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있는지</a:t>
            </a:r>
            <a:r>
              <a:rPr lang="en-US" sz="1647" spc="-32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47" spc="-32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확인</a:t>
            </a:r>
            <a:endParaRPr lang="en-US" sz="1647" spc="-32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902611" y="8229109"/>
            <a:ext cx="41321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모니터링 체계 구축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196074" y="7679200"/>
            <a:ext cx="695606" cy="27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권장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902611" y="8699696"/>
            <a:ext cx="3641266" cy="69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1647" spc="-32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검색 결과 노출 현황을 정기적으로 점검하는 내부 프로세스 마련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43356" y="3483458"/>
            <a:ext cx="4132184" cy="290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9"/>
              </a:lnSpc>
            </a:pPr>
            <a:r>
              <a:rPr lang="en-US" sz="1647" b="1" spc="-32">
                <a:solidFill>
                  <a:srgbClr val="737373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관련 법령 및 근거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31016" y="3327054"/>
            <a:ext cx="6924067" cy="593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공정거래법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제45조 제1항 제4호(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위계에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의한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고객유인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) ·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검색순위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조작·후기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조작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관련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공정위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및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시정명령·과징금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부과</a:t>
            </a:r>
            <a:r>
              <a:rPr lang="en-US" sz="1447" spc="-2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447" spc="-2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선례</a:t>
            </a:r>
            <a:endParaRPr lang="en-US" sz="1447" spc="-28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56" name="슬라이드 번호 개체 틀 55">
            <a:extLst>
              <a:ext uri="{FF2B5EF4-FFF2-40B4-BE49-F238E27FC236}">
                <a16:creationId xmlns:a16="http://schemas.microsoft.com/office/drawing/2014/main" id="{D8B2A6BE-5974-2EC1-C95B-B3467F71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6BEF24C-FCBF-C83B-A1B0-104B3D253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321" y="3192620"/>
            <a:ext cx="3302079" cy="2933097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A818EC8-F941-37E4-2CD6-75FDDB7CE901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8923908F-C0A4-E06F-F6B3-F508FF25CF60}"/>
              </a:ext>
            </a:extLst>
          </p:cNvPr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4.1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 결과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F25070CA-65F6-BF33-AE41-54DD89265B37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</a:t>
            </a:r>
            <a:r>
              <a:rPr lang="ko-KR" alt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결과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552A-C651-5AA8-6E82-945884DBC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19807B6-7BB6-88BC-24BE-2B258F05B3DB}"/>
              </a:ext>
            </a:extLst>
          </p:cNvPr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5DB61CD-7195-00F9-DC1F-2B7AC1A623BD}"/>
              </a:ext>
            </a:extLst>
          </p:cNvPr>
          <p:cNvGrpSpPr/>
          <p:nvPr/>
        </p:nvGrpSpPr>
        <p:grpSpPr>
          <a:xfrm>
            <a:off x="1187152" y="3695700"/>
            <a:ext cx="7400965" cy="3428999"/>
            <a:chOff x="0" y="0"/>
            <a:chExt cx="2124565" cy="122333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0725DDB-2845-B80E-895E-17F73943E60E}"/>
                </a:ext>
              </a:extLst>
            </p:cNvPr>
            <p:cNvSpPr/>
            <p:nvPr/>
          </p:nvSpPr>
          <p:spPr>
            <a:xfrm>
              <a:off x="0" y="0"/>
              <a:ext cx="2124565" cy="1223330"/>
            </a:xfrm>
            <a:custGeom>
              <a:avLst/>
              <a:gdLst/>
              <a:ahLst/>
              <a:cxnLst/>
              <a:rect l="l" t="t" r="r" b="b"/>
              <a:pathLst>
                <a:path w="2124565" h="1223330">
                  <a:moveTo>
                    <a:pt x="19195" y="0"/>
                  </a:moveTo>
                  <a:lnTo>
                    <a:pt x="2105370" y="0"/>
                  </a:lnTo>
                  <a:cubicBezTo>
                    <a:pt x="2110461" y="0"/>
                    <a:pt x="2115343" y="2022"/>
                    <a:pt x="2118943" y="5622"/>
                  </a:cubicBezTo>
                  <a:cubicBezTo>
                    <a:pt x="2122543" y="9222"/>
                    <a:pt x="2124565" y="14104"/>
                    <a:pt x="2124565" y="19195"/>
                  </a:cubicBezTo>
                  <a:lnTo>
                    <a:pt x="2124565" y="1204135"/>
                  </a:lnTo>
                  <a:cubicBezTo>
                    <a:pt x="2124565" y="1214736"/>
                    <a:pt x="2115971" y="1223330"/>
                    <a:pt x="2105370" y="1223330"/>
                  </a:cubicBezTo>
                  <a:lnTo>
                    <a:pt x="19195" y="1223330"/>
                  </a:lnTo>
                  <a:cubicBezTo>
                    <a:pt x="14104" y="1223330"/>
                    <a:pt x="9222" y="1221308"/>
                    <a:pt x="5622" y="1217708"/>
                  </a:cubicBezTo>
                  <a:cubicBezTo>
                    <a:pt x="2022" y="1214108"/>
                    <a:pt x="0" y="1209226"/>
                    <a:pt x="0" y="1204135"/>
                  </a:cubicBezTo>
                  <a:lnTo>
                    <a:pt x="0" y="19195"/>
                  </a:lnTo>
                  <a:cubicBezTo>
                    <a:pt x="0" y="8594"/>
                    <a:pt x="8594" y="0"/>
                    <a:pt x="1919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81FF691-CEB5-2C7E-71F5-35C0F83FB977}"/>
                </a:ext>
              </a:extLst>
            </p:cNvPr>
            <p:cNvSpPr txBox="1"/>
            <p:nvPr/>
          </p:nvSpPr>
          <p:spPr>
            <a:xfrm>
              <a:off x="0" y="28575"/>
              <a:ext cx="2124565" cy="119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7C0926CA-7052-67B0-B844-97059218E743}"/>
              </a:ext>
            </a:extLst>
          </p:cNvPr>
          <p:cNvSpPr/>
          <p:nvPr/>
        </p:nvSpPr>
        <p:spPr>
          <a:xfrm>
            <a:off x="1491092" y="6311767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7841E5E-8AB6-B575-EB5D-E30F6BF757F0}"/>
              </a:ext>
            </a:extLst>
          </p:cNvPr>
          <p:cNvSpPr txBox="1"/>
          <p:nvPr/>
        </p:nvSpPr>
        <p:spPr>
          <a:xfrm>
            <a:off x="1196717" y="1793695"/>
            <a:ext cx="6577163" cy="36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4"/>
              </a:lnSpc>
            </a:pPr>
            <a:r>
              <a:rPr lang="ko-KR" alt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차별성 및 독창성</a:t>
            </a:r>
            <a:endParaRPr lang="en-US" altLang="ko-KR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E09E818-C428-4001-0667-4EBFDA44FBDA}"/>
              </a:ext>
            </a:extLst>
          </p:cNvPr>
          <p:cNvSpPr txBox="1"/>
          <p:nvPr/>
        </p:nvSpPr>
        <p:spPr>
          <a:xfrm>
            <a:off x="1460750" y="4099703"/>
            <a:ext cx="6577163" cy="30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ko-KR" altLang="en-US" sz="2450" b="1" spc="-47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공정거래법 특화</a:t>
            </a:r>
            <a:endParaRPr lang="en-US" sz="2450" b="1" spc="-47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BB4E5025-D2EC-DFC6-2D74-E087DAF0D6B7}"/>
              </a:ext>
            </a:extLst>
          </p:cNvPr>
          <p:cNvSpPr/>
          <p:nvPr/>
        </p:nvSpPr>
        <p:spPr>
          <a:xfrm>
            <a:off x="1476805" y="5549767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CF2A037-3E0E-91BC-02C1-79003EED7C9B}"/>
              </a:ext>
            </a:extLst>
          </p:cNvPr>
          <p:cNvSpPr txBox="1"/>
          <p:nvPr/>
        </p:nvSpPr>
        <p:spPr>
          <a:xfrm>
            <a:off x="2108179" y="4823555"/>
            <a:ext cx="6071479" cy="329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4"/>
              </a:lnSpc>
            </a:pPr>
            <a:r>
              <a:rPr lang="ko-KR" altLang="ko-KR" sz="1947" spc="-3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공정위</a:t>
            </a:r>
            <a:r>
              <a:rPr lang="ko-KR" altLang="ko-KR" sz="1947" spc="-3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 </a:t>
            </a:r>
            <a:r>
              <a:rPr lang="ko-KR" altLang="ko-KR" sz="1947" spc="-3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의결서·법령을</a:t>
            </a:r>
            <a:r>
              <a:rPr lang="ko-KR" altLang="ko-KR" sz="1947" spc="-3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 리스크 스코어로 정량화</a:t>
            </a:r>
            <a:endParaRPr lang="en-US" sz="1947" spc="-38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70A7613-0DCD-A11D-E53F-5A4048CE8659}"/>
              </a:ext>
            </a:extLst>
          </p:cNvPr>
          <p:cNvSpPr txBox="1"/>
          <p:nvPr/>
        </p:nvSpPr>
        <p:spPr>
          <a:xfrm>
            <a:off x="2108179" y="6355267"/>
            <a:ext cx="6479938" cy="32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4"/>
              </a:lnSpc>
            </a:pPr>
            <a:r>
              <a:rPr lang="ko-KR" altLang="ko-KR" sz="1947" spc="-3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4가지 상황에 맞춰 진단 방향 조정</a:t>
            </a:r>
          </a:p>
        </p:txBody>
      </p: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B2562841-9853-6F99-407A-6C72CBE1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0" name="AutoShape 2">
            <a:extLst>
              <a:ext uri="{FF2B5EF4-FFF2-40B4-BE49-F238E27FC236}">
                <a16:creationId xmlns:a16="http://schemas.microsoft.com/office/drawing/2014/main" id="{11123EF7-23B7-CD6D-8F2F-B6373154BD70}"/>
              </a:ext>
            </a:extLst>
          </p:cNvPr>
          <p:cNvSpPr/>
          <p:nvPr/>
        </p:nvSpPr>
        <p:spPr>
          <a:xfrm flipV="1">
            <a:off x="912239" y="952500"/>
            <a:ext cx="916561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C1C3E1B0-CC45-687A-21D9-7CC6B0B58DCF}"/>
              </a:ext>
            </a:extLst>
          </p:cNvPr>
          <p:cNvSpPr txBox="1"/>
          <p:nvPr/>
        </p:nvSpPr>
        <p:spPr>
          <a:xfrm>
            <a:off x="1987831" y="535322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4.2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인사이트 및 차별성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44" name="TextBox 25">
            <a:extLst>
              <a:ext uri="{FF2B5EF4-FFF2-40B4-BE49-F238E27FC236}">
                <a16:creationId xmlns:a16="http://schemas.microsoft.com/office/drawing/2014/main" id="{62439B49-0101-39A5-BCB4-E881378BAA25}"/>
              </a:ext>
            </a:extLst>
          </p:cNvPr>
          <p:cNvSpPr txBox="1"/>
          <p:nvPr/>
        </p:nvSpPr>
        <p:spPr>
          <a:xfrm>
            <a:off x="881206" y="398628"/>
            <a:ext cx="1023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</a:t>
            </a:r>
            <a:r>
              <a:rPr lang="ko-KR" alt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결과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6" name="Freeform 11">
            <a:extLst>
              <a:ext uri="{FF2B5EF4-FFF2-40B4-BE49-F238E27FC236}">
                <a16:creationId xmlns:a16="http://schemas.microsoft.com/office/drawing/2014/main" id="{ED8AC3B8-FE9B-36F8-FE0B-59D1E379F46E}"/>
              </a:ext>
            </a:extLst>
          </p:cNvPr>
          <p:cNvSpPr>
            <a:spLocks noChangeAspect="1"/>
          </p:cNvSpPr>
          <p:nvPr/>
        </p:nvSpPr>
        <p:spPr>
          <a:xfrm>
            <a:off x="1516405" y="4817842"/>
            <a:ext cx="417600" cy="417600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1477732D-A588-6FF3-6137-1367A9F64D03}"/>
              </a:ext>
            </a:extLst>
          </p:cNvPr>
          <p:cNvSpPr txBox="1"/>
          <p:nvPr/>
        </p:nvSpPr>
        <p:spPr>
          <a:xfrm>
            <a:off x="2108179" y="5601960"/>
            <a:ext cx="6479938" cy="33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824"/>
              </a:lnSpc>
            </a:pPr>
            <a:r>
              <a:rPr lang="ko-KR" altLang="ko-KR" sz="1947" spc="-3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리스크 스코어(0~100점)와 위험 등급을 날씨로 시각화</a:t>
            </a:r>
          </a:p>
        </p:txBody>
      </p:sp>
      <p:grpSp>
        <p:nvGrpSpPr>
          <p:cNvPr id="39" name="Group 4">
            <a:extLst>
              <a:ext uri="{FF2B5EF4-FFF2-40B4-BE49-F238E27FC236}">
                <a16:creationId xmlns:a16="http://schemas.microsoft.com/office/drawing/2014/main" id="{E10B70B3-4937-3041-5D55-D47C8D7246F8}"/>
              </a:ext>
            </a:extLst>
          </p:cNvPr>
          <p:cNvGrpSpPr/>
          <p:nvPr/>
        </p:nvGrpSpPr>
        <p:grpSpPr>
          <a:xfrm>
            <a:off x="9972635" y="3695700"/>
            <a:ext cx="7400965" cy="3429000"/>
            <a:chOff x="0" y="0"/>
            <a:chExt cx="2124565" cy="1223330"/>
          </a:xfrm>
        </p:grpSpPr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119728D4-0DA1-DAB6-B482-BB10E9AF2FB2}"/>
                </a:ext>
              </a:extLst>
            </p:cNvPr>
            <p:cNvSpPr/>
            <p:nvPr/>
          </p:nvSpPr>
          <p:spPr>
            <a:xfrm>
              <a:off x="0" y="0"/>
              <a:ext cx="2124565" cy="1223330"/>
            </a:xfrm>
            <a:custGeom>
              <a:avLst/>
              <a:gdLst/>
              <a:ahLst/>
              <a:cxnLst/>
              <a:rect l="l" t="t" r="r" b="b"/>
              <a:pathLst>
                <a:path w="2124565" h="1223330">
                  <a:moveTo>
                    <a:pt x="19195" y="0"/>
                  </a:moveTo>
                  <a:lnTo>
                    <a:pt x="2105370" y="0"/>
                  </a:lnTo>
                  <a:cubicBezTo>
                    <a:pt x="2110461" y="0"/>
                    <a:pt x="2115343" y="2022"/>
                    <a:pt x="2118943" y="5622"/>
                  </a:cubicBezTo>
                  <a:cubicBezTo>
                    <a:pt x="2122543" y="9222"/>
                    <a:pt x="2124565" y="14104"/>
                    <a:pt x="2124565" y="19195"/>
                  </a:cubicBezTo>
                  <a:lnTo>
                    <a:pt x="2124565" y="1204135"/>
                  </a:lnTo>
                  <a:cubicBezTo>
                    <a:pt x="2124565" y="1214736"/>
                    <a:pt x="2115971" y="1223330"/>
                    <a:pt x="2105370" y="1223330"/>
                  </a:cubicBezTo>
                  <a:lnTo>
                    <a:pt x="19195" y="1223330"/>
                  </a:lnTo>
                  <a:cubicBezTo>
                    <a:pt x="14104" y="1223330"/>
                    <a:pt x="9222" y="1221308"/>
                    <a:pt x="5622" y="1217708"/>
                  </a:cubicBezTo>
                  <a:cubicBezTo>
                    <a:pt x="2022" y="1214108"/>
                    <a:pt x="0" y="1209226"/>
                    <a:pt x="0" y="1204135"/>
                  </a:cubicBezTo>
                  <a:lnTo>
                    <a:pt x="0" y="19195"/>
                  </a:lnTo>
                  <a:cubicBezTo>
                    <a:pt x="0" y="8594"/>
                    <a:pt x="8594" y="0"/>
                    <a:pt x="1919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3" name="TextBox 6">
              <a:extLst>
                <a:ext uri="{FF2B5EF4-FFF2-40B4-BE49-F238E27FC236}">
                  <a16:creationId xmlns:a16="http://schemas.microsoft.com/office/drawing/2014/main" id="{6E1A6657-C20D-DE4C-EFFC-56F051B70A61}"/>
                </a:ext>
              </a:extLst>
            </p:cNvPr>
            <p:cNvSpPr txBox="1"/>
            <p:nvPr/>
          </p:nvSpPr>
          <p:spPr>
            <a:xfrm>
              <a:off x="0" y="28575"/>
              <a:ext cx="2124565" cy="119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TextBox 18">
            <a:extLst>
              <a:ext uri="{FF2B5EF4-FFF2-40B4-BE49-F238E27FC236}">
                <a16:creationId xmlns:a16="http://schemas.microsoft.com/office/drawing/2014/main" id="{CE766AEE-4F65-1FF1-626D-485F185765BE}"/>
              </a:ext>
            </a:extLst>
          </p:cNvPr>
          <p:cNvSpPr txBox="1"/>
          <p:nvPr/>
        </p:nvSpPr>
        <p:spPr>
          <a:xfrm>
            <a:off x="10246233" y="4099703"/>
            <a:ext cx="6577163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58"/>
              </a:lnSpc>
            </a:pPr>
            <a:r>
              <a:rPr lang="ko-KR" altLang="ko-KR" sz="2450" b="1" spc="-47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</a:rPr>
              <a:t>다관점</a:t>
            </a:r>
            <a:r>
              <a:rPr lang="ko-KR" altLang="ko-KR" sz="2450" b="1" spc="-47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</a:rPr>
              <a:t> 검증 구조</a:t>
            </a:r>
          </a:p>
        </p:txBody>
      </p:sp>
      <p:sp>
        <p:nvSpPr>
          <p:cNvPr id="48" name="TextBox 20">
            <a:extLst>
              <a:ext uri="{FF2B5EF4-FFF2-40B4-BE49-F238E27FC236}">
                <a16:creationId xmlns:a16="http://schemas.microsoft.com/office/drawing/2014/main" id="{74F02AE7-2065-F998-8B0E-849B7814977F}"/>
              </a:ext>
            </a:extLst>
          </p:cNvPr>
          <p:cNvSpPr txBox="1"/>
          <p:nvPr/>
        </p:nvSpPr>
        <p:spPr>
          <a:xfrm>
            <a:off x="10893662" y="4731612"/>
            <a:ext cx="6071479" cy="33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4"/>
              </a:lnSpc>
            </a:pPr>
            <a:r>
              <a:rPr lang="ko-KR" altLang="ko-KR" sz="1947" spc="-3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4개 에이전트가 각각 신뢰도 점수를 산출해 종합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E79A66B6-2257-F8CC-8C68-C517A04B479D}"/>
              </a:ext>
            </a:extLst>
          </p:cNvPr>
          <p:cNvSpPr txBox="1"/>
          <p:nvPr/>
        </p:nvSpPr>
        <p:spPr>
          <a:xfrm>
            <a:off x="10893662" y="6356226"/>
            <a:ext cx="6479938" cy="33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4"/>
              </a:lnSpc>
            </a:pPr>
            <a:r>
              <a:rPr lang="ko-KR" altLang="ko-KR" sz="1947" spc="-3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4개 에이전트의 판단 일관성을 교차 확인</a:t>
            </a:r>
          </a:p>
        </p:txBody>
      </p:sp>
      <p:sp>
        <p:nvSpPr>
          <p:cNvPr id="51" name="TextBox 22">
            <a:extLst>
              <a:ext uri="{FF2B5EF4-FFF2-40B4-BE49-F238E27FC236}">
                <a16:creationId xmlns:a16="http://schemas.microsoft.com/office/drawing/2014/main" id="{4D7560E4-F3B3-1546-2034-9513315D49F2}"/>
              </a:ext>
            </a:extLst>
          </p:cNvPr>
          <p:cNvSpPr txBox="1"/>
          <p:nvPr/>
        </p:nvSpPr>
        <p:spPr>
          <a:xfrm>
            <a:off x="10893662" y="5510017"/>
            <a:ext cx="6479938" cy="33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4"/>
              </a:lnSpc>
            </a:pPr>
            <a:r>
              <a:rPr lang="ko-KR" altLang="ko-KR" sz="1947" spc="-3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판단 근거를 </a:t>
            </a:r>
            <a:r>
              <a:rPr lang="ko-KR" altLang="ko-KR" sz="1947" spc="-38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법령·의결서</a:t>
            </a:r>
            <a:r>
              <a:rPr lang="ko-KR" altLang="ko-KR" sz="1947" spc="-38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 원문과 함께 제시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74944B8E-2D5A-FA6D-B65D-7E9D53C6607C}"/>
              </a:ext>
            </a:extLst>
          </p:cNvPr>
          <p:cNvSpPr/>
          <p:nvPr/>
        </p:nvSpPr>
        <p:spPr>
          <a:xfrm>
            <a:off x="10223325" y="5425661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7" name="Freeform 63">
            <a:extLst>
              <a:ext uri="{FF2B5EF4-FFF2-40B4-BE49-F238E27FC236}">
                <a16:creationId xmlns:a16="http://schemas.microsoft.com/office/drawing/2014/main" id="{C669973C-B391-B307-28D0-601EC363A4AD}"/>
              </a:ext>
            </a:extLst>
          </p:cNvPr>
          <p:cNvSpPr>
            <a:spLocks noChangeAspect="1"/>
          </p:cNvSpPr>
          <p:nvPr/>
        </p:nvSpPr>
        <p:spPr>
          <a:xfrm>
            <a:off x="10223325" y="4686299"/>
            <a:ext cx="525600" cy="525600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661FED3-C33D-F0A7-5636-CE4303C63AB4}"/>
              </a:ext>
            </a:extLst>
          </p:cNvPr>
          <p:cNvSpPr>
            <a:spLocks noChangeAspect="1"/>
          </p:cNvSpPr>
          <p:nvPr/>
        </p:nvSpPr>
        <p:spPr>
          <a:xfrm>
            <a:off x="10223325" y="6256200"/>
            <a:ext cx="525600" cy="5256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5920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268" y="3261164"/>
            <a:ext cx="3830679" cy="4338633"/>
            <a:chOff x="0" y="0"/>
            <a:chExt cx="1008903" cy="11426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8903" cy="1142685"/>
            </a:xfrm>
            <a:custGeom>
              <a:avLst/>
              <a:gdLst/>
              <a:ahLst/>
              <a:cxnLst/>
              <a:rect l="l" t="t" r="r" b="b"/>
              <a:pathLst>
                <a:path w="1008903" h="1142685">
                  <a:moveTo>
                    <a:pt x="40421" y="0"/>
                  </a:moveTo>
                  <a:lnTo>
                    <a:pt x="968483" y="0"/>
                  </a:lnTo>
                  <a:cubicBezTo>
                    <a:pt x="979203" y="0"/>
                    <a:pt x="989484" y="4259"/>
                    <a:pt x="997064" y="11839"/>
                  </a:cubicBezTo>
                  <a:cubicBezTo>
                    <a:pt x="1004645" y="19419"/>
                    <a:pt x="1008903" y="29700"/>
                    <a:pt x="1008903" y="40421"/>
                  </a:cubicBezTo>
                  <a:lnTo>
                    <a:pt x="1008903" y="1102265"/>
                  </a:lnTo>
                  <a:cubicBezTo>
                    <a:pt x="1008903" y="1112985"/>
                    <a:pt x="1004645" y="1123266"/>
                    <a:pt x="997064" y="1130846"/>
                  </a:cubicBezTo>
                  <a:cubicBezTo>
                    <a:pt x="989484" y="1138427"/>
                    <a:pt x="979203" y="1142685"/>
                    <a:pt x="968483" y="1142685"/>
                  </a:cubicBezTo>
                  <a:lnTo>
                    <a:pt x="40421" y="1142685"/>
                  </a:lnTo>
                  <a:cubicBezTo>
                    <a:pt x="29700" y="1142685"/>
                    <a:pt x="19419" y="1138427"/>
                    <a:pt x="11839" y="1130846"/>
                  </a:cubicBezTo>
                  <a:cubicBezTo>
                    <a:pt x="4259" y="1123266"/>
                    <a:pt x="0" y="1112985"/>
                    <a:pt x="0" y="1102265"/>
                  </a:cubicBezTo>
                  <a:lnTo>
                    <a:pt x="0" y="40421"/>
                  </a:lnTo>
                  <a:cubicBezTo>
                    <a:pt x="0" y="29700"/>
                    <a:pt x="4259" y="19419"/>
                    <a:pt x="11839" y="11839"/>
                  </a:cubicBezTo>
                  <a:cubicBezTo>
                    <a:pt x="19419" y="4259"/>
                    <a:pt x="29700" y="0"/>
                    <a:pt x="4042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008903" cy="1114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2362200" y="4095359"/>
            <a:ext cx="2072339" cy="1336486"/>
            <a:chOff x="0" y="0"/>
            <a:chExt cx="662303" cy="4271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2303" cy="427130"/>
            </a:xfrm>
            <a:custGeom>
              <a:avLst/>
              <a:gdLst/>
              <a:ahLst/>
              <a:cxnLst/>
              <a:rect l="l" t="t" r="r" b="b"/>
              <a:pathLst>
                <a:path w="662303" h="427130">
                  <a:moveTo>
                    <a:pt x="93067" y="0"/>
                  </a:moveTo>
                  <a:lnTo>
                    <a:pt x="569236" y="0"/>
                  </a:lnTo>
                  <a:cubicBezTo>
                    <a:pt x="620635" y="0"/>
                    <a:pt x="662303" y="41668"/>
                    <a:pt x="662303" y="93067"/>
                  </a:cubicBezTo>
                  <a:lnTo>
                    <a:pt x="662303" y="334063"/>
                  </a:lnTo>
                  <a:cubicBezTo>
                    <a:pt x="662303" y="358746"/>
                    <a:pt x="652497" y="382418"/>
                    <a:pt x="635044" y="399871"/>
                  </a:cubicBezTo>
                  <a:cubicBezTo>
                    <a:pt x="617591" y="417325"/>
                    <a:pt x="593919" y="427130"/>
                    <a:pt x="569236" y="427130"/>
                  </a:cubicBezTo>
                  <a:lnTo>
                    <a:pt x="93067" y="427130"/>
                  </a:lnTo>
                  <a:cubicBezTo>
                    <a:pt x="41668" y="427130"/>
                    <a:pt x="0" y="385463"/>
                    <a:pt x="0" y="334063"/>
                  </a:cubicBezTo>
                  <a:lnTo>
                    <a:pt x="0" y="93067"/>
                  </a:lnTo>
                  <a:cubicBezTo>
                    <a:pt x="0" y="41668"/>
                    <a:pt x="41668" y="0"/>
                    <a:pt x="93067" y="0"/>
                  </a:cubicBezTo>
                  <a:close/>
                </a:path>
              </a:pathLst>
            </a:custGeom>
            <a:blipFill>
              <a:blip r:embed="rId2"/>
              <a:stretch>
                <a:fillRect t="-27529" b="-27529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49053" y="3261164"/>
            <a:ext cx="3830679" cy="4338633"/>
            <a:chOff x="0" y="0"/>
            <a:chExt cx="1008903" cy="11426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8903" cy="1142685"/>
            </a:xfrm>
            <a:custGeom>
              <a:avLst/>
              <a:gdLst/>
              <a:ahLst/>
              <a:cxnLst/>
              <a:rect l="l" t="t" r="r" b="b"/>
              <a:pathLst>
                <a:path w="1008903" h="1142685">
                  <a:moveTo>
                    <a:pt x="40421" y="0"/>
                  </a:moveTo>
                  <a:lnTo>
                    <a:pt x="968483" y="0"/>
                  </a:lnTo>
                  <a:cubicBezTo>
                    <a:pt x="979203" y="0"/>
                    <a:pt x="989484" y="4259"/>
                    <a:pt x="997064" y="11839"/>
                  </a:cubicBezTo>
                  <a:cubicBezTo>
                    <a:pt x="1004645" y="19419"/>
                    <a:pt x="1008903" y="29700"/>
                    <a:pt x="1008903" y="40421"/>
                  </a:cubicBezTo>
                  <a:lnTo>
                    <a:pt x="1008903" y="1102265"/>
                  </a:lnTo>
                  <a:cubicBezTo>
                    <a:pt x="1008903" y="1112985"/>
                    <a:pt x="1004645" y="1123266"/>
                    <a:pt x="997064" y="1130846"/>
                  </a:cubicBezTo>
                  <a:cubicBezTo>
                    <a:pt x="989484" y="1138427"/>
                    <a:pt x="979203" y="1142685"/>
                    <a:pt x="968483" y="1142685"/>
                  </a:cubicBezTo>
                  <a:lnTo>
                    <a:pt x="40421" y="1142685"/>
                  </a:lnTo>
                  <a:cubicBezTo>
                    <a:pt x="29700" y="1142685"/>
                    <a:pt x="19419" y="1138427"/>
                    <a:pt x="11839" y="1130846"/>
                  </a:cubicBezTo>
                  <a:cubicBezTo>
                    <a:pt x="4259" y="1123266"/>
                    <a:pt x="0" y="1112985"/>
                    <a:pt x="0" y="1102265"/>
                  </a:cubicBezTo>
                  <a:lnTo>
                    <a:pt x="0" y="40421"/>
                  </a:lnTo>
                  <a:cubicBezTo>
                    <a:pt x="0" y="29700"/>
                    <a:pt x="4259" y="19419"/>
                    <a:pt x="11839" y="11839"/>
                  </a:cubicBezTo>
                  <a:cubicBezTo>
                    <a:pt x="19419" y="4259"/>
                    <a:pt x="29700" y="0"/>
                    <a:pt x="4042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008903" cy="1114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3792199" y="3924300"/>
            <a:ext cx="2179679" cy="1400630"/>
            <a:chOff x="81794" y="92005"/>
            <a:chExt cx="1105343" cy="710278"/>
          </a:xfrm>
        </p:grpSpPr>
        <p:sp>
          <p:nvSpPr>
            <p:cNvPr id="11" name="Freeform 11"/>
            <p:cNvSpPr/>
            <p:nvPr/>
          </p:nvSpPr>
          <p:spPr>
            <a:xfrm>
              <a:off x="81794" y="92005"/>
              <a:ext cx="1105343" cy="710278"/>
            </a:xfrm>
            <a:custGeom>
              <a:avLst/>
              <a:gdLst/>
              <a:ahLst/>
              <a:cxnLst/>
              <a:rect l="l" t="t" r="r" b="b"/>
              <a:pathLst>
                <a:path w="1105343" h="710278">
                  <a:moveTo>
                    <a:pt x="92715" y="0"/>
                  </a:moveTo>
                  <a:lnTo>
                    <a:pt x="1012629" y="0"/>
                  </a:lnTo>
                  <a:cubicBezTo>
                    <a:pt x="1063833" y="0"/>
                    <a:pt x="1105343" y="41510"/>
                    <a:pt x="1105343" y="92715"/>
                  </a:cubicBezTo>
                  <a:lnTo>
                    <a:pt x="1105343" y="617563"/>
                  </a:lnTo>
                  <a:cubicBezTo>
                    <a:pt x="1105343" y="668768"/>
                    <a:pt x="1063833" y="710278"/>
                    <a:pt x="1012629" y="710278"/>
                  </a:cubicBezTo>
                  <a:lnTo>
                    <a:pt x="92715" y="710278"/>
                  </a:lnTo>
                  <a:cubicBezTo>
                    <a:pt x="41510" y="710278"/>
                    <a:pt x="0" y="668768"/>
                    <a:pt x="0" y="617563"/>
                  </a:cubicBezTo>
                  <a:lnTo>
                    <a:pt x="0" y="92715"/>
                  </a:lnTo>
                  <a:cubicBezTo>
                    <a:pt x="0" y="41510"/>
                    <a:pt x="41510" y="0"/>
                    <a:pt x="92715" y="0"/>
                  </a:cubicBezTo>
                  <a:close/>
                </a:path>
              </a:pathLst>
            </a:custGeom>
            <a:blipFill>
              <a:blip r:embed="rId3"/>
              <a:stretch>
                <a:fillRect t="-27810" b="-2781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01047" y="3261164"/>
            <a:ext cx="4496691" cy="4338633"/>
            <a:chOff x="0" y="0"/>
            <a:chExt cx="1184314" cy="11426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4314" cy="1142685"/>
            </a:xfrm>
            <a:custGeom>
              <a:avLst/>
              <a:gdLst/>
              <a:ahLst/>
              <a:cxnLst/>
              <a:rect l="l" t="t" r="r" b="b"/>
              <a:pathLst>
                <a:path w="1184314" h="1142685">
                  <a:moveTo>
                    <a:pt x="34434" y="0"/>
                  </a:moveTo>
                  <a:lnTo>
                    <a:pt x="1149880" y="0"/>
                  </a:lnTo>
                  <a:cubicBezTo>
                    <a:pt x="1168897" y="0"/>
                    <a:pt x="1184314" y="15417"/>
                    <a:pt x="1184314" y="34434"/>
                  </a:cubicBezTo>
                  <a:lnTo>
                    <a:pt x="1184314" y="1108251"/>
                  </a:lnTo>
                  <a:cubicBezTo>
                    <a:pt x="1184314" y="1127268"/>
                    <a:pt x="1168897" y="1142685"/>
                    <a:pt x="1149880" y="1142685"/>
                  </a:cubicBezTo>
                  <a:lnTo>
                    <a:pt x="34434" y="1142685"/>
                  </a:lnTo>
                  <a:cubicBezTo>
                    <a:pt x="15417" y="1142685"/>
                    <a:pt x="0" y="1127268"/>
                    <a:pt x="0" y="1108251"/>
                  </a:cubicBezTo>
                  <a:lnTo>
                    <a:pt x="0" y="34434"/>
                  </a:lnTo>
                  <a:cubicBezTo>
                    <a:pt x="0" y="15417"/>
                    <a:pt x="15417" y="0"/>
                    <a:pt x="3443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184314" cy="1114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8153400" y="3924300"/>
            <a:ext cx="2181138" cy="1406029"/>
            <a:chOff x="0" y="0"/>
            <a:chExt cx="662597" cy="4271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2597" cy="427130"/>
            </a:xfrm>
            <a:custGeom>
              <a:avLst/>
              <a:gdLst/>
              <a:ahLst/>
              <a:cxnLst/>
              <a:rect l="l" t="t" r="r" b="b"/>
              <a:pathLst>
                <a:path w="662597" h="427130">
                  <a:moveTo>
                    <a:pt x="92715" y="0"/>
                  </a:moveTo>
                  <a:lnTo>
                    <a:pt x="569882" y="0"/>
                  </a:lnTo>
                  <a:cubicBezTo>
                    <a:pt x="621087" y="0"/>
                    <a:pt x="662597" y="41510"/>
                    <a:pt x="662597" y="92715"/>
                  </a:cubicBezTo>
                  <a:lnTo>
                    <a:pt x="662597" y="334415"/>
                  </a:lnTo>
                  <a:cubicBezTo>
                    <a:pt x="662597" y="359005"/>
                    <a:pt x="652828" y="382587"/>
                    <a:pt x="635441" y="399975"/>
                  </a:cubicBezTo>
                  <a:cubicBezTo>
                    <a:pt x="618054" y="417362"/>
                    <a:pt x="594471" y="427130"/>
                    <a:pt x="569882" y="427130"/>
                  </a:cubicBezTo>
                  <a:lnTo>
                    <a:pt x="92715" y="427130"/>
                  </a:lnTo>
                  <a:cubicBezTo>
                    <a:pt x="41510" y="427130"/>
                    <a:pt x="0" y="385620"/>
                    <a:pt x="0" y="334415"/>
                  </a:cubicBezTo>
                  <a:lnTo>
                    <a:pt x="0" y="92715"/>
                  </a:lnTo>
                  <a:cubicBezTo>
                    <a:pt x="0" y="41510"/>
                    <a:pt x="41510" y="0"/>
                    <a:pt x="92715" y="0"/>
                  </a:cubicBezTo>
                  <a:close/>
                </a:path>
              </a:pathLst>
            </a:custGeom>
            <a:blipFill>
              <a:blip r:embed="rId4"/>
              <a:stretch>
                <a:fillRect t="-27563" b="-275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89472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2734394" y="538667"/>
            <a:ext cx="8917229" cy="38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5.1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수요자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관점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예상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기대효과</a:t>
            </a:r>
            <a:endParaRPr lang="en-US" sz="2830" b="1" spc="-56" dirty="0">
              <a:solidFill>
                <a:srgbClr val="73737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1207" y="398628"/>
            <a:ext cx="162874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</a:t>
            </a:r>
            <a:r>
              <a:rPr lang="en-US" sz="2876" b="1" spc="-132" dirty="0" err="1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기대효과</a:t>
            </a:r>
            <a:endParaRPr lang="en-US" sz="2876" b="1" spc="-132" dirty="0">
              <a:solidFill>
                <a:srgbClr val="484BEF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62881" y="6065743"/>
            <a:ext cx="3321453" cy="73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ko-KR" altLang="ko-KR" sz="2000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불공정 거래를 사전 예방하고, </a:t>
            </a:r>
            <a:endParaRPr lang="en-US" altLang="ko-KR" sz="2000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</a:endParaRPr>
          </a:p>
          <a:p>
            <a:pPr algn="ctr">
              <a:lnSpc>
                <a:spcPts val="2969"/>
              </a:lnSpc>
            </a:pPr>
            <a:r>
              <a:rPr lang="ko-KR" altLang="ko-KR" sz="2000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시장 투명성을 높임</a:t>
            </a:r>
            <a:endParaRPr lang="en-US" sz="2000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04382" y="5560283"/>
            <a:ext cx="2876550" cy="42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4"/>
              </a:lnSpc>
            </a:pPr>
            <a:r>
              <a:rPr lang="en-US" sz="2347" b="1" spc="-46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국민</a:t>
            </a:r>
            <a:r>
              <a:rPr lang="en-US" sz="2347" b="1" spc="-46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347" b="1" spc="-46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관점</a:t>
            </a:r>
            <a:endParaRPr lang="en-US" sz="2347" b="1" spc="-46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075737" y="6065743"/>
            <a:ext cx="4147312" cy="73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969"/>
              </a:lnSpc>
            </a:pPr>
            <a:r>
              <a:rPr lang="ko-KR" altLang="ko-KR" sz="2000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상황별 리스크 진단으로 </a:t>
            </a:r>
            <a:endParaRPr lang="en-US" altLang="ko-KR" sz="2000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</a:endParaRPr>
          </a:p>
          <a:p>
            <a:pPr lvl="0" algn="ctr">
              <a:lnSpc>
                <a:spcPts val="2969"/>
              </a:lnSpc>
            </a:pPr>
            <a:r>
              <a:rPr lang="ko-KR" altLang="ko-KR" sz="2000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컴플라이언스 업무 효율성을 높임</a:t>
            </a:r>
            <a:endParaRPr lang="en-US" sz="2000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711118" y="5560283"/>
            <a:ext cx="2876550" cy="42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4"/>
              </a:lnSpc>
            </a:pPr>
            <a:r>
              <a:rPr lang="en-US" sz="2347" b="1" spc="-46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</a:t>
            </a:r>
            <a:r>
              <a:rPr lang="en-US" sz="2347" b="1" spc="-46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347" b="1" spc="-46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관점</a:t>
            </a:r>
            <a:endParaRPr lang="en-US" sz="2347" b="1" spc="-46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957146" y="6065743"/>
            <a:ext cx="3814493" cy="751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ko-KR" altLang="ko-KR" sz="2000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기업 자율 예방을 유도해 </a:t>
            </a:r>
            <a:endParaRPr lang="en-US" altLang="ko-KR" sz="2000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</a:endParaRPr>
          </a:p>
          <a:p>
            <a:pPr algn="ctr">
              <a:lnSpc>
                <a:spcPts val="2969"/>
              </a:lnSpc>
            </a:pPr>
            <a:r>
              <a:rPr lang="ko-KR" altLang="ko-KR" sz="2000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</a:rPr>
              <a:t>사후 제재 부담을 완화</a:t>
            </a:r>
            <a:endParaRPr lang="en-US" sz="2000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445168" y="5560283"/>
            <a:ext cx="2876550" cy="42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4"/>
              </a:lnSpc>
            </a:pPr>
            <a:r>
              <a:rPr lang="en-US" sz="2347" b="1" spc="-4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정부 관점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3266601" y="8615325"/>
            <a:ext cx="11754799" cy="566775"/>
            <a:chOff x="0" y="0"/>
            <a:chExt cx="3095914" cy="14927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95914" cy="149274"/>
            </a:xfrm>
            <a:custGeom>
              <a:avLst/>
              <a:gdLst/>
              <a:ahLst/>
              <a:cxnLst/>
              <a:rect l="l" t="t" r="r" b="b"/>
              <a:pathLst>
                <a:path w="3095914" h="149274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136102"/>
                  </a:lnTo>
                  <a:cubicBezTo>
                    <a:pt x="3095914" y="139595"/>
                    <a:pt x="3094526" y="142946"/>
                    <a:pt x="3092056" y="145416"/>
                  </a:cubicBezTo>
                  <a:cubicBezTo>
                    <a:pt x="3089586" y="147886"/>
                    <a:pt x="3086235" y="149274"/>
                    <a:pt x="3082742" y="149274"/>
                  </a:cubicBezTo>
                  <a:lnTo>
                    <a:pt x="13172" y="149274"/>
                  </a:lnTo>
                  <a:cubicBezTo>
                    <a:pt x="9679" y="149274"/>
                    <a:pt x="6328" y="147886"/>
                    <a:pt x="3858" y="145416"/>
                  </a:cubicBezTo>
                  <a:cubicBezTo>
                    <a:pt x="1388" y="142946"/>
                    <a:pt x="0" y="139595"/>
                    <a:pt x="0" y="136102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28575"/>
              <a:ext cx="3095914" cy="12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682971" y="8722155"/>
            <a:ext cx="10922057" cy="31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위반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예방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역량을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높이고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,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준법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문화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확산과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확장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기반을</a:t>
            </a:r>
            <a:r>
              <a:rPr lang="en-US" sz="1847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47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마련</a:t>
            </a:r>
            <a:endParaRPr lang="en-US" sz="1847" b="1" spc="-36" dirty="0">
              <a:solidFill>
                <a:srgbClr val="000000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국민·기업·정부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관점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기대효과</a:t>
            </a:r>
            <a:endParaRPr lang="en-US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FF2C1C58-798D-67F0-25A0-3B56B951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2">
            <a:extLst>
              <a:ext uri="{FF2B5EF4-FFF2-40B4-BE49-F238E27FC236}">
                <a16:creationId xmlns:a16="http://schemas.microsoft.com/office/drawing/2014/main" id="{1C3C64FD-7376-75D7-6F8D-FD9695B9F0B3}"/>
              </a:ext>
            </a:extLst>
          </p:cNvPr>
          <p:cNvSpPr txBox="1"/>
          <p:nvPr/>
        </p:nvSpPr>
        <p:spPr>
          <a:xfrm>
            <a:off x="4940942" y="3771900"/>
            <a:ext cx="8406116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22"/>
              </a:lnSpc>
            </a:pPr>
            <a:r>
              <a:rPr lang="ko-KR" altLang="en-US" sz="4139" b="1" spc="-82" dirty="0">
                <a:solidFill>
                  <a:srgbClr val="333333">
                    <a:alpha val="83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공정한 미래는</a:t>
            </a:r>
            <a:r>
              <a:rPr lang="en-US" altLang="ko-KR" sz="4139" b="1" spc="-82" dirty="0">
                <a:solidFill>
                  <a:srgbClr val="333333">
                    <a:alpha val="83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531F21-4554-AA3F-2212-FE7781ABD149}"/>
              </a:ext>
            </a:extLst>
          </p:cNvPr>
          <p:cNvSpPr txBox="1"/>
          <p:nvPr/>
        </p:nvSpPr>
        <p:spPr>
          <a:xfrm>
            <a:off x="4572000" y="4340255"/>
            <a:ext cx="9144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4222"/>
              </a:lnSpc>
            </a:pPr>
            <a:r>
              <a:rPr lang="ko-KR" altLang="en-US" sz="4140" b="1" spc="-132" dirty="0">
                <a:solidFill>
                  <a:srgbClr val="484BEF">
                    <a:alpha val="84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예방</a:t>
            </a:r>
            <a:r>
              <a:rPr lang="ko-KR" altLang="en-US" sz="4139" b="1" spc="-82" dirty="0">
                <a:solidFill>
                  <a:srgbClr val="333333">
                    <a:alpha val="83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에서 시작됩니다</a:t>
            </a:r>
            <a:r>
              <a:rPr lang="en-US" altLang="ko-KR" sz="4139" b="1" spc="-82" dirty="0">
                <a:solidFill>
                  <a:srgbClr val="333333">
                    <a:alpha val="83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.</a:t>
            </a:r>
            <a:r>
              <a:rPr lang="ko-KR" altLang="en-US" sz="4139" b="1" spc="-82" dirty="0">
                <a:solidFill>
                  <a:srgbClr val="333333">
                    <a:alpha val="83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endParaRPr lang="en-US" altLang="ko-KR" sz="4139" b="1" spc="-82" dirty="0">
              <a:solidFill>
                <a:srgbClr val="333333">
                  <a:alpha val="83000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F174-1327-3726-7CAC-7DA7C0D6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17075E3-026C-E230-A3AC-CBE27DD0BCB4}"/>
              </a:ext>
            </a:extLst>
          </p:cNvPr>
          <p:cNvSpPr txBox="1"/>
          <p:nvPr/>
        </p:nvSpPr>
        <p:spPr>
          <a:xfrm>
            <a:off x="4940942" y="3771900"/>
            <a:ext cx="8406116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22"/>
              </a:lnSpc>
            </a:pPr>
            <a:r>
              <a:rPr lang="ko-KR" altLang="en-US" sz="4139" b="1" spc="-82" dirty="0">
                <a:solidFill>
                  <a:schemeClr val="bg1">
                    <a:lumMod val="75000"/>
                    <a:alpha val="83000"/>
                  </a:scheme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공정한 미래는</a:t>
            </a:r>
            <a:r>
              <a:rPr lang="en-US" altLang="ko-KR" sz="4139" b="1" spc="-82" dirty="0">
                <a:solidFill>
                  <a:schemeClr val="bg1">
                    <a:lumMod val="75000"/>
                    <a:alpha val="83000"/>
                  </a:scheme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,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DCE898A-8EB9-B843-F4C6-BFE2AA3B5D99}"/>
              </a:ext>
            </a:extLst>
          </p:cNvPr>
          <p:cNvSpPr txBox="1"/>
          <p:nvPr/>
        </p:nvSpPr>
        <p:spPr>
          <a:xfrm>
            <a:off x="4940942" y="5277867"/>
            <a:ext cx="8406116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ctr">
              <a:lnSpc>
                <a:spcPts val="4314"/>
              </a:lnSpc>
            </a:pPr>
            <a:r>
              <a:rPr lang="ko-KR" altLang="en-US" sz="4140" b="1" spc="-132" dirty="0">
                <a:solidFill>
                  <a:srgbClr val="484BEF">
                    <a:alpha val="84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헤아림이 그 시작을 함께합니다</a:t>
            </a:r>
            <a:r>
              <a:rPr lang="en-US" altLang="ko-KR" sz="4140" b="1" spc="-132" dirty="0">
                <a:solidFill>
                  <a:srgbClr val="484BEF">
                    <a:alpha val="84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.</a:t>
            </a:r>
            <a:endParaRPr lang="en-US" sz="4140" b="1" spc="-132" dirty="0">
              <a:solidFill>
                <a:srgbClr val="484BEF">
                  <a:alpha val="84000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BD2BE-DC98-42B5-3D26-B30145DCA5BB}"/>
              </a:ext>
            </a:extLst>
          </p:cNvPr>
          <p:cNvSpPr txBox="1"/>
          <p:nvPr/>
        </p:nvSpPr>
        <p:spPr>
          <a:xfrm>
            <a:off x="4572000" y="4340255"/>
            <a:ext cx="9144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22"/>
              </a:lnSpc>
            </a:pPr>
            <a:r>
              <a:rPr lang="ko-KR" altLang="en-US" sz="4139" b="1" spc="-82" dirty="0">
                <a:solidFill>
                  <a:schemeClr val="bg1">
                    <a:lumMod val="75000"/>
                    <a:alpha val="83000"/>
                  </a:scheme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예방에서 시작됩니다</a:t>
            </a:r>
            <a:r>
              <a:rPr lang="en-US" altLang="ko-KR" sz="4139" b="1" spc="-82" dirty="0">
                <a:solidFill>
                  <a:schemeClr val="bg1">
                    <a:lumMod val="75000"/>
                    <a:alpha val="83000"/>
                  </a:scheme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.</a:t>
            </a:r>
            <a:r>
              <a:rPr lang="ko-KR" altLang="en-US" sz="4139" b="1" spc="-82" dirty="0">
                <a:solidFill>
                  <a:schemeClr val="bg1">
                    <a:lumMod val="75000"/>
                    <a:alpha val="83000"/>
                  </a:scheme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endParaRPr lang="en-US" altLang="ko-KR" sz="4139" b="1" spc="-82" dirty="0">
              <a:solidFill>
                <a:schemeClr val="bg1">
                  <a:lumMod val="75000"/>
                  <a:alpha val="83000"/>
                </a:scheme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  <p:extLst>
      <p:ext uri="{BB962C8B-B14F-4D97-AF65-F5344CB8AC3E}">
        <p14:creationId xmlns:p14="http://schemas.microsoft.com/office/powerpoint/2010/main" val="31929667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16E0-D39B-1E8F-D6C4-3CA386EA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C2078B9-6ECA-D454-DD79-B2CFE5B5E82F}"/>
              </a:ext>
            </a:extLst>
          </p:cNvPr>
          <p:cNvSpPr txBox="1"/>
          <p:nvPr/>
        </p:nvSpPr>
        <p:spPr>
          <a:xfrm>
            <a:off x="7455542" y="4866821"/>
            <a:ext cx="3376915" cy="581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14"/>
              </a:lnSpc>
            </a:pPr>
            <a:r>
              <a:rPr lang="en-US" sz="5400" b="1" spc="-132" dirty="0" err="1">
                <a:solidFill>
                  <a:srgbClr val="484BEF">
                    <a:alpha val="84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감사합니다</a:t>
            </a:r>
            <a:endParaRPr lang="en-US" sz="4140" b="1" spc="-132" dirty="0">
              <a:solidFill>
                <a:srgbClr val="484BEF">
                  <a:alpha val="84000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3AE6AD8-4CC7-7F50-CC64-6AF8FFBB2A8B}"/>
              </a:ext>
            </a:extLst>
          </p:cNvPr>
          <p:cNvSpPr txBox="1"/>
          <p:nvPr/>
        </p:nvSpPr>
        <p:spPr>
          <a:xfrm>
            <a:off x="14037771" y="9808109"/>
            <a:ext cx="3750241" cy="25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600" spc="-65" dirty="0" err="1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서비스</a:t>
            </a:r>
            <a:r>
              <a:rPr lang="en-US" sz="1600" spc="-65" dirty="0">
                <a:solidFill>
                  <a:srgbClr val="555555">
                    <a:alpha val="8274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A000144B-31B3-6A55-69E5-166A027E2EBE}"/>
              </a:ext>
            </a:extLst>
          </p:cNvPr>
          <p:cNvSpPr txBox="1"/>
          <p:nvPr/>
        </p:nvSpPr>
        <p:spPr>
          <a:xfrm>
            <a:off x="17234144" y="9721557"/>
            <a:ext cx="990600" cy="42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51"/>
              </a:lnSpc>
              <a:spcBef>
                <a:spcPct val="0"/>
              </a:spcBef>
            </a:pPr>
            <a:r>
              <a:rPr lang="ko-KR" altLang="en-US" sz="2100" b="1" u="sng" spc="-86" dirty="0">
                <a:solidFill>
                  <a:srgbClr val="6568F2"/>
                </a:solidFill>
                <a:latin typeface="프리텐다드 Bold"/>
                <a:ea typeface="프리텐다드 Bold"/>
                <a:cs typeface="프리텐다드 Bold"/>
                <a:sym typeface="프리텐다드"/>
                <a:hlinkClick r:id="rId3"/>
              </a:rPr>
              <a:t>헤아림</a:t>
            </a:r>
            <a:endParaRPr lang="ko-KR" altLang="en-US" sz="2100" b="1" u="sng" spc="-86" dirty="0">
              <a:solidFill>
                <a:srgbClr val="6568F2"/>
              </a:solidFill>
              <a:latin typeface="프리텐다드 Bold"/>
              <a:ea typeface="프리텐다드 Bold"/>
              <a:cs typeface="프리텐다드 Bold"/>
            </a:endParaRPr>
          </a:p>
        </p:txBody>
      </p:sp>
    </p:spTree>
    <p:extLst>
      <p:ext uri="{BB962C8B-B14F-4D97-AF65-F5344CB8AC3E}">
        <p14:creationId xmlns:p14="http://schemas.microsoft.com/office/powerpoint/2010/main" val="37000410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26EB-9CA2-2857-5C04-20BF9F16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CA8442D-A23E-096B-B1CA-0DEB88DDF432}"/>
              </a:ext>
            </a:extLst>
          </p:cNvPr>
          <p:cNvGrpSpPr/>
          <p:nvPr/>
        </p:nvGrpSpPr>
        <p:grpSpPr>
          <a:xfrm>
            <a:off x="1245322" y="7768652"/>
            <a:ext cx="1305587" cy="575248"/>
            <a:chOff x="0" y="0"/>
            <a:chExt cx="343858" cy="15150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B17ABC3-1A26-2494-5D46-4CA8F5B6C045}"/>
                </a:ext>
              </a:extLst>
            </p:cNvPr>
            <p:cNvSpPr/>
            <p:nvPr/>
          </p:nvSpPr>
          <p:spPr>
            <a:xfrm>
              <a:off x="0" y="0"/>
              <a:ext cx="343858" cy="151506"/>
            </a:xfrm>
            <a:custGeom>
              <a:avLst/>
              <a:gdLst/>
              <a:ahLst/>
              <a:cxnLst/>
              <a:rect l="l" t="t" r="r" b="b"/>
              <a:pathLst>
                <a:path w="343858" h="151506">
                  <a:moveTo>
                    <a:pt x="75753" y="0"/>
                  </a:moveTo>
                  <a:lnTo>
                    <a:pt x="268106" y="0"/>
                  </a:lnTo>
                  <a:cubicBezTo>
                    <a:pt x="288196" y="0"/>
                    <a:pt x="307464" y="7981"/>
                    <a:pt x="321671" y="22187"/>
                  </a:cubicBezTo>
                  <a:cubicBezTo>
                    <a:pt x="335877" y="36394"/>
                    <a:pt x="343858" y="55662"/>
                    <a:pt x="343858" y="75753"/>
                  </a:cubicBezTo>
                  <a:lnTo>
                    <a:pt x="343858" y="75753"/>
                  </a:lnTo>
                  <a:cubicBezTo>
                    <a:pt x="343858" y="117590"/>
                    <a:pt x="309943" y="151506"/>
                    <a:pt x="268106" y="151506"/>
                  </a:cubicBezTo>
                  <a:lnTo>
                    <a:pt x="75753" y="151506"/>
                  </a:lnTo>
                  <a:cubicBezTo>
                    <a:pt x="33916" y="151506"/>
                    <a:pt x="0" y="117590"/>
                    <a:pt x="0" y="75753"/>
                  </a:cubicBezTo>
                  <a:lnTo>
                    <a:pt x="0" y="75753"/>
                  </a:lnTo>
                  <a:cubicBezTo>
                    <a:pt x="0" y="33916"/>
                    <a:pt x="33916" y="0"/>
                    <a:pt x="75753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9751CCF-970B-ABD9-B119-28C947C276F2}"/>
                </a:ext>
              </a:extLst>
            </p:cNvPr>
            <p:cNvSpPr txBox="1"/>
            <p:nvPr/>
          </p:nvSpPr>
          <p:spPr>
            <a:xfrm>
              <a:off x="0" y="9525"/>
              <a:ext cx="343858" cy="141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spc="-39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RAG</a:t>
              </a:r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864E1DEE-0AEA-D2B4-3786-E8D21E73A393}"/>
              </a:ext>
            </a:extLst>
          </p:cNvPr>
          <p:cNvSpPr/>
          <p:nvPr/>
        </p:nvSpPr>
        <p:spPr>
          <a:xfrm>
            <a:off x="9383161" y="2507848"/>
            <a:ext cx="8061907" cy="5488898"/>
          </a:xfrm>
          <a:custGeom>
            <a:avLst/>
            <a:gdLst/>
            <a:ahLst/>
            <a:cxnLst/>
            <a:rect l="l" t="t" r="r" b="b"/>
            <a:pathLst>
              <a:path w="8061907" h="5488898">
                <a:moveTo>
                  <a:pt x="0" y="0"/>
                </a:moveTo>
                <a:lnTo>
                  <a:pt x="8061908" y="0"/>
                </a:lnTo>
                <a:lnTo>
                  <a:pt x="8061908" y="5488898"/>
                </a:lnTo>
                <a:lnTo>
                  <a:pt x="0" y="5488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92" t="-25697" r="-15039"/>
            </a:stretch>
          </a:blipFill>
          <a:ln w="19050" cap="rnd">
            <a:solidFill>
              <a:srgbClr val="B5B5B5"/>
            </a:solidFill>
            <a:prstDash val="solid"/>
            <a:rou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D3C331D-B180-9D55-9DA5-1682F61EA016}"/>
              </a:ext>
            </a:extLst>
          </p:cNvPr>
          <p:cNvSpPr/>
          <p:nvPr/>
        </p:nvSpPr>
        <p:spPr>
          <a:xfrm>
            <a:off x="1304670" y="4696200"/>
            <a:ext cx="348347" cy="348347"/>
          </a:xfrm>
          <a:custGeom>
            <a:avLst/>
            <a:gdLst/>
            <a:ahLst/>
            <a:cxnLst/>
            <a:rect l="l" t="t" r="r" b="b"/>
            <a:pathLst>
              <a:path w="348347" h="348347">
                <a:moveTo>
                  <a:pt x="0" y="0"/>
                </a:moveTo>
                <a:lnTo>
                  <a:pt x="348348" y="0"/>
                </a:lnTo>
                <a:lnTo>
                  <a:pt x="348348" y="348347"/>
                </a:lnTo>
                <a:lnTo>
                  <a:pt x="0" y="348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420E897-6E27-2ACE-A574-3F626D0B9A04}"/>
              </a:ext>
            </a:extLst>
          </p:cNvPr>
          <p:cNvSpPr/>
          <p:nvPr/>
        </p:nvSpPr>
        <p:spPr>
          <a:xfrm>
            <a:off x="1304670" y="5220075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73AAD55-010B-0AB9-BA1A-9BDF0FC4DDFA}"/>
              </a:ext>
            </a:extLst>
          </p:cNvPr>
          <p:cNvSpPr/>
          <p:nvPr/>
        </p:nvSpPr>
        <p:spPr>
          <a:xfrm>
            <a:off x="1304670" y="5753475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46C270B-A574-32F4-BBC7-6C3E6CE1244B}"/>
              </a:ext>
            </a:extLst>
          </p:cNvPr>
          <p:cNvSpPr/>
          <p:nvPr/>
        </p:nvSpPr>
        <p:spPr>
          <a:xfrm>
            <a:off x="1304670" y="6286875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BFDA904-E041-2F16-558E-0E7DE0CA3FE1}"/>
              </a:ext>
            </a:extLst>
          </p:cNvPr>
          <p:cNvSpPr txBox="1"/>
          <p:nvPr/>
        </p:nvSpPr>
        <p:spPr>
          <a:xfrm>
            <a:off x="1304670" y="4086000"/>
            <a:ext cx="4268739" cy="33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2519" b="1" spc="-50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핵심</a:t>
            </a:r>
            <a:r>
              <a:rPr lang="en-US" sz="2519" b="1" spc="-50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519" b="1" spc="-50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기능</a:t>
            </a:r>
            <a:endParaRPr lang="en-US" sz="2519" b="1" spc="-50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A15C592-C852-5E89-C3B8-666F215AE528}"/>
              </a:ext>
            </a:extLst>
          </p:cNvPr>
          <p:cNvGrpSpPr/>
          <p:nvPr/>
        </p:nvGrpSpPr>
        <p:grpSpPr>
          <a:xfrm>
            <a:off x="2786247" y="7759901"/>
            <a:ext cx="1305587" cy="575248"/>
            <a:chOff x="0" y="0"/>
            <a:chExt cx="343858" cy="151506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ADA328D-A6FB-6E3F-ED58-A929D7EDE4E6}"/>
                </a:ext>
              </a:extLst>
            </p:cNvPr>
            <p:cNvSpPr/>
            <p:nvPr/>
          </p:nvSpPr>
          <p:spPr>
            <a:xfrm>
              <a:off x="0" y="0"/>
              <a:ext cx="343858" cy="151506"/>
            </a:xfrm>
            <a:custGeom>
              <a:avLst/>
              <a:gdLst/>
              <a:ahLst/>
              <a:cxnLst/>
              <a:rect l="l" t="t" r="r" b="b"/>
              <a:pathLst>
                <a:path w="343858" h="151506">
                  <a:moveTo>
                    <a:pt x="75753" y="0"/>
                  </a:moveTo>
                  <a:lnTo>
                    <a:pt x="268106" y="0"/>
                  </a:lnTo>
                  <a:cubicBezTo>
                    <a:pt x="288196" y="0"/>
                    <a:pt x="307464" y="7981"/>
                    <a:pt x="321671" y="22187"/>
                  </a:cubicBezTo>
                  <a:cubicBezTo>
                    <a:pt x="335877" y="36394"/>
                    <a:pt x="343858" y="55662"/>
                    <a:pt x="343858" y="75753"/>
                  </a:cubicBezTo>
                  <a:lnTo>
                    <a:pt x="343858" y="75753"/>
                  </a:lnTo>
                  <a:cubicBezTo>
                    <a:pt x="343858" y="117590"/>
                    <a:pt x="309943" y="151506"/>
                    <a:pt x="268106" y="151506"/>
                  </a:cubicBezTo>
                  <a:lnTo>
                    <a:pt x="75753" y="151506"/>
                  </a:lnTo>
                  <a:cubicBezTo>
                    <a:pt x="33916" y="151506"/>
                    <a:pt x="0" y="117590"/>
                    <a:pt x="0" y="75753"/>
                  </a:cubicBezTo>
                  <a:lnTo>
                    <a:pt x="0" y="75753"/>
                  </a:lnTo>
                  <a:cubicBezTo>
                    <a:pt x="0" y="33916"/>
                    <a:pt x="33916" y="0"/>
                    <a:pt x="75753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D2D9A1C-ABD3-1FEB-BC1E-0D5420AA141D}"/>
                </a:ext>
              </a:extLst>
            </p:cNvPr>
            <p:cNvSpPr txBox="1"/>
            <p:nvPr/>
          </p:nvSpPr>
          <p:spPr>
            <a:xfrm>
              <a:off x="0" y="9525"/>
              <a:ext cx="343858" cy="141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spc="-39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MCP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F73576F-9418-CCBD-ACC5-7F5FCFFA7364}"/>
              </a:ext>
            </a:extLst>
          </p:cNvPr>
          <p:cNvGrpSpPr/>
          <p:nvPr/>
        </p:nvGrpSpPr>
        <p:grpSpPr>
          <a:xfrm>
            <a:off x="4329959" y="7759901"/>
            <a:ext cx="2631037" cy="575248"/>
            <a:chOff x="0" y="0"/>
            <a:chExt cx="692948" cy="15150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8023EE7-804B-ECD5-D996-3D83E7EAE74D}"/>
                </a:ext>
              </a:extLst>
            </p:cNvPr>
            <p:cNvSpPr/>
            <p:nvPr/>
          </p:nvSpPr>
          <p:spPr>
            <a:xfrm>
              <a:off x="0" y="0"/>
              <a:ext cx="692948" cy="151506"/>
            </a:xfrm>
            <a:custGeom>
              <a:avLst/>
              <a:gdLst/>
              <a:ahLst/>
              <a:cxnLst/>
              <a:rect l="l" t="t" r="r" b="b"/>
              <a:pathLst>
                <a:path w="692948" h="151506">
                  <a:moveTo>
                    <a:pt x="58851" y="0"/>
                  </a:moveTo>
                  <a:lnTo>
                    <a:pt x="634097" y="0"/>
                  </a:lnTo>
                  <a:cubicBezTo>
                    <a:pt x="649706" y="0"/>
                    <a:pt x="664674" y="6200"/>
                    <a:pt x="675711" y="17237"/>
                  </a:cubicBezTo>
                  <a:cubicBezTo>
                    <a:pt x="686748" y="28274"/>
                    <a:pt x="692948" y="43243"/>
                    <a:pt x="692948" y="58851"/>
                  </a:cubicBezTo>
                  <a:lnTo>
                    <a:pt x="692948" y="92655"/>
                  </a:lnTo>
                  <a:cubicBezTo>
                    <a:pt x="692948" y="108263"/>
                    <a:pt x="686748" y="123232"/>
                    <a:pt x="675711" y="134269"/>
                  </a:cubicBezTo>
                  <a:cubicBezTo>
                    <a:pt x="664674" y="145305"/>
                    <a:pt x="649706" y="151506"/>
                    <a:pt x="634097" y="151506"/>
                  </a:cubicBezTo>
                  <a:lnTo>
                    <a:pt x="58851" y="151506"/>
                  </a:lnTo>
                  <a:cubicBezTo>
                    <a:pt x="43243" y="151506"/>
                    <a:pt x="28274" y="145305"/>
                    <a:pt x="17237" y="134269"/>
                  </a:cubicBezTo>
                  <a:cubicBezTo>
                    <a:pt x="6200" y="123232"/>
                    <a:pt x="0" y="108263"/>
                    <a:pt x="0" y="92655"/>
                  </a:cubicBezTo>
                  <a:lnTo>
                    <a:pt x="0" y="58851"/>
                  </a:lnTo>
                  <a:cubicBezTo>
                    <a:pt x="0" y="43243"/>
                    <a:pt x="6200" y="28274"/>
                    <a:pt x="17237" y="17237"/>
                  </a:cubicBezTo>
                  <a:cubicBezTo>
                    <a:pt x="28274" y="6200"/>
                    <a:pt x="43243" y="0"/>
                    <a:pt x="58851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7F2C9E2-368E-CCDD-8EFA-AA9D64598170}"/>
                </a:ext>
              </a:extLst>
            </p:cNvPr>
            <p:cNvSpPr txBox="1"/>
            <p:nvPr/>
          </p:nvSpPr>
          <p:spPr>
            <a:xfrm>
              <a:off x="0" y="9525"/>
              <a:ext cx="692948" cy="141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r>
                <a:rPr lang="en-US" sz="1988" spc="-3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멀티에이전트</a:t>
              </a:r>
              <a:r>
                <a:rPr lang="en-US" sz="1988" spc="-3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(MAS)</a:t>
              </a:r>
            </a:p>
          </p:txBody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16F0FB49-23FF-0510-CBE6-B513009F18F0}"/>
              </a:ext>
            </a:extLst>
          </p:cNvPr>
          <p:cNvSpPr/>
          <p:nvPr/>
        </p:nvSpPr>
        <p:spPr>
          <a:xfrm>
            <a:off x="898890" y="3992267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B7859C8-B677-2C31-6169-010BB99C1FA5}"/>
              </a:ext>
            </a:extLst>
          </p:cNvPr>
          <p:cNvSpPr txBox="1"/>
          <p:nvPr/>
        </p:nvSpPr>
        <p:spPr>
          <a:xfrm>
            <a:off x="1734253" y="4654127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자연어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입력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ko-KR" alt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유사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사례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자동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검색</a:t>
            </a:r>
            <a:endParaRPr lang="en-US" sz="2049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A226A7B-DAE3-3498-1155-5C383070DFA9}"/>
              </a:ext>
            </a:extLst>
          </p:cNvPr>
          <p:cNvSpPr txBox="1"/>
          <p:nvPr/>
        </p:nvSpPr>
        <p:spPr>
          <a:xfrm>
            <a:off x="1734253" y="5185622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상황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유형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선택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맞춤형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</a:t>
            </a:r>
            <a:endParaRPr lang="en-US" sz="2049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A61DF9D-C9D9-F4C6-F1FC-36B446BE1756}"/>
              </a:ext>
            </a:extLst>
          </p:cNvPr>
          <p:cNvSpPr txBox="1"/>
          <p:nvPr/>
        </p:nvSpPr>
        <p:spPr>
          <a:xfrm>
            <a:off x="1734253" y="5717117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스코어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(0~100점) +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등급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시각화</a:t>
            </a:r>
            <a:endParaRPr lang="en-US" sz="2049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F17ED20-A865-B736-EF9B-4E1F6D5E522F}"/>
              </a:ext>
            </a:extLst>
          </p:cNvPr>
          <p:cNvSpPr txBox="1"/>
          <p:nvPr/>
        </p:nvSpPr>
        <p:spPr>
          <a:xfrm>
            <a:off x="1734253" y="6248613"/>
            <a:ext cx="8314784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멀티에이전트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법리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해석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및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보고서</a:t>
            </a:r>
            <a:r>
              <a:rPr lang="en-US" sz="2049" spc="-4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49" spc="-4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제공</a:t>
            </a:r>
            <a:endParaRPr lang="en-US" sz="2049" spc="-4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1A3560B-3791-2252-28F4-3AE64CEB99AB}"/>
              </a:ext>
            </a:extLst>
          </p:cNvPr>
          <p:cNvSpPr txBox="1"/>
          <p:nvPr/>
        </p:nvSpPr>
        <p:spPr>
          <a:xfrm>
            <a:off x="1245322" y="2678459"/>
            <a:ext cx="9451301" cy="35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컴플라이언스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담당자를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위한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AI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</a:t>
            </a:r>
            <a:r>
              <a:rPr lang="en-US" sz="2199" spc="-90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90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서비스</a:t>
            </a:r>
            <a:endParaRPr lang="en-US" sz="2199" spc="-90" dirty="0">
              <a:solidFill>
                <a:srgbClr val="000000">
                  <a:alpha val="93725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E51DC23-32A4-0C52-E2B3-8AE1E12C2B75}"/>
              </a:ext>
            </a:extLst>
          </p:cNvPr>
          <p:cNvSpPr txBox="1"/>
          <p:nvPr/>
        </p:nvSpPr>
        <p:spPr>
          <a:xfrm>
            <a:off x="1245322" y="1988570"/>
            <a:ext cx="4725650" cy="57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4449" b="1" spc="-88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</a:t>
            </a:r>
            <a:endParaRPr lang="en-US" sz="4449" b="1" spc="-88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93412EB-2DF3-4656-CEF1-4437D687E61E}"/>
              </a:ext>
            </a:extLst>
          </p:cNvPr>
          <p:cNvSpPr txBox="1"/>
          <p:nvPr/>
        </p:nvSpPr>
        <p:spPr>
          <a:xfrm>
            <a:off x="1304670" y="7197326"/>
            <a:ext cx="4268739" cy="33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2519" b="1" spc="-5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활용 기술</a:t>
            </a:r>
          </a:p>
        </p:txBody>
      </p:sp>
    </p:spTree>
    <p:extLst>
      <p:ext uri="{BB962C8B-B14F-4D97-AF65-F5344CB8AC3E}">
        <p14:creationId xmlns:p14="http://schemas.microsoft.com/office/powerpoint/2010/main" val="28831773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5A33B1-3448-633B-28C6-14A0831EA3AD}"/>
              </a:ext>
            </a:extLst>
          </p:cNvPr>
          <p:cNvSpPr txBox="1"/>
          <p:nvPr/>
        </p:nvSpPr>
        <p:spPr>
          <a:xfrm>
            <a:off x="4572000" y="4828029"/>
            <a:ext cx="9144000" cy="65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14"/>
              </a:lnSpc>
            </a:pPr>
            <a:r>
              <a:rPr lang="en-US" altLang="ko-KR" sz="4800" b="1" spc="-132" dirty="0">
                <a:solidFill>
                  <a:srgbClr val="484BEF">
                    <a:alpha val="84000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1168993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0316" y="3067592"/>
            <a:ext cx="5652882" cy="2917622"/>
            <a:chOff x="0" y="0"/>
            <a:chExt cx="1488825" cy="7684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8825" cy="768427"/>
            </a:xfrm>
            <a:custGeom>
              <a:avLst/>
              <a:gdLst/>
              <a:ahLst/>
              <a:cxnLst/>
              <a:rect l="l" t="t" r="r" b="b"/>
              <a:pathLst>
                <a:path w="1488825" h="768427">
                  <a:moveTo>
                    <a:pt x="27391" y="0"/>
                  </a:moveTo>
                  <a:lnTo>
                    <a:pt x="1461434" y="0"/>
                  </a:lnTo>
                  <a:cubicBezTo>
                    <a:pt x="1468698" y="0"/>
                    <a:pt x="1475665" y="2886"/>
                    <a:pt x="1480802" y="8023"/>
                  </a:cubicBezTo>
                  <a:cubicBezTo>
                    <a:pt x="1485939" y="13159"/>
                    <a:pt x="1488825" y="20126"/>
                    <a:pt x="1488825" y="27391"/>
                  </a:cubicBezTo>
                  <a:lnTo>
                    <a:pt x="1488825" y="741036"/>
                  </a:lnTo>
                  <a:cubicBezTo>
                    <a:pt x="1488825" y="748301"/>
                    <a:pt x="1485939" y="755268"/>
                    <a:pt x="1480802" y="760405"/>
                  </a:cubicBezTo>
                  <a:cubicBezTo>
                    <a:pt x="1475665" y="765541"/>
                    <a:pt x="1468698" y="768427"/>
                    <a:pt x="1461434" y="768427"/>
                  </a:cubicBezTo>
                  <a:lnTo>
                    <a:pt x="27391" y="768427"/>
                  </a:lnTo>
                  <a:cubicBezTo>
                    <a:pt x="20126" y="768427"/>
                    <a:pt x="13159" y="765541"/>
                    <a:pt x="8023" y="760405"/>
                  </a:cubicBezTo>
                  <a:cubicBezTo>
                    <a:pt x="2886" y="755268"/>
                    <a:pt x="0" y="748301"/>
                    <a:pt x="0" y="741036"/>
                  </a:cubicBezTo>
                  <a:lnTo>
                    <a:pt x="0" y="27391"/>
                  </a:lnTo>
                  <a:cubicBezTo>
                    <a:pt x="0" y="20126"/>
                    <a:pt x="2886" y="13159"/>
                    <a:pt x="8023" y="8023"/>
                  </a:cubicBezTo>
                  <a:cubicBezTo>
                    <a:pt x="13159" y="2886"/>
                    <a:pt x="20126" y="0"/>
                    <a:pt x="2739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488825" cy="739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7375" y="3117881"/>
            <a:ext cx="812226" cy="812226"/>
          </a:xfrm>
          <a:custGeom>
            <a:avLst/>
            <a:gdLst/>
            <a:ahLst/>
            <a:cxnLst/>
            <a:rect l="l" t="t" r="r" b="b"/>
            <a:pathLst>
              <a:path w="812226" h="812226">
                <a:moveTo>
                  <a:pt x="0" y="0"/>
                </a:moveTo>
                <a:lnTo>
                  <a:pt x="812227" y="0"/>
                </a:lnTo>
                <a:lnTo>
                  <a:pt x="812227" y="812226"/>
                </a:lnTo>
                <a:lnTo>
                  <a:pt x="0" y="812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20" t="-5720" r="-5720" b="-572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6094620" y="3072172"/>
            <a:ext cx="5875821" cy="2917622"/>
            <a:chOff x="0" y="0"/>
            <a:chExt cx="1547541" cy="7684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7541" cy="768427"/>
            </a:xfrm>
            <a:custGeom>
              <a:avLst/>
              <a:gdLst/>
              <a:ahLst/>
              <a:cxnLst/>
              <a:rect l="l" t="t" r="r" b="b"/>
              <a:pathLst>
                <a:path w="1547541" h="768427">
                  <a:moveTo>
                    <a:pt x="26352" y="0"/>
                  </a:moveTo>
                  <a:lnTo>
                    <a:pt x="1521190" y="0"/>
                  </a:lnTo>
                  <a:cubicBezTo>
                    <a:pt x="1535743" y="0"/>
                    <a:pt x="1547541" y="11798"/>
                    <a:pt x="1547541" y="26352"/>
                  </a:cubicBezTo>
                  <a:lnTo>
                    <a:pt x="1547541" y="742075"/>
                  </a:lnTo>
                  <a:cubicBezTo>
                    <a:pt x="1547541" y="749064"/>
                    <a:pt x="1544765" y="755767"/>
                    <a:pt x="1539823" y="760709"/>
                  </a:cubicBezTo>
                  <a:cubicBezTo>
                    <a:pt x="1534881" y="765651"/>
                    <a:pt x="1528179" y="768427"/>
                    <a:pt x="1521190" y="768427"/>
                  </a:cubicBezTo>
                  <a:lnTo>
                    <a:pt x="26352" y="768427"/>
                  </a:lnTo>
                  <a:cubicBezTo>
                    <a:pt x="11798" y="768427"/>
                    <a:pt x="0" y="756629"/>
                    <a:pt x="0" y="742075"/>
                  </a:cubicBezTo>
                  <a:lnTo>
                    <a:pt x="0" y="26352"/>
                  </a:lnTo>
                  <a:cubicBezTo>
                    <a:pt x="0" y="19363"/>
                    <a:pt x="2776" y="12660"/>
                    <a:pt x="7718" y="7718"/>
                  </a:cubicBezTo>
                  <a:cubicBezTo>
                    <a:pt x="12660" y="2776"/>
                    <a:pt x="19363" y="0"/>
                    <a:pt x="2635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547541" cy="739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239329" y="3138223"/>
            <a:ext cx="771543" cy="771543"/>
          </a:xfrm>
          <a:custGeom>
            <a:avLst/>
            <a:gdLst/>
            <a:ahLst/>
            <a:cxnLst/>
            <a:rect l="l" t="t" r="r" b="b"/>
            <a:pathLst>
              <a:path w="771543" h="771543">
                <a:moveTo>
                  <a:pt x="0" y="0"/>
                </a:moveTo>
                <a:lnTo>
                  <a:pt x="771542" y="0"/>
                </a:lnTo>
                <a:lnTo>
                  <a:pt x="771542" y="771542"/>
                </a:lnTo>
                <a:lnTo>
                  <a:pt x="0" y="771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80" t="-5780" r="-5780" b="-5780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3614352" y="7365600"/>
            <a:ext cx="11059296" cy="2081632"/>
            <a:chOff x="0" y="0"/>
            <a:chExt cx="891718" cy="1678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1718" cy="167843"/>
            </a:xfrm>
            <a:custGeom>
              <a:avLst/>
              <a:gdLst/>
              <a:ahLst/>
              <a:cxnLst/>
              <a:rect l="l" t="t" r="r" b="b"/>
              <a:pathLst>
                <a:path w="891718" h="167843">
                  <a:moveTo>
                    <a:pt x="27345" y="0"/>
                  </a:moveTo>
                  <a:lnTo>
                    <a:pt x="864373" y="0"/>
                  </a:lnTo>
                  <a:cubicBezTo>
                    <a:pt x="871625" y="0"/>
                    <a:pt x="878580" y="2881"/>
                    <a:pt x="883709" y="8009"/>
                  </a:cubicBezTo>
                  <a:cubicBezTo>
                    <a:pt x="888837" y="13137"/>
                    <a:pt x="891718" y="20093"/>
                    <a:pt x="891718" y="27345"/>
                  </a:cubicBezTo>
                  <a:lnTo>
                    <a:pt x="891718" y="140498"/>
                  </a:lnTo>
                  <a:cubicBezTo>
                    <a:pt x="891718" y="147750"/>
                    <a:pt x="888837" y="154706"/>
                    <a:pt x="883709" y="159834"/>
                  </a:cubicBezTo>
                  <a:cubicBezTo>
                    <a:pt x="878580" y="164962"/>
                    <a:pt x="871625" y="167843"/>
                    <a:pt x="864373" y="167843"/>
                  </a:cubicBezTo>
                  <a:lnTo>
                    <a:pt x="27345" y="167843"/>
                  </a:lnTo>
                  <a:cubicBezTo>
                    <a:pt x="20093" y="167843"/>
                    <a:pt x="13137" y="164962"/>
                    <a:pt x="8009" y="159834"/>
                  </a:cubicBezTo>
                  <a:cubicBezTo>
                    <a:pt x="2881" y="154706"/>
                    <a:pt x="0" y="147750"/>
                    <a:pt x="0" y="140498"/>
                  </a:cubicBezTo>
                  <a:lnTo>
                    <a:pt x="0" y="27345"/>
                  </a:lnTo>
                  <a:cubicBezTo>
                    <a:pt x="0" y="20093"/>
                    <a:pt x="2881" y="13137"/>
                    <a:pt x="8009" y="8009"/>
                  </a:cubicBezTo>
                  <a:cubicBezTo>
                    <a:pt x="13137" y="2881"/>
                    <a:pt x="20093" y="0"/>
                    <a:pt x="27345" y="0"/>
                  </a:cubicBezTo>
                  <a:close/>
                </a:path>
              </a:pathLst>
            </a:custGeom>
            <a:solidFill>
              <a:srgbClr val="A3BFDB">
                <a:alpha val="43922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891718" cy="224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030697" y="7397134"/>
            <a:ext cx="794903" cy="794903"/>
          </a:xfrm>
          <a:custGeom>
            <a:avLst/>
            <a:gdLst/>
            <a:ahLst/>
            <a:cxnLst/>
            <a:rect l="l" t="t" r="r" b="b"/>
            <a:pathLst>
              <a:path w="794903" h="794903">
                <a:moveTo>
                  <a:pt x="0" y="0"/>
                </a:moveTo>
                <a:lnTo>
                  <a:pt x="794904" y="0"/>
                </a:lnTo>
                <a:lnTo>
                  <a:pt x="794904" y="794903"/>
                </a:lnTo>
                <a:lnTo>
                  <a:pt x="0" y="794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22" t="-5722" r="-5722" b="-5722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2191863" y="3067592"/>
            <a:ext cx="5875821" cy="2917622"/>
            <a:chOff x="0" y="0"/>
            <a:chExt cx="1547541" cy="76842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47541" cy="768427"/>
            </a:xfrm>
            <a:custGeom>
              <a:avLst/>
              <a:gdLst/>
              <a:ahLst/>
              <a:cxnLst/>
              <a:rect l="l" t="t" r="r" b="b"/>
              <a:pathLst>
                <a:path w="1547541" h="768427">
                  <a:moveTo>
                    <a:pt x="26352" y="0"/>
                  </a:moveTo>
                  <a:lnTo>
                    <a:pt x="1521190" y="0"/>
                  </a:lnTo>
                  <a:cubicBezTo>
                    <a:pt x="1535743" y="0"/>
                    <a:pt x="1547541" y="11798"/>
                    <a:pt x="1547541" y="26352"/>
                  </a:cubicBezTo>
                  <a:lnTo>
                    <a:pt x="1547541" y="742075"/>
                  </a:lnTo>
                  <a:cubicBezTo>
                    <a:pt x="1547541" y="749064"/>
                    <a:pt x="1544765" y="755767"/>
                    <a:pt x="1539823" y="760709"/>
                  </a:cubicBezTo>
                  <a:cubicBezTo>
                    <a:pt x="1534881" y="765651"/>
                    <a:pt x="1528179" y="768427"/>
                    <a:pt x="1521190" y="768427"/>
                  </a:cubicBezTo>
                  <a:lnTo>
                    <a:pt x="26352" y="768427"/>
                  </a:lnTo>
                  <a:cubicBezTo>
                    <a:pt x="11798" y="768427"/>
                    <a:pt x="0" y="756629"/>
                    <a:pt x="0" y="742075"/>
                  </a:cubicBezTo>
                  <a:lnTo>
                    <a:pt x="0" y="26352"/>
                  </a:lnTo>
                  <a:cubicBezTo>
                    <a:pt x="0" y="19363"/>
                    <a:pt x="2776" y="12660"/>
                    <a:pt x="7718" y="7718"/>
                  </a:cubicBezTo>
                  <a:cubicBezTo>
                    <a:pt x="12660" y="2776"/>
                    <a:pt x="19363" y="0"/>
                    <a:pt x="2635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547541" cy="739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2300961" y="3174460"/>
            <a:ext cx="625491" cy="614808"/>
          </a:xfrm>
          <a:custGeom>
            <a:avLst/>
            <a:gdLst/>
            <a:ahLst/>
            <a:cxnLst/>
            <a:rect l="l" t="t" r="r" b="b"/>
            <a:pathLst>
              <a:path w="625491" h="614808">
                <a:moveTo>
                  <a:pt x="0" y="0"/>
                </a:moveTo>
                <a:lnTo>
                  <a:pt x="625490" y="0"/>
                </a:lnTo>
                <a:lnTo>
                  <a:pt x="625490" y="614807"/>
                </a:lnTo>
                <a:lnTo>
                  <a:pt x="0" y="6148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200" r="-3920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A.1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구현의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한계와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교훈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구현의 한계와 교훈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8450" y="3882482"/>
            <a:ext cx="5336630" cy="1460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공정위 의결서에서 총 과징금이 개별 행위별로 세분화되지 않아 산정 과정에서 한계 존재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생성 데이터의 법령·의결서 출처 부정확성 발견, 수작업 보정 필요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9658" y="3263547"/>
            <a:ext cx="2876550" cy="37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구축 한계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06781" y="3844382"/>
            <a:ext cx="5493277" cy="183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 해석 에이전트의 적용 법령 범위가 넓게 산출되어 정확도 개선 필요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멀티에이전트 구조 특성상 응답 생성 시간 최적화 필요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에이전트 간 판단이 상충할 경우, 명시적 규칙이 아닌 LLM   판단에 따라 매 실행마다 출력결과가 달라짐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66102" y="3263547"/>
            <a:ext cx="3273681" cy="37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멀티에이전트 기술 구현 한계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37792" y="7953779"/>
            <a:ext cx="9871678" cy="114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8941" lvl="1" indent="-199471" algn="l">
              <a:lnSpc>
                <a:spcPts val="3141"/>
              </a:lnSpc>
              <a:buFont typeface="Arial"/>
              <a:buChar char="•"/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기반 데이터 생성에서는 수작업 검증 단계가 필수적이며, 구조화된 검증 프로세스로 발전 필요</a:t>
            </a:r>
          </a:p>
          <a:p>
            <a:pPr marL="398941" lvl="1" indent="-199471" algn="l">
              <a:lnSpc>
                <a:spcPts val="3141"/>
              </a:lnSpc>
              <a:buFont typeface="Arial"/>
              <a:buChar char="•"/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멀티에이전트 구조는 일관된 판단 도출에 효과적이나, 에이전트 간 역할 경계의 명확화 필요</a:t>
            </a:r>
          </a:p>
          <a:p>
            <a:pPr marL="398941" lvl="1" indent="-199471" algn="l">
              <a:lnSpc>
                <a:spcPts val="3141"/>
              </a:lnSpc>
              <a:buFont typeface="Arial"/>
              <a:buChar char="•"/>
            </a:pPr>
            <a:r>
              <a:rPr lang="en-US" sz="1847" spc="-36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 도메인 특화 서비스의 신뢰성 확보를 위해 지속적인 데이터 보강과 법령 업데이트 체계 구축 중요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10122" y="7557219"/>
            <a:ext cx="2876550" cy="37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교훈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86686" y="3824040"/>
            <a:ext cx="5245189" cy="183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외부 검색(MCP) 시, 내부 검색 목적으로 재작성된 쿼리를 그대로 사용할 경우 검색 품질이 저하되는 문제를 확인하여 MCP 전용 쿼리 재작성 단계를 별도로 추가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MCP 모듈의 검색 결과에는 관련도 평가 및 재순위화 단계 부재, 추후 후처리 구조 고도화 필요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935976" y="3263547"/>
            <a:ext cx="3273681" cy="37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4"/>
              </a:lnSpc>
            </a:pPr>
            <a:r>
              <a:rPr lang="en-US" sz="2147" b="1" spc="-42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검색 기술 구현 한계</a:t>
            </a:r>
          </a:p>
        </p:txBody>
      </p: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6FFC9F32-58E5-455F-C655-325AFB1E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88163" y="5931883"/>
            <a:ext cx="4958128" cy="2388740"/>
            <a:chOff x="0" y="0"/>
            <a:chExt cx="1305844" cy="629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5844" cy="629133"/>
            </a:xfrm>
            <a:custGeom>
              <a:avLst/>
              <a:gdLst/>
              <a:ahLst/>
              <a:cxnLst/>
              <a:rect l="l" t="t" r="r" b="b"/>
              <a:pathLst>
                <a:path w="1305844" h="629133">
                  <a:moveTo>
                    <a:pt x="31229" y="0"/>
                  </a:moveTo>
                  <a:lnTo>
                    <a:pt x="1274615" y="0"/>
                  </a:lnTo>
                  <a:cubicBezTo>
                    <a:pt x="1282898" y="0"/>
                    <a:pt x="1290841" y="3290"/>
                    <a:pt x="1296697" y="9147"/>
                  </a:cubicBezTo>
                  <a:cubicBezTo>
                    <a:pt x="1302554" y="15003"/>
                    <a:pt x="1305844" y="22947"/>
                    <a:pt x="1305844" y="31229"/>
                  </a:cubicBezTo>
                  <a:lnTo>
                    <a:pt x="1305844" y="597904"/>
                  </a:lnTo>
                  <a:cubicBezTo>
                    <a:pt x="1305844" y="606186"/>
                    <a:pt x="1302554" y="614130"/>
                    <a:pt x="1296697" y="619986"/>
                  </a:cubicBezTo>
                  <a:cubicBezTo>
                    <a:pt x="1290841" y="625843"/>
                    <a:pt x="1282898" y="629133"/>
                    <a:pt x="1274615" y="629133"/>
                  </a:cubicBezTo>
                  <a:lnTo>
                    <a:pt x="31229" y="629133"/>
                  </a:lnTo>
                  <a:cubicBezTo>
                    <a:pt x="22947" y="629133"/>
                    <a:pt x="15003" y="625843"/>
                    <a:pt x="9147" y="619986"/>
                  </a:cubicBezTo>
                  <a:cubicBezTo>
                    <a:pt x="3290" y="614130"/>
                    <a:pt x="0" y="606186"/>
                    <a:pt x="0" y="597904"/>
                  </a:cubicBezTo>
                  <a:lnTo>
                    <a:pt x="0" y="31229"/>
                  </a:lnTo>
                  <a:cubicBezTo>
                    <a:pt x="0" y="22947"/>
                    <a:pt x="3290" y="15003"/>
                    <a:pt x="9147" y="9147"/>
                  </a:cubicBezTo>
                  <a:cubicBezTo>
                    <a:pt x="15003" y="3290"/>
                    <a:pt x="22947" y="0"/>
                    <a:pt x="3122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305844" cy="600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724058" y="6131678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3167436"/>
            <a:ext cx="4858834" cy="2241817"/>
            <a:chOff x="0" y="0"/>
            <a:chExt cx="1279693" cy="5904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9693" cy="590437"/>
            </a:xfrm>
            <a:custGeom>
              <a:avLst/>
              <a:gdLst/>
              <a:ahLst/>
              <a:cxnLst/>
              <a:rect l="l" t="t" r="r" b="b"/>
              <a:pathLst>
                <a:path w="1279693" h="590437">
                  <a:moveTo>
                    <a:pt x="31867" y="0"/>
                  </a:moveTo>
                  <a:lnTo>
                    <a:pt x="1247825" y="0"/>
                  </a:lnTo>
                  <a:cubicBezTo>
                    <a:pt x="1265425" y="0"/>
                    <a:pt x="1279693" y="14268"/>
                    <a:pt x="1279693" y="31867"/>
                  </a:cubicBezTo>
                  <a:lnTo>
                    <a:pt x="1279693" y="558570"/>
                  </a:lnTo>
                  <a:cubicBezTo>
                    <a:pt x="1279693" y="567022"/>
                    <a:pt x="1276335" y="575127"/>
                    <a:pt x="1270359" y="581104"/>
                  </a:cubicBezTo>
                  <a:cubicBezTo>
                    <a:pt x="1264383" y="587080"/>
                    <a:pt x="1256277" y="590437"/>
                    <a:pt x="1247825" y="590437"/>
                  </a:cubicBezTo>
                  <a:lnTo>
                    <a:pt x="31867" y="590437"/>
                  </a:lnTo>
                  <a:cubicBezTo>
                    <a:pt x="14268" y="590437"/>
                    <a:pt x="0" y="576170"/>
                    <a:pt x="0" y="558570"/>
                  </a:cubicBezTo>
                  <a:lnTo>
                    <a:pt x="0" y="31867"/>
                  </a:lnTo>
                  <a:cubicBezTo>
                    <a:pt x="0" y="23416"/>
                    <a:pt x="3357" y="15310"/>
                    <a:pt x="9334" y="9334"/>
                  </a:cubicBezTo>
                  <a:cubicBezTo>
                    <a:pt x="15310" y="3357"/>
                    <a:pt x="23416" y="0"/>
                    <a:pt x="3186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279693" cy="561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8510" y="3167436"/>
            <a:ext cx="4858834" cy="2241817"/>
            <a:chOff x="0" y="0"/>
            <a:chExt cx="1279693" cy="5904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9693" cy="590437"/>
            </a:xfrm>
            <a:custGeom>
              <a:avLst/>
              <a:gdLst/>
              <a:ahLst/>
              <a:cxnLst/>
              <a:rect l="l" t="t" r="r" b="b"/>
              <a:pathLst>
                <a:path w="1279693" h="590437">
                  <a:moveTo>
                    <a:pt x="31867" y="0"/>
                  </a:moveTo>
                  <a:lnTo>
                    <a:pt x="1247825" y="0"/>
                  </a:lnTo>
                  <a:cubicBezTo>
                    <a:pt x="1265425" y="0"/>
                    <a:pt x="1279693" y="14268"/>
                    <a:pt x="1279693" y="31867"/>
                  </a:cubicBezTo>
                  <a:lnTo>
                    <a:pt x="1279693" y="558570"/>
                  </a:lnTo>
                  <a:cubicBezTo>
                    <a:pt x="1279693" y="567022"/>
                    <a:pt x="1276335" y="575127"/>
                    <a:pt x="1270359" y="581104"/>
                  </a:cubicBezTo>
                  <a:cubicBezTo>
                    <a:pt x="1264383" y="587080"/>
                    <a:pt x="1256277" y="590437"/>
                    <a:pt x="1247825" y="590437"/>
                  </a:cubicBezTo>
                  <a:lnTo>
                    <a:pt x="31867" y="590437"/>
                  </a:lnTo>
                  <a:cubicBezTo>
                    <a:pt x="14268" y="590437"/>
                    <a:pt x="0" y="576170"/>
                    <a:pt x="0" y="558570"/>
                  </a:cubicBezTo>
                  <a:lnTo>
                    <a:pt x="0" y="31867"/>
                  </a:lnTo>
                  <a:cubicBezTo>
                    <a:pt x="0" y="23416"/>
                    <a:pt x="3357" y="15310"/>
                    <a:pt x="9334" y="9334"/>
                  </a:cubicBezTo>
                  <a:cubicBezTo>
                    <a:pt x="15310" y="3357"/>
                    <a:pt x="23416" y="0"/>
                    <a:pt x="3186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279693" cy="561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046636" y="337752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2484119" y="3168183"/>
            <a:ext cx="4858834" cy="2241070"/>
            <a:chOff x="0" y="0"/>
            <a:chExt cx="1279693" cy="5902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79693" cy="590241"/>
            </a:xfrm>
            <a:custGeom>
              <a:avLst/>
              <a:gdLst/>
              <a:ahLst/>
              <a:cxnLst/>
              <a:rect l="l" t="t" r="r" b="b"/>
              <a:pathLst>
                <a:path w="1279693" h="590241">
                  <a:moveTo>
                    <a:pt x="31867" y="0"/>
                  </a:moveTo>
                  <a:lnTo>
                    <a:pt x="1247825" y="0"/>
                  </a:lnTo>
                  <a:cubicBezTo>
                    <a:pt x="1265425" y="0"/>
                    <a:pt x="1279693" y="14268"/>
                    <a:pt x="1279693" y="31867"/>
                  </a:cubicBezTo>
                  <a:lnTo>
                    <a:pt x="1279693" y="558373"/>
                  </a:lnTo>
                  <a:cubicBezTo>
                    <a:pt x="1279693" y="575973"/>
                    <a:pt x="1265425" y="590241"/>
                    <a:pt x="1247825" y="590241"/>
                  </a:cubicBezTo>
                  <a:lnTo>
                    <a:pt x="31867" y="590241"/>
                  </a:lnTo>
                  <a:cubicBezTo>
                    <a:pt x="23416" y="590241"/>
                    <a:pt x="15310" y="586883"/>
                    <a:pt x="9334" y="580907"/>
                  </a:cubicBezTo>
                  <a:cubicBezTo>
                    <a:pt x="3357" y="574931"/>
                    <a:pt x="0" y="566825"/>
                    <a:pt x="0" y="558373"/>
                  </a:cubicBezTo>
                  <a:lnTo>
                    <a:pt x="0" y="31867"/>
                  </a:lnTo>
                  <a:cubicBezTo>
                    <a:pt x="0" y="23416"/>
                    <a:pt x="3357" y="15310"/>
                    <a:pt x="9334" y="9334"/>
                  </a:cubicBezTo>
                  <a:cubicBezTo>
                    <a:pt x="15310" y="3357"/>
                    <a:pt x="23416" y="0"/>
                    <a:pt x="3186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8575"/>
              <a:ext cx="1279693" cy="561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744545" y="336200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028700" y="5942084"/>
            <a:ext cx="4958128" cy="2378538"/>
            <a:chOff x="0" y="0"/>
            <a:chExt cx="1305844" cy="6264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05844" cy="626446"/>
            </a:xfrm>
            <a:custGeom>
              <a:avLst/>
              <a:gdLst/>
              <a:ahLst/>
              <a:cxnLst/>
              <a:rect l="l" t="t" r="r" b="b"/>
              <a:pathLst>
                <a:path w="1305844" h="626446">
                  <a:moveTo>
                    <a:pt x="31229" y="0"/>
                  </a:moveTo>
                  <a:lnTo>
                    <a:pt x="1274615" y="0"/>
                  </a:lnTo>
                  <a:cubicBezTo>
                    <a:pt x="1282898" y="0"/>
                    <a:pt x="1290841" y="3290"/>
                    <a:pt x="1296697" y="9147"/>
                  </a:cubicBezTo>
                  <a:cubicBezTo>
                    <a:pt x="1302554" y="15003"/>
                    <a:pt x="1305844" y="22947"/>
                    <a:pt x="1305844" y="31229"/>
                  </a:cubicBezTo>
                  <a:lnTo>
                    <a:pt x="1305844" y="595217"/>
                  </a:lnTo>
                  <a:cubicBezTo>
                    <a:pt x="1305844" y="603500"/>
                    <a:pt x="1302554" y="611443"/>
                    <a:pt x="1296697" y="617299"/>
                  </a:cubicBezTo>
                  <a:cubicBezTo>
                    <a:pt x="1290841" y="623156"/>
                    <a:pt x="1282898" y="626446"/>
                    <a:pt x="1274615" y="626446"/>
                  </a:cubicBezTo>
                  <a:lnTo>
                    <a:pt x="31229" y="626446"/>
                  </a:lnTo>
                  <a:cubicBezTo>
                    <a:pt x="22947" y="626446"/>
                    <a:pt x="15003" y="623156"/>
                    <a:pt x="9147" y="617299"/>
                  </a:cubicBezTo>
                  <a:cubicBezTo>
                    <a:pt x="3290" y="611443"/>
                    <a:pt x="0" y="603500"/>
                    <a:pt x="0" y="595217"/>
                  </a:cubicBezTo>
                  <a:lnTo>
                    <a:pt x="0" y="31229"/>
                  </a:lnTo>
                  <a:cubicBezTo>
                    <a:pt x="0" y="22947"/>
                    <a:pt x="3290" y="15003"/>
                    <a:pt x="9147" y="9147"/>
                  </a:cubicBezTo>
                  <a:cubicBezTo>
                    <a:pt x="15003" y="3290"/>
                    <a:pt x="22947" y="0"/>
                    <a:pt x="3122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305844" cy="597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96717" y="6162245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1" name="Group 21"/>
          <p:cNvGrpSpPr/>
          <p:nvPr/>
        </p:nvGrpSpPr>
        <p:grpSpPr>
          <a:xfrm>
            <a:off x="6708863" y="5942653"/>
            <a:ext cx="4958128" cy="2377970"/>
            <a:chOff x="0" y="0"/>
            <a:chExt cx="1305844" cy="6262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05844" cy="626297"/>
            </a:xfrm>
            <a:custGeom>
              <a:avLst/>
              <a:gdLst/>
              <a:ahLst/>
              <a:cxnLst/>
              <a:rect l="l" t="t" r="r" b="b"/>
              <a:pathLst>
                <a:path w="1305844" h="626297">
                  <a:moveTo>
                    <a:pt x="31229" y="0"/>
                  </a:moveTo>
                  <a:lnTo>
                    <a:pt x="1274615" y="0"/>
                  </a:lnTo>
                  <a:cubicBezTo>
                    <a:pt x="1282898" y="0"/>
                    <a:pt x="1290841" y="3290"/>
                    <a:pt x="1296697" y="9147"/>
                  </a:cubicBezTo>
                  <a:cubicBezTo>
                    <a:pt x="1302554" y="15003"/>
                    <a:pt x="1305844" y="22947"/>
                    <a:pt x="1305844" y="31229"/>
                  </a:cubicBezTo>
                  <a:lnTo>
                    <a:pt x="1305844" y="595067"/>
                  </a:lnTo>
                  <a:cubicBezTo>
                    <a:pt x="1305844" y="603350"/>
                    <a:pt x="1302554" y="611293"/>
                    <a:pt x="1296697" y="617150"/>
                  </a:cubicBezTo>
                  <a:cubicBezTo>
                    <a:pt x="1290841" y="623006"/>
                    <a:pt x="1282898" y="626297"/>
                    <a:pt x="1274615" y="626297"/>
                  </a:cubicBezTo>
                  <a:lnTo>
                    <a:pt x="31229" y="626297"/>
                  </a:lnTo>
                  <a:cubicBezTo>
                    <a:pt x="22947" y="626297"/>
                    <a:pt x="15003" y="623006"/>
                    <a:pt x="9147" y="617150"/>
                  </a:cubicBezTo>
                  <a:cubicBezTo>
                    <a:pt x="3290" y="611293"/>
                    <a:pt x="0" y="603350"/>
                    <a:pt x="0" y="595067"/>
                  </a:cubicBezTo>
                  <a:lnTo>
                    <a:pt x="0" y="31229"/>
                  </a:lnTo>
                  <a:cubicBezTo>
                    <a:pt x="0" y="22947"/>
                    <a:pt x="3290" y="15003"/>
                    <a:pt x="9147" y="9147"/>
                  </a:cubicBezTo>
                  <a:cubicBezTo>
                    <a:pt x="15003" y="3290"/>
                    <a:pt x="22947" y="0"/>
                    <a:pt x="3122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1305844" cy="597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7025564" y="609806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Freeform 25"/>
          <p:cNvSpPr/>
          <p:nvPr/>
        </p:nvSpPr>
        <p:spPr>
          <a:xfrm>
            <a:off x="1196717" y="336200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1196717" y="4329107"/>
            <a:ext cx="4404490" cy="7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공개</a:t>
            </a: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의결서 및 보도자료 활용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u="none" strike="noStrike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LLM을 활용하여 시나리오 데이터 생성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99553" y="7129668"/>
            <a:ext cx="4696506" cy="7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동일 의결서라도 상황유형에 따라 다른 데이터 구축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계약 체결 전·거래 진행 중·위반 의심·정기 점검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4370" y="3925484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생성 방식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74370" y="6715261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상황유형별 맞춤 응답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75211" y="4410111"/>
            <a:ext cx="3728306" cy="60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446"/>
              </a:lnSpc>
              <a:buFont typeface="Arial"/>
              <a:buChar char="•"/>
            </a:pPr>
            <a:r>
              <a:rPr lang="en-US" sz="1747" spc="-34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제재중심·법령중심·유사사례·시장영향으로</a:t>
            </a:r>
            <a:r>
              <a:rPr lang="en-US" sz="1747" spc="-34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747" spc="-34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질문</a:t>
            </a:r>
            <a:r>
              <a:rPr lang="en-US" sz="1747" spc="-34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747" spc="-34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유형</a:t>
            </a:r>
            <a:r>
              <a:rPr lang="en-US" sz="1747" spc="-34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747" spc="-34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세분화</a:t>
            </a:r>
            <a:endParaRPr lang="en-US" sz="1747" spc="-34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075211" y="3941359"/>
            <a:ext cx="359862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질문</a:t>
            </a:r>
            <a:r>
              <a:rPr 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다양성</a:t>
            </a:r>
            <a:r>
              <a:rPr 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47" b="1" spc="-38" dirty="0" err="1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확보</a:t>
            </a:r>
            <a:endParaRPr lang="en-US" sz="1947" b="1" spc="-38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980180" y="7074445"/>
            <a:ext cx="3819075" cy="1089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 원문과 생성 데이터 직접 대조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기업명·상품명 등 식별 정보 마스킹 처리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과징금 총액 및 세부항목 검토·수정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025564" y="6660038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Hallucination 방지 구조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638648" y="4357682"/>
            <a:ext cx="4045997" cy="7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의결서에 포함된 내용을 근거로 응답 구성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실제 의결서 기반의 신뢰도 높은 답변 구성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44545" y="3941359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근거 기반 응답</a:t>
            </a:r>
          </a:p>
        </p:txBody>
      </p:sp>
      <p:sp>
        <p:nvSpPr>
          <p:cNvPr id="38" name="Freeform 38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설계 방식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618161" y="7089576"/>
            <a:ext cx="4454456" cy="7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과징금 총합 단위 합산, 개별 항목 세분화 미적용</a:t>
            </a:r>
          </a:p>
          <a:p>
            <a:pPr marL="377352" lvl="1" indent="-188676" algn="l">
              <a:lnSpc>
                <a:spcPts val="2971"/>
              </a:lnSpc>
              <a:buFont typeface="Arial"/>
              <a:buChar char="•"/>
            </a:pPr>
            <a:r>
              <a:rPr lang="en-US" sz="1747" spc="-34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법령·의결서 출처 내용 부정확 사례 발견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24058" y="6684694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한계점 및 해결 방안</a:t>
            </a:r>
          </a:p>
        </p:txBody>
      </p:sp>
      <p:sp>
        <p:nvSpPr>
          <p:cNvPr id="44" name="Freeform 44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3" name="슬라이드 번호 개체 틀 52">
            <a:extLst>
              <a:ext uri="{FF2B5EF4-FFF2-40B4-BE49-F238E27FC236}">
                <a16:creationId xmlns:a16="http://schemas.microsoft.com/office/drawing/2014/main" id="{999B9FBC-53BF-F706-08B8-E3FFE3E9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2" name="AutoShape 6">
            <a:extLst>
              <a:ext uri="{FF2B5EF4-FFF2-40B4-BE49-F238E27FC236}">
                <a16:creationId xmlns:a16="http://schemas.microsoft.com/office/drawing/2014/main" id="{69E38690-42D5-CA37-5690-D8A23C5DB40F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31EEED1E-CC56-6B00-199E-11225088C2F4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A.2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설계 방식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24D54C08-C7D0-A143-88DD-33836B046B9C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55605" y="3319331"/>
            <a:ext cx="9176791" cy="6664644"/>
          </a:xfrm>
          <a:custGeom>
            <a:avLst/>
            <a:gdLst/>
            <a:ahLst/>
            <a:cxnLst/>
            <a:rect l="l" t="t" r="r" b="b"/>
            <a:pathLst>
              <a:path w="9176791" h="6664644">
                <a:moveTo>
                  <a:pt x="0" y="0"/>
                </a:moveTo>
                <a:lnTo>
                  <a:pt x="9176790" y="0"/>
                </a:lnTo>
                <a:lnTo>
                  <a:pt x="9176790" y="6664644"/>
                </a:lnTo>
                <a:lnTo>
                  <a:pt x="0" y="6664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AI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활용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개선</a:t>
            </a:r>
            <a:r>
              <a:rPr lang="en-US" sz="2952" b="1" spc="-59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952" b="1" spc="-59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방향</a:t>
            </a:r>
            <a:endParaRPr lang="en-US" sz="2952" b="1" spc="-59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6717" y="2460324"/>
            <a:ext cx="9451301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00" spc="-82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RAG, MCP 및 LLM </a:t>
            </a:r>
            <a:r>
              <a:rPr lang="en-US" sz="2000" spc="-82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멀티에이전트</a:t>
            </a:r>
            <a:r>
              <a:rPr lang="en-US" sz="2000" spc="-82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82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</a:t>
            </a:r>
            <a:r>
              <a:rPr lang="en-US" sz="2000" spc="-82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82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생성</a:t>
            </a:r>
            <a:r>
              <a:rPr lang="en-US" sz="2000" spc="-82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82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</a:t>
            </a:r>
            <a:r>
              <a:rPr lang="en-US" sz="2000" spc="-82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82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검증</a:t>
            </a:r>
            <a:r>
              <a:rPr lang="en-US" sz="2000" spc="-82" dirty="0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000" spc="-82" dirty="0" err="1">
                <a:solidFill>
                  <a:srgbClr val="000000">
                    <a:alpha val="93725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구조</a:t>
            </a:r>
            <a:endParaRPr lang="en-US" sz="2000" spc="-82" dirty="0">
              <a:solidFill>
                <a:srgbClr val="000000">
                  <a:alpha val="93725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90BC92A6-2806-A3AA-9DB6-42467F4B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B9846DBC-E8E0-B7C9-7667-973E2C9A9B3C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CDF2EDB8-C66C-5F8B-59F4-57A527517987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A.3 </a:t>
            </a:r>
            <a:r>
              <a:rPr lang="ko-KR" alt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할루시네이션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방지 구조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78B03B5-89DC-E2C0-F202-CE4FA7F1C207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276520" y="4381051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AutoShape 4"/>
          <p:cNvSpPr/>
          <p:nvPr/>
        </p:nvSpPr>
        <p:spPr>
          <a:xfrm>
            <a:off x="4638675" y="4371526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AutoShape 5"/>
          <p:cNvSpPr/>
          <p:nvPr/>
        </p:nvSpPr>
        <p:spPr>
          <a:xfrm>
            <a:off x="8067521" y="4362001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>
            <a:off x="11377867" y="4342951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"/>
          <p:cNvSpPr/>
          <p:nvPr/>
        </p:nvSpPr>
        <p:spPr>
          <a:xfrm>
            <a:off x="14759242" y="4352476"/>
            <a:ext cx="2286000" cy="0"/>
          </a:xfrm>
          <a:prstGeom prst="line">
            <a:avLst/>
          </a:prstGeom>
          <a:ln w="19050" cap="flat">
            <a:solidFill>
              <a:srgbClr val="51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AutoShape 8"/>
          <p:cNvSpPr/>
          <p:nvPr/>
        </p:nvSpPr>
        <p:spPr>
          <a:xfrm>
            <a:off x="3924470" y="4913925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AutoShape 9"/>
          <p:cNvSpPr/>
          <p:nvPr/>
        </p:nvSpPr>
        <p:spPr>
          <a:xfrm>
            <a:off x="7313031" y="4923450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10777792" y="4904400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AutoShape 11"/>
          <p:cNvSpPr/>
          <p:nvPr/>
        </p:nvSpPr>
        <p:spPr>
          <a:xfrm>
            <a:off x="14225842" y="4913925"/>
            <a:ext cx="285750" cy="0"/>
          </a:xfrm>
          <a:prstGeom prst="line">
            <a:avLst/>
          </a:prstGeom>
          <a:ln w="19050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204971" y="7726702"/>
            <a:ext cx="3971755" cy="1724412"/>
            <a:chOff x="0" y="0"/>
            <a:chExt cx="1046059" cy="4541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6059" cy="454166"/>
            </a:xfrm>
            <a:custGeom>
              <a:avLst/>
              <a:gdLst/>
              <a:ahLst/>
              <a:cxnLst/>
              <a:rect l="l" t="t" r="r" b="b"/>
              <a:pathLst>
                <a:path w="1046059" h="454166">
                  <a:moveTo>
                    <a:pt x="38985" y="0"/>
                  </a:moveTo>
                  <a:lnTo>
                    <a:pt x="1007074" y="0"/>
                  </a:lnTo>
                  <a:cubicBezTo>
                    <a:pt x="1017413" y="0"/>
                    <a:pt x="1027329" y="4107"/>
                    <a:pt x="1034641" y="11418"/>
                  </a:cubicBezTo>
                  <a:cubicBezTo>
                    <a:pt x="1041952" y="18729"/>
                    <a:pt x="1046059" y="28645"/>
                    <a:pt x="1046059" y="38985"/>
                  </a:cubicBezTo>
                  <a:lnTo>
                    <a:pt x="1046059" y="415181"/>
                  </a:lnTo>
                  <a:cubicBezTo>
                    <a:pt x="1046059" y="436712"/>
                    <a:pt x="1028605" y="454166"/>
                    <a:pt x="1007074" y="454166"/>
                  </a:cubicBezTo>
                  <a:lnTo>
                    <a:pt x="38985" y="454166"/>
                  </a:lnTo>
                  <a:cubicBezTo>
                    <a:pt x="28645" y="454166"/>
                    <a:pt x="18729" y="450059"/>
                    <a:pt x="11418" y="442748"/>
                  </a:cubicBezTo>
                  <a:cubicBezTo>
                    <a:pt x="4107" y="435437"/>
                    <a:pt x="0" y="425521"/>
                    <a:pt x="0" y="415181"/>
                  </a:cubicBezTo>
                  <a:lnTo>
                    <a:pt x="0" y="38985"/>
                  </a:lnTo>
                  <a:cubicBezTo>
                    <a:pt x="0" y="17454"/>
                    <a:pt x="17454" y="0"/>
                    <a:pt x="3898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046059" cy="425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376251" y="787309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6" name="Group 16"/>
          <p:cNvGrpSpPr/>
          <p:nvPr/>
        </p:nvGrpSpPr>
        <p:grpSpPr>
          <a:xfrm>
            <a:off x="7083852" y="7743835"/>
            <a:ext cx="4216432" cy="1724412"/>
            <a:chOff x="0" y="0"/>
            <a:chExt cx="1110501" cy="4541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10501" cy="454166"/>
            </a:xfrm>
            <a:custGeom>
              <a:avLst/>
              <a:gdLst/>
              <a:ahLst/>
              <a:cxnLst/>
              <a:rect l="l" t="t" r="r" b="b"/>
              <a:pathLst>
                <a:path w="1110501" h="454166">
                  <a:moveTo>
                    <a:pt x="36723" y="0"/>
                  </a:moveTo>
                  <a:lnTo>
                    <a:pt x="1073778" y="0"/>
                  </a:lnTo>
                  <a:cubicBezTo>
                    <a:pt x="1094059" y="0"/>
                    <a:pt x="1110501" y="16441"/>
                    <a:pt x="1110501" y="36723"/>
                  </a:cubicBezTo>
                  <a:lnTo>
                    <a:pt x="1110501" y="417444"/>
                  </a:lnTo>
                  <a:cubicBezTo>
                    <a:pt x="1110501" y="437725"/>
                    <a:pt x="1094059" y="454166"/>
                    <a:pt x="1073778" y="454166"/>
                  </a:cubicBezTo>
                  <a:lnTo>
                    <a:pt x="36723" y="454166"/>
                  </a:lnTo>
                  <a:cubicBezTo>
                    <a:pt x="26983" y="454166"/>
                    <a:pt x="17643" y="450297"/>
                    <a:pt x="10756" y="443410"/>
                  </a:cubicBezTo>
                  <a:cubicBezTo>
                    <a:pt x="3869" y="436524"/>
                    <a:pt x="0" y="427183"/>
                    <a:pt x="0" y="417444"/>
                  </a:cubicBezTo>
                  <a:lnTo>
                    <a:pt x="0" y="36723"/>
                  </a:lnTo>
                  <a:cubicBezTo>
                    <a:pt x="0" y="16441"/>
                    <a:pt x="16441" y="0"/>
                    <a:pt x="36723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1110501" cy="425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241117" y="7890228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2205159" y="7743835"/>
            <a:ext cx="4216432" cy="1724412"/>
            <a:chOff x="0" y="0"/>
            <a:chExt cx="1110501" cy="4541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10501" cy="454166"/>
            </a:xfrm>
            <a:custGeom>
              <a:avLst/>
              <a:gdLst/>
              <a:ahLst/>
              <a:cxnLst/>
              <a:rect l="l" t="t" r="r" b="b"/>
              <a:pathLst>
                <a:path w="1110501" h="454166">
                  <a:moveTo>
                    <a:pt x="36723" y="0"/>
                  </a:moveTo>
                  <a:lnTo>
                    <a:pt x="1073778" y="0"/>
                  </a:lnTo>
                  <a:cubicBezTo>
                    <a:pt x="1094059" y="0"/>
                    <a:pt x="1110501" y="16441"/>
                    <a:pt x="1110501" y="36723"/>
                  </a:cubicBezTo>
                  <a:lnTo>
                    <a:pt x="1110501" y="417444"/>
                  </a:lnTo>
                  <a:cubicBezTo>
                    <a:pt x="1110501" y="437725"/>
                    <a:pt x="1094059" y="454166"/>
                    <a:pt x="1073778" y="454166"/>
                  </a:cubicBezTo>
                  <a:lnTo>
                    <a:pt x="36723" y="454166"/>
                  </a:lnTo>
                  <a:cubicBezTo>
                    <a:pt x="26983" y="454166"/>
                    <a:pt x="17643" y="450297"/>
                    <a:pt x="10756" y="443410"/>
                  </a:cubicBezTo>
                  <a:cubicBezTo>
                    <a:pt x="3869" y="436524"/>
                    <a:pt x="0" y="427183"/>
                    <a:pt x="0" y="417444"/>
                  </a:cubicBezTo>
                  <a:lnTo>
                    <a:pt x="0" y="36723"/>
                  </a:lnTo>
                  <a:cubicBezTo>
                    <a:pt x="0" y="16441"/>
                    <a:pt x="16441" y="0"/>
                    <a:pt x="36723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110501" cy="425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448224" y="7890228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검증 프로세스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6717" y="2575746"/>
            <a:ext cx="9451301" cy="30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1900" b="1" spc="-77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→ 한계점 개선을 위해 제안하는 검증 구조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3242" y="3780658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질의 처리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74458" y="4696011"/>
            <a:ext cx="2268622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질의를 사실·법조문·제재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관점 클레임으로 분해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36264" y="4696011"/>
            <a:ext cx="2452942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RAG 및 MCP를 이용하여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관련 내용 검색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044992" y="4696011"/>
            <a:ext cx="2033899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판정 결과에 따른 </a:t>
            </a: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 처리 전략 분기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24617" y="3780658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관련자료</a:t>
            </a:r>
            <a:r>
              <a:rPr lang="en-US" sz="220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검색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05992" y="3775896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원문↔클레임 대조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87367" y="3780658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에이전트</a:t>
            </a:r>
            <a:r>
              <a:rPr lang="en-US" sz="2200" b="1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토론</a:t>
            </a:r>
            <a:endParaRPr lang="en-US" sz="2200" b="1" dirty="0">
              <a:solidFill>
                <a:srgbClr val="000000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568742" y="3780658"/>
            <a:ext cx="2667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최종</a:t>
            </a:r>
            <a:r>
              <a:rPr lang="en-US" sz="220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판정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13106" y="4696011"/>
            <a:ext cx="280035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사실·법조문·제재 검증 에이전트가 Pass·Fail·Partial 판정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58817" y="4696011"/>
            <a:ext cx="280035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토론을</a:t>
            </a:r>
            <a:r>
              <a:rPr lang="en-US" sz="170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70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통한</a:t>
            </a:r>
            <a:r>
              <a:rPr lang="en-US" sz="170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  <a:p>
            <a:pPr algn="l">
              <a:lnSpc>
                <a:spcPts val="2550"/>
              </a:lnSpc>
            </a:pPr>
            <a:r>
              <a:rPr lang="en-US" sz="170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원문↔클레임</a:t>
            </a:r>
            <a:r>
              <a:rPr lang="en-US" sz="170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70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판정</a:t>
            </a:r>
            <a:r>
              <a:rPr lang="en-US" sz="170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70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교차</a:t>
            </a:r>
            <a:r>
              <a:rPr lang="en-US" sz="1700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700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검증</a:t>
            </a:r>
            <a:endParaRPr lang="en-US" sz="1700" dirty="0">
              <a:solidFill>
                <a:srgbClr val="000000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204971" y="6974182"/>
            <a:ext cx="2682458" cy="30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1900" b="1" spc="-77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판정</a:t>
            </a:r>
            <a:r>
              <a:rPr lang="en-US" sz="1900" b="1" spc="-77" dirty="0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00" b="1" spc="-77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결과에</a:t>
            </a:r>
            <a:r>
              <a:rPr lang="en-US" sz="1900" b="1" spc="-77" dirty="0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00" b="1" spc="-77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따른</a:t>
            </a:r>
            <a:r>
              <a:rPr lang="en-US" sz="1900" b="1" spc="-77" dirty="0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00" b="1" spc="-77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분기</a:t>
            </a:r>
            <a:r>
              <a:rPr lang="en-US" sz="1900" b="1" spc="-77" dirty="0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00" b="1" spc="-77" dirty="0" err="1">
                <a:solidFill>
                  <a:srgbClr val="000000">
                    <a:alpha val="93725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처리</a:t>
            </a:r>
            <a:endParaRPr lang="en-US" sz="1900" b="1" spc="-77" dirty="0">
              <a:solidFill>
                <a:srgbClr val="000000">
                  <a:alpha val="93725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436932" y="8724710"/>
            <a:ext cx="2876550" cy="27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4"/>
              </a:lnSpc>
            </a:pPr>
            <a:r>
              <a:rPr lang="en-US" sz="1547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</a:t>
            </a:r>
            <a:r>
              <a:rPr lang="en-US" sz="1547" u="none" strike="noStrike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현행 유지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436932" y="8341326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b="1" spc="-3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전체 Pass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241117" y="8751369"/>
            <a:ext cx="3138310" cy="26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6"/>
              </a:lnSpc>
            </a:pPr>
            <a:r>
              <a:rPr lang="en-US" sz="1547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LLM을 활용하여 내용 보강 후 재검증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41117" y="8349661"/>
            <a:ext cx="3598624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b="1" spc="-3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Partial 1개 이상, Fail 없음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56786" y="8751369"/>
            <a:ext cx="3713178" cy="53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7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LLM을 활용하여 불일치 내용 보고서 생성, </a:t>
            </a:r>
          </a:p>
          <a:p>
            <a:pPr marL="0" lvl="0" indent="0" algn="l">
              <a:lnSpc>
                <a:spcPts val="2166"/>
              </a:lnSpc>
            </a:pPr>
            <a:r>
              <a:rPr lang="en-US" sz="1547" spc="-3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전문가 판단 요청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48224" y="8358459"/>
            <a:ext cx="2876550" cy="32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9"/>
              </a:lnSpc>
            </a:pPr>
            <a:r>
              <a:rPr lang="en-US" sz="1847" b="1" spc="-36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Fail 1개 이상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293285" y="3348614"/>
            <a:ext cx="929664" cy="297106"/>
            <a:chOff x="0" y="0"/>
            <a:chExt cx="244850" cy="782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429133" y="3405915"/>
            <a:ext cx="657969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02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808687" y="3348614"/>
            <a:ext cx="929664" cy="297106"/>
            <a:chOff x="0" y="0"/>
            <a:chExt cx="244850" cy="7825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956217" y="3405915"/>
            <a:ext cx="634603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01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8674660" y="3348614"/>
            <a:ext cx="929664" cy="297106"/>
            <a:chOff x="0" y="0"/>
            <a:chExt cx="244850" cy="7825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8808201" y="3405915"/>
            <a:ext cx="662583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03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2056035" y="3348614"/>
            <a:ext cx="929664" cy="297106"/>
            <a:chOff x="0" y="0"/>
            <a:chExt cx="244850" cy="7825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2188013" y="3405915"/>
            <a:ext cx="665708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04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5437410" y="3348614"/>
            <a:ext cx="929664" cy="297106"/>
            <a:chOff x="0" y="0"/>
            <a:chExt cx="244850" cy="7825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44850" cy="78250"/>
            </a:xfrm>
            <a:custGeom>
              <a:avLst/>
              <a:gdLst/>
              <a:ahLst/>
              <a:cxnLst/>
              <a:rect l="l" t="t" r="r" b="b"/>
              <a:pathLst>
                <a:path w="244850" h="78250">
                  <a:moveTo>
                    <a:pt x="39125" y="0"/>
                  </a:moveTo>
                  <a:lnTo>
                    <a:pt x="205725" y="0"/>
                  </a:lnTo>
                  <a:cubicBezTo>
                    <a:pt x="227333" y="0"/>
                    <a:pt x="244850" y="17517"/>
                    <a:pt x="244850" y="39125"/>
                  </a:cubicBezTo>
                  <a:lnTo>
                    <a:pt x="244850" y="39125"/>
                  </a:lnTo>
                  <a:cubicBezTo>
                    <a:pt x="244850" y="49502"/>
                    <a:pt x="240728" y="59453"/>
                    <a:pt x="233390" y="66791"/>
                  </a:cubicBezTo>
                  <a:cubicBezTo>
                    <a:pt x="226053" y="74128"/>
                    <a:pt x="216101" y="78250"/>
                    <a:pt x="205725" y="78250"/>
                  </a:cubicBezTo>
                  <a:lnTo>
                    <a:pt x="39125" y="78250"/>
                  </a:lnTo>
                  <a:cubicBezTo>
                    <a:pt x="28749" y="78250"/>
                    <a:pt x="18797" y="74128"/>
                    <a:pt x="11459" y="66791"/>
                  </a:cubicBezTo>
                  <a:cubicBezTo>
                    <a:pt x="4122" y="59453"/>
                    <a:pt x="0" y="49502"/>
                    <a:pt x="0" y="39125"/>
                  </a:cubicBezTo>
                  <a:lnTo>
                    <a:pt x="0" y="39125"/>
                  </a:lnTo>
                  <a:cubicBezTo>
                    <a:pt x="0" y="28749"/>
                    <a:pt x="4122" y="18797"/>
                    <a:pt x="11459" y="11459"/>
                  </a:cubicBezTo>
                  <a:cubicBezTo>
                    <a:pt x="18797" y="4122"/>
                    <a:pt x="28749" y="0"/>
                    <a:pt x="39125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28575"/>
              <a:ext cx="244850" cy="4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5571918" y="3405915"/>
            <a:ext cx="660648" cy="2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</a:t>
            </a:r>
            <a:r>
              <a:rPr lang="en-US" sz="1300" b="1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05</a:t>
            </a:r>
          </a:p>
        </p:txBody>
      </p:sp>
      <p:sp>
        <p:nvSpPr>
          <p:cNvPr id="66" name="Freeform 66"/>
          <p:cNvSpPr/>
          <p:nvPr/>
        </p:nvSpPr>
        <p:spPr>
          <a:xfrm>
            <a:off x="5070382" y="5459153"/>
            <a:ext cx="11617417" cy="1747127"/>
          </a:xfrm>
          <a:custGeom>
            <a:avLst/>
            <a:gdLst/>
            <a:ahLst/>
            <a:cxnLst/>
            <a:rect l="l" t="t" r="r" b="b"/>
            <a:pathLst>
              <a:path w="10947798" h="1661901">
                <a:moveTo>
                  <a:pt x="10947798" y="0"/>
                </a:moveTo>
                <a:quadBezTo>
                  <a:pt x="6139364" y="2000918"/>
                  <a:pt x="0" y="1592744"/>
                </a:quadBezTo>
              </a:path>
            </a:pathLst>
          </a:custGeom>
          <a:ln w="28575" cap="flat">
            <a:solidFill>
              <a:srgbClr val="5171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슬라이드 번호 개체 틀 72">
            <a:extLst>
              <a:ext uri="{FF2B5EF4-FFF2-40B4-BE49-F238E27FC236}">
                <a16:creationId xmlns:a16="http://schemas.microsoft.com/office/drawing/2014/main" id="{60FE8706-DB27-C4FA-15C0-8E82A3F8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5" name="AutoShape 6">
            <a:extLst>
              <a:ext uri="{FF2B5EF4-FFF2-40B4-BE49-F238E27FC236}">
                <a16:creationId xmlns:a16="http://schemas.microsoft.com/office/drawing/2014/main" id="{545F39EC-D914-6D00-F520-1D784386EB8B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E811D2DE-100F-891E-8B3B-7F47DCE5F47A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A.3 </a:t>
            </a:r>
            <a:r>
              <a:rPr lang="ko-KR" altLang="en-US" sz="2830" b="1" spc="-56" dirty="0" err="1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할루시네이션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방지 구조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74" name="TextBox 22">
            <a:extLst>
              <a:ext uri="{FF2B5EF4-FFF2-40B4-BE49-F238E27FC236}">
                <a16:creationId xmlns:a16="http://schemas.microsoft.com/office/drawing/2014/main" id="{A1735C99-0AC6-2863-45E0-04000A800C3C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4921" y="3345732"/>
            <a:ext cx="2927533" cy="2927533"/>
          </a:xfrm>
          <a:custGeom>
            <a:avLst/>
            <a:gdLst/>
            <a:ahLst/>
            <a:cxnLst/>
            <a:rect l="l" t="t" r="r" b="b"/>
            <a:pathLst>
              <a:path w="2927533" h="2927533">
                <a:moveTo>
                  <a:pt x="0" y="0"/>
                </a:moveTo>
                <a:lnTo>
                  <a:pt x="2927533" y="0"/>
                </a:lnTo>
                <a:lnTo>
                  <a:pt x="2927533" y="2927532"/>
                </a:lnTo>
                <a:lnTo>
                  <a:pt x="0" y="2927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802150" y="3501489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0" y="0"/>
                </a:moveTo>
                <a:lnTo>
                  <a:pt x="2771775" y="0"/>
                </a:lnTo>
                <a:lnTo>
                  <a:pt x="2771775" y="2771775"/>
                </a:lnTo>
                <a:lnTo>
                  <a:pt x="0" y="2771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13318498" y="3501489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0" y="0"/>
                </a:moveTo>
                <a:lnTo>
                  <a:pt x="2771775" y="0"/>
                </a:lnTo>
                <a:lnTo>
                  <a:pt x="2771775" y="2771775"/>
                </a:lnTo>
                <a:lnTo>
                  <a:pt x="0" y="2771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91279" y="8098379"/>
            <a:ext cx="4027896" cy="989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사건 개요·사실관계·위반 행위·시장 영향·</a:t>
            </a:r>
          </a:p>
          <a:p>
            <a:pPr marL="0" lvl="0" indent="0"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적용 법령제재 내용을 바탕으로</a:t>
            </a:r>
            <a:r>
              <a:rPr lang="en-US" sz="1829" u="none" strike="noStrike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  <a:p>
            <a:pPr marL="0" lvl="0" indent="0" algn="l">
              <a:lnSpc>
                <a:spcPts val="2653"/>
              </a:lnSpc>
            </a:pPr>
            <a:r>
              <a:rPr lang="en-US" sz="1829" u="none" strike="noStrike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리스크 진단 및 QA 데이터 구성에 사용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91279" y="7073364"/>
            <a:ext cx="4104431" cy="78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공정거래위원회 </a:t>
            </a:r>
          </a:p>
          <a:p>
            <a:pPr marL="0" lvl="0" indent="0"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의결서 원문 데이터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활용 범위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691279" y="6435189"/>
            <a:ext cx="1280231" cy="400609"/>
            <a:chOff x="0" y="0"/>
            <a:chExt cx="337180" cy="1055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7180" cy="105510"/>
            </a:xfrm>
            <a:custGeom>
              <a:avLst/>
              <a:gdLst/>
              <a:ahLst/>
              <a:cxnLst/>
              <a:rect l="l" t="t" r="r" b="b"/>
              <a:pathLst>
                <a:path w="337180" h="105510">
                  <a:moveTo>
                    <a:pt x="52755" y="0"/>
                  </a:moveTo>
                  <a:lnTo>
                    <a:pt x="284425" y="0"/>
                  </a:lnTo>
                  <a:cubicBezTo>
                    <a:pt x="298416" y="0"/>
                    <a:pt x="311835" y="5558"/>
                    <a:pt x="321728" y="15452"/>
                  </a:cubicBezTo>
                  <a:cubicBezTo>
                    <a:pt x="331622" y="25345"/>
                    <a:pt x="337180" y="38764"/>
                    <a:pt x="337180" y="52755"/>
                  </a:cubicBezTo>
                  <a:lnTo>
                    <a:pt x="337180" y="52755"/>
                  </a:lnTo>
                  <a:cubicBezTo>
                    <a:pt x="337180" y="66747"/>
                    <a:pt x="331622" y="80165"/>
                    <a:pt x="321728" y="90059"/>
                  </a:cubicBezTo>
                  <a:cubicBezTo>
                    <a:pt x="311835" y="99952"/>
                    <a:pt x="298416" y="105510"/>
                    <a:pt x="284425" y="105510"/>
                  </a:cubicBezTo>
                  <a:lnTo>
                    <a:pt x="52755" y="105510"/>
                  </a:lnTo>
                  <a:cubicBezTo>
                    <a:pt x="38764" y="105510"/>
                    <a:pt x="25345" y="99952"/>
                    <a:pt x="15452" y="90059"/>
                  </a:cubicBezTo>
                  <a:cubicBezTo>
                    <a:pt x="5558" y="80165"/>
                    <a:pt x="0" y="66747"/>
                    <a:pt x="0" y="52755"/>
                  </a:cubicBezTo>
                  <a:lnTo>
                    <a:pt x="0" y="52755"/>
                  </a:lnTo>
                  <a:cubicBezTo>
                    <a:pt x="0" y="38764"/>
                    <a:pt x="5558" y="25345"/>
                    <a:pt x="15452" y="15452"/>
                  </a:cubicBezTo>
                  <a:cubicBezTo>
                    <a:pt x="25345" y="5558"/>
                    <a:pt x="38764" y="0"/>
                    <a:pt x="52755" y="0"/>
                  </a:cubicBezTo>
                  <a:close/>
                </a:path>
              </a:pathLst>
            </a:custGeom>
            <a:solidFill>
              <a:srgbClr val="A3BFD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337180" cy="95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71011" y="6504849"/>
            <a:ext cx="1120766" cy="25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1"/>
              </a:lnSpc>
            </a:pPr>
            <a:r>
              <a:rPr lang="en-US" sz="1619" b="1" spc="-32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핵심 데이터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43199" y="8098379"/>
            <a:ext cx="4179848" cy="6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사건의 핵심 쟁점·제재 취지·정책적 배경 파악에 </a:t>
            </a:r>
          </a:p>
          <a:p>
            <a:pPr marL="0" lvl="0" indent="0"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보조적으로</a:t>
            </a:r>
            <a:r>
              <a:rPr lang="en-US" sz="1829" u="none" strike="noStrike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활용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43199" y="7073364"/>
            <a:ext cx="4104431" cy="78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공정거래위원회</a:t>
            </a:r>
          </a:p>
          <a:p>
            <a:pPr marL="0" lvl="0" indent="0"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보도자료·설명자료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443199" y="6435189"/>
            <a:ext cx="1280231" cy="400609"/>
            <a:chOff x="0" y="0"/>
            <a:chExt cx="337180" cy="1055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7180" cy="105510"/>
            </a:xfrm>
            <a:custGeom>
              <a:avLst/>
              <a:gdLst/>
              <a:ahLst/>
              <a:cxnLst/>
              <a:rect l="l" t="t" r="r" b="b"/>
              <a:pathLst>
                <a:path w="337180" h="105510">
                  <a:moveTo>
                    <a:pt x="52755" y="0"/>
                  </a:moveTo>
                  <a:lnTo>
                    <a:pt x="284425" y="0"/>
                  </a:lnTo>
                  <a:cubicBezTo>
                    <a:pt x="298416" y="0"/>
                    <a:pt x="311835" y="5558"/>
                    <a:pt x="321728" y="15452"/>
                  </a:cubicBezTo>
                  <a:cubicBezTo>
                    <a:pt x="331622" y="25345"/>
                    <a:pt x="337180" y="38764"/>
                    <a:pt x="337180" y="52755"/>
                  </a:cubicBezTo>
                  <a:lnTo>
                    <a:pt x="337180" y="52755"/>
                  </a:lnTo>
                  <a:cubicBezTo>
                    <a:pt x="337180" y="66747"/>
                    <a:pt x="331622" y="80165"/>
                    <a:pt x="321728" y="90059"/>
                  </a:cubicBezTo>
                  <a:cubicBezTo>
                    <a:pt x="311835" y="99952"/>
                    <a:pt x="298416" y="105510"/>
                    <a:pt x="284425" y="105510"/>
                  </a:cubicBezTo>
                  <a:lnTo>
                    <a:pt x="52755" y="105510"/>
                  </a:lnTo>
                  <a:cubicBezTo>
                    <a:pt x="38764" y="105510"/>
                    <a:pt x="25345" y="99952"/>
                    <a:pt x="15452" y="90059"/>
                  </a:cubicBezTo>
                  <a:cubicBezTo>
                    <a:pt x="5558" y="80165"/>
                    <a:pt x="0" y="66747"/>
                    <a:pt x="0" y="52755"/>
                  </a:cubicBezTo>
                  <a:lnTo>
                    <a:pt x="0" y="52755"/>
                  </a:lnTo>
                  <a:cubicBezTo>
                    <a:pt x="0" y="38764"/>
                    <a:pt x="5558" y="25345"/>
                    <a:pt x="15452" y="15452"/>
                  </a:cubicBezTo>
                  <a:cubicBezTo>
                    <a:pt x="25345" y="5558"/>
                    <a:pt x="38764" y="0"/>
                    <a:pt x="52755" y="0"/>
                  </a:cubicBezTo>
                  <a:close/>
                </a:path>
              </a:pathLst>
            </a:custGeom>
            <a:solidFill>
              <a:srgbClr val="CCCCC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337180" cy="95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522932" y="6504849"/>
            <a:ext cx="1120766" cy="25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1"/>
              </a:lnSpc>
            </a:pPr>
            <a:r>
              <a:rPr lang="en-US" sz="1619" b="1" spc="-32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보조 데이터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18498" y="8098379"/>
            <a:ext cx="4361159" cy="6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결정문 자료 조회를 통해 </a:t>
            </a:r>
          </a:p>
          <a:p>
            <a:pPr marL="0" lvl="0" indent="0" algn="l">
              <a:lnSpc>
                <a:spcPts val="2653"/>
              </a:lnSpc>
            </a:pPr>
            <a:r>
              <a:rPr lang="en-US" sz="1829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내재적 지식(의결서)</a:t>
            </a:r>
            <a:r>
              <a:rPr lang="en-US" sz="1829" u="none" strike="noStrike" spc="-36">
                <a:solidFill>
                  <a:srgbClr val="000000">
                    <a:alpha val="60000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재검증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18498" y="7073364"/>
            <a:ext cx="4104431" cy="78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법령·판례·공정거래위원회</a:t>
            </a:r>
          </a:p>
          <a:p>
            <a:pPr marL="0" lvl="0" indent="0" algn="just">
              <a:lnSpc>
                <a:spcPts val="3091"/>
              </a:lnSpc>
            </a:pPr>
            <a:r>
              <a:rPr lang="en-US" sz="2619" b="1" spc="-52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결정문 자료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318498" y="6435189"/>
            <a:ext cx="1280231" cy="400609"/>
            <a:chOff x="0" y="0"/>
            <a:chExt cx="337180" cy="10551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7180" cy="105510"/>
            </a:xfrm>
            <a:custGeom>
              <a:avLst/>
              <a:gdLst/>
              <a:ahLst/>
              <a:cxnLst/>
              <a:rect l="l" t="t" r="r" b="b"/>
              <a:pathLst>
                <a:path w="337180" h="105510">
                  <a:moveTo>
                    <a:pt x="52755" y="0"/>
                  </a:moveTo>
                  <a:lnTo>
                    <a:pt x="284425" y="0"/>
                  </a:lnTo>
                  <a:cubicBezTo>
                    <a:pt x="298416" y="0"/>
                    <a:pt x="311835" y="5558"/>
                    <a:pt x="321728" y="15452"/>
                  </a:cubicBezTo>
                  <a:cubicBezTo>
                    <a:pt x="331622" y="25345"/>
                    <a:pt x="337180" y="38764"/>
                    <a:pt x="337180" y="52755"/>
                  </a:cubicBezTo>
                  <a:lnTo>
                    <a:pt x="337180" y="52755"/>
                  </a:lnTo>
                  <a:cubicBezTo>
                    <a:pt x="337180" y="66747"/>
                    <a:pt x="331622" y="80165"/>
                    <a:pt x="321728" y="90059"/>
                  </a:cubicBezTo>
                  <a:cubicBezTo>
                    <a:pt x="311835" y="99952"/>
                    <a:pt x="298416" y="105510"/>
                    <a:pt x="284425" y="105510"/>
                  </a:cubicBezTo>
                  <a:lnTo>
                    <a:pt x="52755" y="105510"/>
                  </a:lnTo>
                  <a:cubicBezTo>
                    <a:pt x="38764" y="105510"/>
                    <a:pt x="25345" y="99952"/>
                    <a:pt x="15452" y="90059"/>
                  </a:cubicBezTo>
                  <a:cubicBezTo>
                    <a:pt x="5558" y="80165"/>
                    <a:pt x="0" y="66747"/>
                    <a:pt x="0" y="52755"/>
                  </a:cubicBezTo>
                  <a:lnTo>
                    <a:pt x="0" y="52755"/>
                  </a:lnTo>
                  <a:cubicBezTo>
                    <a:pt x="0" y="38764"/>
                    <a:pt x="5558" y="25345"/>
                    <a:pt x="15452" y="15452"/>
                  </a:cubicBezTo>
                  <a:cubicBezTo>
                    <a:pt x="25345" y="5558"/>
                    <a:pt x="38764" y="0"/>
                    <a:pt x="52755" y="0"/>
                  </a:cubicBezTo>
                  <a:close/>
                </a:path>
              </a:pathLst>
            </a:custGeom>
            <a:solidFill>
              <a:srgbClr val="CCCCC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337180" cy="95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7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398230" y="6504849"/>
            <a:ext cx="1120766" cy="25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1"/>
              </a:lnSpc>
            </a:pPr>
            <a:r>
              <a:rPr lang="en-US" sz="1619" b="1" spc="-32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보조 데이터</a:t>
            </a:r>
          </a:p>
        </p:txBody>
      </p:sp>
      <p:sp>
        <p:nvSpPr>
          <p:cNvPr id="29" name="Freeform 29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C134FE89-B86C-17BB-2586-FBEF4C0B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D918B689-61B6-16DA-9867-9269A269CF16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9227158E-FAA8-00DB-26D8-BC2B16EB4065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A.4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활용 데이터 구성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D6BA2A3B-01E4-C5FE-D8F4-3DF78914DCE7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2987484" y="2894800"/>
            <a:ext cx="5471329" cy="2604022"/>
            <a:chOff x="0" y="0"/>
            <a:chExt cx="1441009" cy="6858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241159" y="3212648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9829187" y="2894800"/>
            <a:ext cx="5471329" cy="2604022"/>
            <a:chOff x="0" y="0"/>
            <a:chExt cx="1441009" cy="6858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165834" y="3193598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987484" y="5717896"/>
            <a:ext cx="5471329" cy="2604022"/>
            <a:chOff x="0" y="0"/>
            <a:chExt cx="1441009" cy="6858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241159" y="5970689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6" name="Group 16"/>
          <p:cNvGrpSpPr/>
          <p:nvPr/>
        </p:nvGrpSpPr>
        <p:grpSpPr>
          <a:xfrm>
            <a:off x="9829187" y="5717896"/>
            <a:ext cx="5471329" cy="2604022"/>
            <a:chOff x="0" y="0"/>
            <a:chExt cx="1441009" cy="6858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137259" y="5951639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출처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09287" y="3753705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공정거래위원회 원문 자료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09287" y="6552279"/>
            <a:ext cx="2876550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통계 및 행정자료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32509" y="3715605"/>
            <a:ext cx="359862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법령·판례·결정문 자료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32509" y="6514179"/>
            <a:ext cx="4664684" cy="34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보조 참고자료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09287" y="4176667"/>
            <a:ext cx="4404490" cy="79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공개본</a:t>
            </a: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의결서</a:t>
            </a:r>
          </a:p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보도자료 및 설명자료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32509" y="4176667"/>
            <a:ext cx="4404490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국가법령정보 공동활용 OPEN API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09287" y="6976212"/>
            <a:ext cx="4404490" cy="79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「2024년</a:t>
            </a: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통계연보」</a:t>
            </a:r>
          </a:p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데이터포털 통계 간행물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32509" y="6966687"/>
            <a:ext cx="4404490" cy="79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「과징금고시」 개정안</a:t>
            </a: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행정예고 자료</a:t>
            </a:r>
          </a:p>
          <a:p>
            <a:pPr marL="410209" lvl="1" indent="-205105" algn="l">
              <a:lnSpc>
                <a:spcPts val="3229"/>
              </a:lnSpc>
              <a:buFont typeface="Arial"/>
              <a:buChar char="•"/>
            </a:pPr>
            <a:r>
              <a:rPr lang="en-US" sz="1899" u="none" strike="noStrike" spc="-37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공정거래위원회 정책·보도자료</a:t>
            </a:r>
          </a:p>
        </p:txBody>
      </p:sp>
      <p:sp>
        <p:nvSpPr>
          <p:cNvPr id="37" name="슬라이드 번호 개체 틀 36">
            <a:extLst>
              <a:ext uri="{FF2B5EF4-FFF2-40B4-BE49-F238E27FC236}">
                <a16:creationId xmlns:a16="http://schemas.microsoft.com/office/drawing/2014/main" id="{EC7846AA-A5AA-7D73-DBEA-BCF56DBB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F40D3CAB-14F6-8037-F34F-F2A3B1F0F7AB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8D07FF0A-7194-6196-66EB-73A02AF76FFB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A.5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출처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0EDEABE7-C231-8743-81DC-03ACA5A56944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3266601" y="8837896"/>
            <a:ext cx="11754799" cy="1199093"/>
            <a:chOff x="0" y="0"/>
            <a:chExt cx="3095914" cy="3158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95914" cy="315810"/>
            </a:xfrm>
            <a:custGeom>
              <a:avLst/>
              <a:gdLst/>
              <a:ahLst/>
              <a:cxnLst/>
              <a:rect l="l" t="t" r="r" b="b"/>
              <a:pathLst>
                <a:path w="3095914" h="315810">
                  <a:moveTo>
                    <a:pt x="13172" y="0"/>
                  </a:moveTo>
                  <a:lnTo>
                    <a:pt x="3082742" y="0"/>
                  </a:lnTo>
                  <a:cubicBezTo>
                    <a:pt x="3086235" y="0"/>
                    <a:pt x="3089586" y="1388"/>
                    <a:pt x="3092056" y="3858"/>
                  </a:cubicBezTo>
                  <a:cubicBezTo>
                    <a:pt x="3094526" y="6328"/>
                    <a:pt x="3095914" y="9679"/>
                    <a:pt x="3095914" y="13172"/>
                  </a:cubicBezTo>
                  <a:lnTo>
                    <a:pt x="3095914" y="302638"/>
                  </a:lnTo>
                  <a:cubicBezTo>
                    <a:pt x="3095914" y="306132"/>
                    <a:pt x="3094526" y="309482"/>
                    <a:pt x="3092056" y="311952"/>
                  </a:cubicBezTo>
                  <a:cubicBezTo>
                    <a:pt x="3089586" y="314423"/>
                    <a:pt x="3086235" y="315810"/>
                    <a:pt x="3082742" y="315810"/>
                  </a:cubicBezTo>
                  <a:lnTo>
                    <a:pt x="13172" y="315810"/>
                  </a:lnTo>
                  <a:cubicBezTo>
                    <a:pt x="9679" y="315810"/>
                    <a:pt x="6328" y="314423"/>
                    <a:pt x="3858" y="311952"/>
                  </a:cubicBezTo>
                  <a:cubicBezTo>
                    <a:pt x="1388" y="309482"/>
                    <a:pt x="0" y="306132"/>
                    <a:pt x="0" y="302638"/>
                  </a:cubicBezTo>
                  <a:lnTo>
                    <a:pt x="0" y="13172"/>
                  </a:lnTo>
                  <a:cubicBezTo>
                    <a:pt x="0" y="9679"/>
                    <a:pt x="1388" y="6328"/>
                    <a:pt x="3858" y="3858"/>
                  </a:cubicBezTo>
                  <a:cubicBezTo>
                    <a:pt x="6328" y="1388"/>
                    <a:pt x="9679" y="0"/>
                    <a:pt x="1317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3095914" cy="2872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092868" y="3150396"/>
            <a:ext cx="10102264" cy="5291061"/>
          </a:xfrm>
          <a:custGeom>
            <a:avLst/>
            <a:gdLst/>
            <a:ahLst/>
            <a:cxnLst/>
            <a:rect l="l" t="t" r="r" b="b"/>
            <a:pathLst>
              <a:path w="10102264" h="5291061">
                <a:moveTo>
                  <a:pt x="0" y="0"/>
                </a:moveTo>
                <a:lnTo>
                  <a:pt x="10102264" y="0"/>
                </a:lnTo>
                <a:lnTo>
                  <a:pt x="10102264" y="5291060"/>
                </a:lnTo>
                <a:lnTo>
                  <a:pt x="0" y="5291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사용자 질문과 진단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5813" y="2426296"/>
            <a:ext cx="13056260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"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협력업체들에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작업을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위탁하면서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정당한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사유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없이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모든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업체에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똑같은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비율로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단가를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깎아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하도급대금을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정했는데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en-US" sz="1899" dirty="0" err="1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위반인가요</a:t>
            </a:r>
            <a:r>
              <a:rPr lang="en-US" sz="1899" dirty="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?"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1328" y="8941825"/>
            <a:ext cx="10725345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spc="-3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4개 에이전트가 법령·의결서·판례·사례 각 관점에서 근거를 제시함(Confidence Score 85~90점)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이를 종합한 리스크 스코어는 75점·고위험으로, 정당한 사유 없이 일률적 비율로 단가를 인하한 행위가 하도급법 제4조 제2항 제1호 부당한 하도급대금 결정에 해당하고 인하액 지급·과징금·시정조치 위험이 있다는 </a:t>
            </a:r>
            <a:r>
              <a:rPr lang="en-US" sz="1800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결론이 실제 사안에 부합</a:t>
            </a: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함.</a:t>
            </a: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6BEAEF48-58E7-789A-FD4D-19B7CD6F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534C37BD-6367-3AD3-A834-F5AA4CA3948B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21">
            <a:extLst>
              <a:ext uri="{FF2B5EF4-FFF2-40B4-BE49-F238E27FC236}">
                <a16:creationId xmlns:a16="http://schemas.microsoft.com/office/drawing/2014/main" id="{230A5B70-90F5-B922-D0A3-9F7D463F16E7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A.6.1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추가 예시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44FEFA0B-8A90-8E17-32F5-AA21A70A20D9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549614" y="7868152"/>
            <a:ext cx="6181504" cy="1720896"/>
            <a:chOff x="0" y="0"/>
            <a:chExt cx="1628051" cy="453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8051" cy="453240"/>
            </a:xfrm>
            <a:custGeom>
              <a:avLst/>
              <a:gdLst/>
              <a:ahLst/>
              <a:cxnLst/>
              <a:rect l="l" t="t" r="r" b="b"/>
              <a:pathLst>
                <a:path w="1628051" h="453240">
                  <a:moveTo>
                    <a:pt x="25049" y="0"/>
                  </a:moveTo>
                  <a:lnTo>
                    <a:pt x="1603002" y="0"/>
                  </a:lnTo>
                  <a:cubicBezTo>
                    <a:pt x="1609645" y="0"/>
                    <a:pt x="1616016" y="2639"/>
                    <a:pt x="1620714" y="7337"/>
                  </a:cubicBezTo>
                  <a:cubicBezTo>
                    <a:pt x="1625412" y="12034"/>
                    <a:pt x="1628051" y="18405"/>
                    <a:pt x="1628051" y="25049"/>
                  </a:cubicBezTo>
                  <a:lnTo>
                    <a:pt x="1628051" y="428192"/>
                  </a:lnTo>
                  <a:cubicBezTo>
                    <a:pt x="1628051" y="442026"/>
                    <a:pt x="1616836" y="453240"/>
                    <a:pt x="1603002" y="453240"/>
                  </a:cubicBezTo>
                  <a:lnTo>
                    <a:pt x="25049" y="453240"/>
                  </a:lnTo>
                  <a:cubicBezTo>
                    <a:pt x="11215" y="453240"/>
                    <a:pt x="0" y="442026"/>
                    <a:pt x="0" y="428192"/>
                  </a:cubicBezTo>
                  <a:lnTo>
                    <a:pt x="0" y="25049"/>
                  </a:lnTo>
                  <a:cubicBezTo>
                    <a:pt x="0" y="11215"/>
                    <a:pt x="11215" y="0"/>
                    <a:pt x="25049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628051" cy="424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80535" y="8064817"/>
            <a:ext cx="5980152" cy="1327565"/>
            <a:chOff x="0" y="0"/>
            <a:chExt cx="1575019" cy="3496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5019" cy="349647"/>
            </a:xfrm>
            <a:custGeom>
              <a:avLst/>
              <a:gdLst/>
              <a:ahLst/>
              <a:cxnLst/>
              <a:rect l="l" t="t" r="r" b="b"/>
              <a:pathLst>
                <a:path w="1575019" h="349647">
                  <a:moveTo>
                    <a:pt x="25892" y="0"/>
                  </a:moveTo>
                  <a:lnTo>
                    <a:pt x="1549127" y="0"/>
                  </a:lnTo>
                  <a:cubicBezTo>
                    <a:pt x="1563427" y="0"/>
                    <a:pt x="1575019" y="11592"/>
                    <a:pt x="1575019" y="25892"/>
                  </a:cubicBezTo>
                  <a:lnTo>
                    <a:pt x="1575019" y="323755"/>
                  </a:lnTo>
                  <a:cubicBezTo>
                    <a:pt x="1575019" y="338055"/>
                    <a:pt x="1563427" y="349647"/>
                    <a:pt x="1549127" y="349647"/>
                  </a:cubicBezTo>
                  <a:lnTo>
                    <a:pt x="25892" y="349647"/>
                  </a:lnTo>
                  <a:cubicBezTo>
                    <a:pt x="11592" y="349647"/>
                    <a:pt x="0" y="338055"/>
                    <a:pt x="0" y="323755"/>
                  </a:cubicBezTo>
                  <a:lnTo>
                    <a:pt x="0" y="25892"/>
                  </a:lnTo>
                  <a:cubicBezTo>
                    <a:pt x="0" y="11592"/>
                    <a:pt x="11592" y="0"/>
                    <a:pt x="25892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575019" cy="32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03997" y="3175714"/>
            <a:ext cx="6272738" cy="4085120"/>
          </a:xfrm>
          <a:custGeom>
            <a:avLst/>
            <a:gdLst/>
            <a:ahLst/>
            <a:cxnLst/>
            <a:rect l="l" t="t" r="r" b="b"/>
            <a:pathLst>
              <a:path w="6272738" h="4085120">
                <a:moveTo>
                  <a:pt x="0" y="0"/>
                </a:moveTo>
                <a:lnTo>
                  <a:pt x="6272738" y="0"/>
                </a:lnTo>
                <a:lnTo>
                  <a:pt x="6272738" y="4085120"/>
                </a:lnTo>
                <a:lnTo>
                  <a:pt x="0" y="4085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9762947" y="3175714"/>
            <a:ext cx="6215328" cy="3853503"/>
          </a:xfrm>
          <a:custGeom>
            <a:avLst/>
            <a:gdLst/>
            <a:ahLst/>
            <a:cxnLst/>
            <a:rect l="l" t="t" r="r" b="b"/>
            <a:pathLst>
              <a:path w="6215328" h="3853503">
                <a:moveTo>
                  <a:pt x="0" y="0"/>
                </a:moveTo>
                <a:lnTo>
                  <a:pt x="6215328" y="0"/>
                </a:lnTo>
                <a:lnTo>
                  <a:pt x="6215328" y="3853503"/>
                </a:lnTo>
                <a:lnTo>
                  <a:pt x="0" y="3853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관련 법령·의결서 근거 및 유사 사례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2520" y="8084710"/>
            <a:ext cx="5875692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하도급법 제4조 제2항 제1호(정당한 사유 없는 일률적 단가 인하 — 부당한 하도급대금 결정)를 </a:t>
            </a:r>
            <a:r>
              <a:rPr lang="en-US" sz="1800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핵심 근거로 정확히 식별</a:t>
            </a: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하여,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모든 수급사업자에 동일 비율로 단가를 인하한 행위가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부당한 대금 결정에 해당함을 제시함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00998" y="8241872"/>
            <a:ext cx="5539225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공정위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의결서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DB에서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동일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위반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유형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정당한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사유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없는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일률적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단가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인하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)의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실제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제재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사례를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높은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유사도로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매칭하여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진단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결론과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동일한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패턴의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선례가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존재함을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확인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</a:t>
            </a:r>
            <a:endParaRPr lang="en-US" sz="1800" spc="-36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C80D8D69-0B35-3421-0B77-F7F49205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9555F094-5261-AEFF-554C-4959B6D24264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1749AB86-9E61-BE54-97F9-509FC1AA36DD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A.6.2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추가 예시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5D916991-DA7F-736D-87B1-CE75804D3580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635186" y="8409148"/>
            <a:ext cx="6188404" cy="1327565"/>
            <a:chOff x="0" y="0"/>
            <a:chExt cx="1629868" cy="3496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9868" cy="349647"/>
            </a:xfrm>
            <a:custGeom>
              <a:avLst/>
              <a:gdLst/>
              <a:ahLst/>
              <a:cxnLst/>
              <a:rect l="l" t="t" r="r" b="b"/>
              <a:pathLst>
                <a:path w="1629868" h="349647">
                  <a:moveTo>
                    <a:pt x="25021" y="0"/>
                  </a:moveTo>
                  <a:lnTo>
                    <a:pt x="1604847" y="0"/>
                  </a:lnTo>
                  <a:cubicBezTo>
                    <a:pt x="1618666" y="0"/>
                    <a:pt x="1629868" y="11202"/>
                    <a:pt x="1629868" y="25021"/>
                  </a:cubicBezTo>
                  <a:lnTo>
                    <a:pt x="1629868" y="324626"/>
                  </a:lnTo>
                  <a:cubicBezTo>
                    <a:pt x="1629868" y="338445"/>
                    <a:pt x="1618666" y="349647"/>
                    <a:pt x="1604847" y="349647"/>
                  </a:cubicBezTo>
                  <a:lnTo>
                    <a:pt x="25021" y="349647"/>
                  </a:lnTo>
                  <a:cubicBezTo>
                    <a:pt x="11202" y="349647"/>
                    <a:pt x="0" y="338445"/>
                    <a:pt x="0" y="324626"/>
                  </a:cubicBezTo>
                  <a:lnTo>
                    <a:pt x="0" y="25021"/>
                  </a:lnTo>
                  <a:cubicBezTo>
                    <a:pt x="0" y="11202"/>
                    <a:pt x="11202" y="0"/>
                    <a:pt x="2502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629868" cy="32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21778" y="8382506"/>
            <a:ext cx="5475712" cy="1327565"/>
            <a:chOff x="0" y="0"/>
            <a:chExt cx="1442163" cy="3496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42163" cy="349647"/>
            </a:xfrm>
            <a:custGeom>
              <a:avLst/>
              <a:gdLst/>
              <a:ahLst/>
              <a:cxnLst/>
              <a:rect l="l" t="t" r="r" b="b"/>
              <a:pathLst>
                <a:path w="1442163" h="349647">
                  <a:moveTo>
                    <a:pt x="28277" y="0"/>
                  </a:moveTo>
                  <a:lnTo>
                    <a:pt x="1413886" y="0"/>
                  </a:lnTo>
                  <a:cubicBezTo>
                    <a:pt x="1421385" y="0"/>
                    <a:pt x="1428578" y="2979"/>
                    <a:pt x="1433881" y="8282"/>
                  </a:cubicBezTo>
                  <a:cubicBezTo>
                    <a:pt x="1439184" y="13585"/>
                    <a:pt x="1442163" y="20778"/>
                    <a:pt x="1442163" y="28277"/>
                  </a:cubicBezTo>
                  <a:lnTo>
                    <a:pt x="1442163" y="321370"/>
                  </a:lnTo>
                  <a:cubicBezTo>
                    <a:pt x="1442163" y="328869"/>
                    <a:pt x="1439184" y="336062"/>
                    <a:pt x="1433881" y="341365"/>
                  </a:cubicBezTo>
                  <a:cubicBezTo>
                    <a:pt x="1428578" y="346668"/>
                    <a:pt x="1421385" y="349647"/>
                    <a:pt x="1413886" y="349647"/>
                  </a:cubicBezTo>
                  <a:lnTo>
                    <a:pt x="28277" y="349647"/>
                  </a:lnTo>
                  <a:cubicBezTo>
                    <a:pt x="20778" y="349647"/>
                    <a:pt x="13585" y="346668"/>
                    <a:pt x="8282" y="341365"/>
                  </a:cubicBezTo>
                  <a:cubicBezTo>
                    <a:pt x="2979" y="336062"/>
                    <a:pt x="0" y="328869"/>
                    <a:pt x="0" y="321370"/>
                  </a:cubicBezTo>
                  <a:lnTo>
                    <a:pt x="0" y="28277"/>
                  </a:lnTo>
                  <a:cubicBezTo>
                    <a:pt x="0" y="20778"/>
                    <a:pt x="2979" y="13585"/>
                    <a:pt x="8282" y="8282"/>
                  </a:cubicBezTo>
                  <a:cubicBezTo>
                    <a:pt x="13585" y="2979"/>
                    <a:pt x="20778" y="0"/>
                    <a:pt x="28277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442163" cy="32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78840" y="4606345"/>
            <a:ext cx="6901097" cy="1966813"/>
          </a:xfrm>
          <a:custGeom>
            <a:avLst/>
            <a:gdLst/>
            <a:ahLst/>
            <a:cxnLst/>
            <a:rect l="l" t="t" r="r" b="b"/>
            <a:pathLst>
              <a:path w="6901097" h="1966813">
                <a:moveTo>
                  <a:pt x="0" y="0"/>
                </a:moveTo>
                <a:lnTo>
                  <a:pt x="6901097" y="0"/>
                </a:lnTo>
                <a:lnTo>
                  <a:pt x="6901097" y="1966812"/>
                </a:lnTo>
                <a:lnTo>
                  <a:pt x="0" y="1966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9984303" y="2341559"/>
            <a:ext cx="5950661" cy="5318404"/>
          </a:xfrm>
          <a:custGeom>
            <a:avLst/>
            <a:gdLst/>
            <a:ahLst/>
            <a:cxnLst/>
            <a:rect l="l" t="t" r="r" b="b"/>
            <a:pathLst>
              <a:path w="5950661" h="5318404">
                <a:moveTo>
                  <a:pt x="0" y="0"/>
                </a:moveTo>
                <a:lnTo>
                  <a:pt x="5950662" y="0"/>
                </a:lnTo>
                <a:lnTo>
                  <a:pt x="5950662" y="5318404"/>
                </a:lnTo>
                <a:lnTo>
                  <a:pt x="0" y="5318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법리 해석과 컴플라이언스 체크리스트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88264" y="8612845"/>
            <a:ext cx="5882250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정당한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사유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없는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일률적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단가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인하가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하도급법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제4조 제2항 제1호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부당한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하도급대금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결정에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해당한다는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점에서</a:t>
            </a:r>
            <a:r>
              <a:rPr lang="en-US" sz="1800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결론과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일관된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법리적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근거를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제시하여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신뢰성을</a:t>
            </a:r>
            <a:r>
              <a:rPr lang="en-US" sz="1800" b="1" spc="-36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800" b="1" spc="-36" dirty="0" err="1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높임</a:t>
            </a:r>
            <a:endParaRPr lang="en-US" sz="1800" b="1" spc="-36" dirty="0">
              <a:solidFill>
                <a:srgbClr val="000000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357226" y="8743366"/>
            <a:ext cx="5204816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사유 확인·계약서 검토·법률 자문을 필수 항목으로 도출하여, </a:t>
            </a:r>
            <a:r>
              <a:rPr lang="en-US" sz="1800" b="1" spc="-3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진단 결과를 실무 대응까지 연결</a:t>
            </a:r>
            <a:r>
              <a:rPr lang="en-US" sz="1800" spc="-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5452848C-775A-2F12-34FA-754827C6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4AA570AF-B015-786C-C6FB-A2D66BD5B119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E088388E-35B8-EDE8-EB28-2F32F45F5F47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A.6.3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추가 예시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D2398F79-AEBE-D2FA-C4A8-C3F5ADDBB387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46895" y="3098426"/>
            <a:ext cx="11794210" cy="6619501"/>
          </a:xfrm>
          <a:custGeom>
            <a:avLst/>
            <a:gdLst/>
            <a:ahLst/>
            <a:cxnLst/>
            <a:rect l="l" t="t" r="r" b="b"/>
            <a:pathLst>
              <a:path w="11794210" h="6619501">
                <a:moveTo>
                  <a:pt x="0" y="0"/>
                </a:moveTo>
                <a:lnTo>
                  <a:pt x="11794210" y="0"/>
                </a:lnTo>
                <a:lnTo>
                  <a:pt x="11794210" y="6619500"/>
                </a:lnTo>
                <a:lnTo>
                  <a:pt x="0" y="661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헤아림 서비스 흐름</a:t>
            </a:r>
          </a:p>
        </p:txBody>
      </p:sp>
      <p:sp>
        <p:nvSpPr>
          <p:cNvPr id="7" name="Freeform 7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196717" y="2333557"/>
            <a:ext cx="6808027" cy="3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6"/>
              </a:lnSpc>
            </a:pPr>
            <a:r>
              <a:rPr lang="en-US" sz="2047" spc="-40">
                <a:solidFill>
                  <a:srgbClr val="000000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RAG, MCP 및 LLM 멀티에이전트 기반 구조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C9F3483-7620-387D-A33E-94397D65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3B3C899A-B131-F34A-2BED-CC7BC8DC7779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21">
            <a:extLst>
              <a:ext uri="{FF2B5EF4-FFF2-40B4-BE49-F238E27FC236}">
                <a16:creationId xmlns:a16="http://schemas.microsoft.com/office/drawing/2014/main" id="{C7D4723C-2D07-170B-7559-B7E13BEA65E0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A.7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상세 아키텍처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75EB860D-8ADB-F943-4DD5-532A703511A0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4922" y="3815432"/>
            <a:ext cx="6596943" cy="2391974"/>
            <a:chOff x="0" y="0"/>
            <a:chExt cx="1737466" cy="629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7466" cy="629985"/>
            </a:xfrm>
            <a:custGeom>
              <a:avLst/>
              <a:gdLst/>
              <a:ahLst/>
              <a:cxnLst/>
              <a:rect l="l" t="t" r="r" b="b"/>
              <a:pathLst>
                <a:path w="1737466" h="629985">
                  <a:moveTo>
                    <a:pt x="23471" y="0"/>
                  </a:moveTo>
                  <a:lnTo>
                    <a:pt x="1713995" y="0"/>
                  </a:lnTo>
                  <a:cubicBezTo>
                    <a:pt x="1720220" y="0"/>
                    <a:pt x="1726190" y="2473"/>
                    <a:pt x="1730592" y="6875"/>
                  </a:cubicBezTo>
                  <a:cubicBezTo>
                    <a:pt x="1734994" y="11276"/>
                    <a:pt x="1737466" y="17246"/>
                    <a:pt x="1737466" y="23471"/>
                  </a:cubicBezTo>
                  <a:lnTo>
                    <a:pt x="1737466" y="606514"/>
                  </a:lnTo>
                  <a:cubicBezTo>
                    <a:pt x="1737466" y="619476"/>
                    <a:pt x="1726958" y="629985"/>
                    <a:pt x="1713995" y="629985"/>
                  </a:cubicBezTo>
                  <a:lnTo>
                    <a:pt x="23471" y="629985"/>
                  </a:lnTo>
                  <a:cubicBezTo>
                    <a:pt x="17246" y="629985"/>
                    <a:pt x="11276" y="627512"/>
                    <a:pt x="6875" y="623110"/>
                  </a:cubicBezTo>
                  <a:cubicBezTo>
                    <a:pt x="2473" y="618709"/>
                    <a:pt x="0" y="612739"/>
                    <a:pt x="0" y="606514"/>
                  </a:cubicBezTo>
                  <a:lnTo>
                    <a:pt x="0" y="23471"/>
                  </a:lnTo>
                  <a:cubicBezTo>
                    <a:pt x="0" y="17246"/>
                    <a:pt x="2473" y="11276"/>
                    <a:pt x="6875" y="6875"/>
                  </a:cubicBezTo>
                  <a:cubicBezTo>
                    <a:pt x="11276" y="2473"/>
                    <a:pt x="17246" y="0"/>
                    <a:pt x="2347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737466" cy="601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663843" y="4208927"/>
            <a:ext cx="535304" cy="535304"/>
          </a:xfrm>
          <a:custGeom>
            <a:avLst/>
            <a:gdLst/>
            <a:ahLst/>
            <a:cxnLst/>
            <a:rect l="l" t="t" r="r" b="b"/>
            <a:pathLst>
              <a:path w="535304" h="535304">
                <a:moveTo>
                  <a:pt x="0" y="0"/>
                </a:moveTo>
                <a:lnTo>
                  <a:pt x="535304" y="0"/>
                </a:lnTo>
                <a:lnTo>
                  <a:pt x="535304" y="535304"/>
                </a:lnTo>
                <a:lnTo>
                  <a:pt x="0" y="535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2374922" y="6445531"/>
            <a:ext cx="6596943" cy="2391974"/>
            <a:chOff x="0" y="0"/>
            <a:chExt cx="1737466" cy="6299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7466" cy="629985"/>
            </a:xfrm>
            <a:custGeom>
              <a:avLst/>
              <a:gdLst/>
              <a:ahLst/>
              <a:cxnLst/>
              <a:rect l="l" t="t" r="r" b="b"/>
              <a:pathLst>
                <a:path w="1737466" h="629985">
                  <a:moveTo>
                    <a:pt x="23471" y="0"/>
                  </a:moveTo>
                  <a:lnTo>
                    <a:pt x="1713995" y="0"/>
                  </a:lnTo>
                  <a:cubicBezTo>
                    <a:pt x="1720220" y="0"/>
                    <a:pt x="1726190" y="2473"/>
                    <a:pt x="1730592" y="6875"/>
                  </a:cubicBezTo>
                  <a:cubicBezTo>
                    <a:pt x="1734994" y="11276"/>
                    <a:pt x="1737466" y="17246"/>
                    <a:pt x="1737466" y="23471"/>
                  </a:cubicBezTo>
                  <a:lnTo>
                    <a:pt x="1737466" y="606514"/>
                  </a:lnTo>
                  <a:cubicBezTo>
                    <a:pt x="1737466" y="619476"/>
                    <a:pt x="1726958" y="629985"/>
                    <a:pt x="1713995" y="629985"/>
                  </a:cubicBezTo>
                  <a:lnTo>
                    <a:pt x="23471" y="629985"/>
                  </a:lnTo>
                  <a:cubicBezTo>
                    <a:pt x="17246" y="629985"/>
                    <a:pt x="11276" y="627512"/>
                    <a:pt x="6875" y="623110"/>
                  </a:cubicBezTo>
                  <a:cubicBezTo>
                    <a:pt x="2473" y="618709"/>
                    <a:pt x="0" y="612739"/>
                    <a:pt x="0" y="606514"/>
                  </a:cubicBezTo>
                  <a:lnTo>
                    <a:pt x="0" y="23471"/>
                  </a:lnTo>
                  <a:cubicBezTo>
                    <a:pt x="0" y="17246"/>
                    <a:pt x="2473" y="11276"/>
                    <a:pt x="6875" y="6875"/>
                  </a:cubicBezTo>
                  <a:cubicBezTo>
                    <a:pt x="11276" y="2473"/>
                    <a:pt x="17246" y="0"/>
                    <a:pt x="2347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737466" cy="601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656222" y="6839705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0" y="0"/>
                </a:moveTo>
                <a:lnTo>
                  <a:pt x="542925" y="0"/>
                </a:lnTo>
                <a:lnTo>
                  <a:pt x="54292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316135" y="3815432"/>
            <a:ext cx="6596943" cy="2391974"/>
            <a:chOff x="0" y="0"/>
            <a:chExt cx="1737466" cy="6299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37466" cy="629985"/>
            </a:xfrm>
            <a:custGeom>
              <a:avLst/>
              <a:gdLst/>
              <a:ahLst/>
              <a:cxnLst/>
              <a:rect l="l" t="t" r="r" b="b"/>
              <a:pathLst>
                <a:path w="1737466" h="629985">
                  <a:moveTo>
                    <a:pt x="23471" y="0"/>
                  </a:moveTo>
                  <a:lnTo>
                    <a:pt x="1713995" y="0"/>
                  </a:lnTo>
                  <a:cubicBezTo>
                    <a:pt x="1720220" y="0"/>
                    <a:pt x="1726190" y="2473"/>
                    <a:pt x="1730592" y="6875"/>
                  </a:cubicBezTo>
                  <a:cubicBezTo>
                    <a:pt x="1734994" y="11276"/>
                    <a:pt x="1737466" y="17246"/>
                    <a:pt x="1737466" y="23471"/>
                  </a:cubicBezTo>
                  <a:lnTo>
                    <a:pt x="1737466" y="606514"/>
                  </a:lnTo>
                  <a:cubicBezTo>
                    <a:pt x="1737466" y="619476"/>
                    <a:pt x="1726958" y="629985"/>
                    <a:pt x="1713995" y="629985"/>
                  </a:cubicBezTo>
                  <a:lnTo>
                    <a:pt x="23471" y="629985"/>
                  </a:lnTo>
                  <a:cubicBezTo>
                    <a:pt x="17246" y="629985"/>
                    <a:pt x="11276" y="627512"/>
                    <a:pt x="6875" y="623110"/>
                  </a:cubicBezTo>
                  <a:cubicBezTo>
                    <a:pt x="2473" y="618709"/>
                    <a:pt x="0" y="612739"/>
                    <a:pt x="0" y="606514"/>
                  </a:cubicBezTo>
                  <a:lnTo>
                    <a:pt x="0" y="23471"/>
                  </a:lnTo>
                  <a:cubicBezTo>
                    <a:pt x="0" y="17246"/>
                    <a:pt x="2473" y="11276"/>
                    <a:pt x="6875" y="6875"/>
                  </a:cubicBezTo>
                  <a:cubicBezTo>
                    <a:pt x="11276" y="2473"/>
                    <a:pt x="17246" y="0"/>
                    <a:pt x="2347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737466" cy="601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597435" y="4208927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0" y="0"/>
                </a:moveTo>
                <a:lnTo>
                  <a:pt x="542925" y="0"/>
                </a:lnTo>
                <a:lnTo>
                  <a:pt x="54292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9316135" y="6445531"/>
            <a:ext cx="6596943" cy="2391974"/>
            <a:chOff x="0" y="0"/>
            <a:chExt cx="1737466" cy="6299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37466" cy="629985"/>
            </a:xfrm>
            <a:custGeom>
              <a:avLst/>
              <a:gdLst/>
              <a:ahLst/>
              <a:cxnLst/>
              <a:rect l="l" t="t" r="r" b="b"/>
              <a:pathLst>
                <a:path w="1737466" h="629985">
                  <a:moveTo>
                    <a:pt x="23471" y="0"/>
                  </a:moveTo>
                  <a:lnTo>
                    <a:pt x="1713995" y="0"/>
                  </a:lnTo>
                  <a:cubicBezTo>
                    <a:pt x="1720220" y="0"/>
                    <a:pt x="1726190" y="2473"/>
                    <a:pt x="1730592" y="6875"/>
                  </a:cubicBezTo>
                  <a:cubicBezTo>
                    <a:pt x="1734994" y="11276"/>
                    <a:pt x="1737466" y="17246"/>
                    <a:pt x="1737466" y="23471"/>
                  </a:cubicBezTo>
                  <a:lnTo>
                    <a:pt x="1737466" y="606514"/>
                  </a:lnTo>
                  <a:cubicBezTo>
                    <a:pt x="1737466" y="619476"/>
                    <a:pt x="1726958" y="629985"/>
                    <a:pt x="1713995" y="629985"/>
                  </a:cubicBezTo>
                  <a:lnTo>
                    <a:pt x="23471" y="629985"/>
                  </a:lnTo>
                  <a:cubicBezTo>
                    <a:pt x="17246" y="629985"/>
                    <a:pt x="11276" y="627512"/>
                    <a:pt x="6875" y="623110"/>
                  </a:cubicBezTo>
                  <a:cubicBezTo>
                    <a:pt x="2473" y="618709"/>
                    <a:pt x="0" y="612739"/>
                    <a:pt x="0" y="606514"/>
                  </a:cubicBezTo>
                  <a:lnTo>
                    <a:pt x="0" y="23471"/>
                  </a:lnTo>
                  <a:cubicBezTo>
                    <a:pt x="0" y="17246"/>
                    <a:pt x="2473" y="11276"/>
                    <a:pt x="6875" y="6875"/>
                  </a:cubicBezTo>
                  <a:cubicBezTo>
                    <a:pt x="11276" y="2473"/>
                    <a:pt x="17246" y="0"/>
                    <a:pt x="23471" y="0"/>
                  </a:cubicBezTo>
                  <a:close/>
                </a:path>
              </a:pathLst>
            </a:custGeom>
            <a:solidFill>
              <a:srgbClr val="FDFDFB"/>
            </a:solidFill>
            <a:ln w="9525" cap="sq">
              <a:solidFill>
                <a:srgbClr val="484BE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737466" cy="601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9597435" y="6839705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0" y="0"/>
                </a:moveTo>
                <a:lnTo>
                  <a:pt x="542925" y="0"/>
                </a:lnTo>
                <a:lnTo>
                  <a:pt x="54292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7239939" y="5973361"/>
            <a:ext cx="3806455" cy="671492"/>
            <a:chOff x="0" y="0"/>
            <a:chExt cx="1002523" cy="1768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2523" cy="176854"/>
            </a:xfrm>
            <a:custGeom>
              <a:avLst/>
              <a:gdLst/>
              <a:ahLst/>
              <a:cxnLst/>
              <a:rect l="l" t="t" r="r" b="b"/>
              <a:pathLst>
                <a:path w="1002523" h="176854">
                  <a:moveTo>
                    <a:pt x="40678" y="0"/>
                  </a:moveTo>
                  <a:lnTo>
                    <a:pt x="961845" y="0"/>
                  </a:lnTo>
                  <a:cubicBezTo>
                    <a:pt x="984311" y="0"/>
                    <a:pt x="1002523" y="18212"/>
                    <a:pt x="1002523" y="40678"/>
                  </a:cubicBezTo>
                  <a:lnTo>
                    <a:pt x="1002523" y="136176"/>
                  </a:lnTo>
                  <a:cubicBezTo>
                    <a:pt x="1002523" y="146964"/>
                    <a:pt x="998237" y="157311"/>
                    <a:pt x="990609" y="164940"/>
                  </a:cubicBezTo>
                  <a:cubicBezTo>
                    <a:pt x="982980" y="172568"/>
                    <a:pt x="972634" y="176854"/>
                    <a:pt x="961845" y="176854"/>
                  </a:cubicBezTo>
                  <a:lnTo>
                    <a:pt x="40678" y="176854"/>
                  </a:lnTo>
                  <a:cubicBezTo>
                    <a:pt x="29889" y="176854"/>
                    <a:pt x="19543" y="172568"/>
                    <a:pt x="11914" y="164940"/>
                  </a:cubicBezTo>
                  <a:cubicBezTo>
                    <a:pt x="4286" y="157311"/>
                    <a:pt x="0" y="146964"/>
                    <a:pt x="0" y="136176"/>
                  </a:cubicBezTo>
                  <a:lnTo>
                    <a:pt x="0" y="40678"/>
                  </a:lnTo>
                  <a:cubicBezTo>
                    <a:pt x="0" y="29889"/>
                    <a:pt x="4286" y="19543"/>
                    <a:pt x="11914" y="11914"/>
                  </a:cubicBezTo>
                  <a:cubicBezTo>
                    <a:pt x="19543" y="4286"/>
                    <a:pt x="29889" y="0"/>
                    <a:pt x="40678" y="0"/>
                  </a:cubicBezTo>
                  <a:close/>
                </a:path>
              </a:pathLst>
            </a:custGeom>
            <a:solidFill>
              <a:srgbClr val="4849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1002523" cy="148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670910" y="4858075"/>
            <a:ext cx="4728065" cy="3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5"/>
              </a:lnSpc>
            </a:pPr>
            <a:r>
              <a:rPr lang="en-US" sz="2419" b="1" spc="-4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계약 체결 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70910" y="5389083"/>
            <a:ext cx="5425466" cy="35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0"/>
              </a:lnSpc>
              <a:spcBef>
                <a:spcPct val="0"/>
              </a:spcBef>
            </a:pPr>
            <a:r>
              <a:rPr lang="en-US" sz="1940" spc="-38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계약 조건의 공정거래법 위반 여부 사전 파악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70910" y="7488174"/>
            <a:ext cx="4728065" cy="3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5"/>
              </a:lnSpc>
            </a:pPr>
            <a:r>
              <a:rPr lang="en-US" sz="2419" b="1" spc="-4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위반 의심 상황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70910" y="8018195"/>
            <a:ext cx="5425466" cy="35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0"/>
              </a:lnSpc>
              <a:spcBef>
                <a:spcPct val="0"/>
              </a:spcBef>
            </a:pPr>
            <a:r>
              <a:rPr lang="en-US" sz="1940" spc="-38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유사 제재 사례 및 리스크 수준 파악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2123" y="4858075"/>
            <a:ext cx="4728065" cy="3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5"/>
              </a:lnSpc>
            </a:pPr>
            <a:r>
              <a:rPr lang="en-US" sz="2419" b="1" spc="-4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거래 진행 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12123" y="5389083"/>
            <a:ext cx="5425466" cy="35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0"/>
              </a:lnSpc>
              <a:spcBef>
                <a:spcPct val="0"/>
              </a:spcBef>
            </a:pPr>
            <a:r>
              <a:rPr lang="en-US" sz="1940" spc="-38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현재 거래 구조의 법적 문제 여부 확인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12123" y="7488174"/>
            <a:ext cx="4728065" cy="3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5"/>
              </a:lnSpc>
            </a:pPr>
            <a:r>
              <a:rPr lang="en-US" sz="2419" b="1" spc="-4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정기 점검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12123" y="8018195"/>
            <a:ext cx="5425466" cy="35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0"/>
              </a:lnSpc>
              <a:spcBef>
                <a:spcPct val="0"/>
              </a:spcBef>
            </a:pPr>
            <a:r>
              <a:rPr lang="en-US" sz="1940" spc="-38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거래 전반 주요 위반 유형 체계적 점검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94497" y="6154056"/>
            <a:ext cx="3497338" cy="310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3"/>
              </a:lnSpc>
            </a:pPr>
            <a:r>
              <a:rPr lang="en-US" sz="2087" b="1" spc="-41">
                <a:solidFill>
                  <a:srgbClr val="F8F8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기업 컴플라이언스 담당자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96717" y="1793695"/>
            <a:ext cx="6577163" cy="3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952" b="1" spc="-59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대상 사용자 유형 및 상황별 주요 니즈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374" y="1714500"/>
            <a:ext cx="415343" cy="415343"/>
          </a:xfrm>
          <a:custGeom>
            <a:avLst/>
            <a:gdLst/>
            <a:ahLst/>
            <a:cxnLst/>
            <a:rect l="l" t="t" r="r" b="b"/>
            <a:pathLst>
              <a:path w="415343" h="415343">
                <a:moveTo>
                  <a:pt x="0" y="0"/>
                </a:moveTo>
                <a:lnTo>
                  <a:pt x="415343" y="0"/>
                </a:lnTo>
                <a:lnTo>
                  <a:pt x="415343" y="415343"/>
                </a:lnTo>
                <a:lnTo>
                  <a:pt x="0" y="415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6" name="Freeform 36"/>
          <p:cNvSpPr/>
          <p:nvPr/>
        </p:nvSpPr>
        <p:spPr>
          <a:xfrm>
            <a:off x="16018181" y="120772"/>
            <a:ext cx="2206563" cy="589772"/>
          </a:xfrm>
          <a:custGeom>
            <a:avLst/>
            <a:gdLst/>
            <a:ahLst/>
            <a:cxnLst/>
            <a:rect l="l" t="t" r="r" b="b"/>
            <a:pathLst>
              <a:path w="2206563" h="589772">
                <a:moveTo>
                  <a:pt x="0" y="0"/>
                </a:moveTo>
                <a:lnTo>
                  <a:pt x="2206562" y="0"/>
                </a:lnTo>
                <a:lnTo>
                  <a:pt x="2206562" y="589772"/>
                </a:lnTo>
                <a:lnTo>
                  <a:pt x="0" y="589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7" name="슬라이드 번호 개체 틀 36">
            <a:extLst>
              <a:ext uri="{FF2B5EF4-FFF2-40B4-BE49-F238E27FC236}">
                <a16:creationId xmlns:a16="http://schemas.microsoft.com/office/drawing/2014/main" id="{0148EF3C-1308-0DE6-2F86-CF45F8E8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38" name="AutoShape 6">
            <a:extLst>
              <a:ext uri="{FF2B5EF4-FFF2-40B4-BE49-F238E27FC236}">
                <a16:creationId xmlns:a16="http://schemas.microsoft.com/office/drawing/2014/main" id="{0BD4B731-06FE-66E0-C576-8CB870A44130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FB7817F1-128B-A1F4-E748-9E570C16A348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A.8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대상 사용자 유형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F6827981-DEC7-1D3B-4C05-0C3A273FA44F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ChangeAspect="1"/>
          </p:cNvSpPr>
          <p:nvPr/>
        </p:nvSpPr>
        <p:spPr>
          <a:xfrm>
            <a:off x="1652571" y="1443357"/>
            <a:ext cx="5832615" cy="2916308"/>
          </a:xfrm>
          <a:custGeom>
            <a:avLst/>
            <a:gdLst/>
            <a:ahLst/>
            <a:cxnLst/>
            <a:rect l="l" t="t" r="r" b="b"/>
            <a:pathLst>
              <a:path w="8323097" h="4161548">
                <a:moveTo>
                  <a:pt x="0" y="0"/>
                </a:moveTo>
                <a:lnTo>
                  <a:pt x="8323097" y="0"/>
                </a:lnTo>
                <a:lnTo>
                  <a:pt x="8323097" y="4161548"/>
                </a:lnTo>
                <a:lnTo>
                  <a:pt x="0" y="4161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B5B5B5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8137192" y="2310060"/>
            <a:ext cx="7762423" cy="27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공정거래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분야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분쟁조정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199" spc="-43" dirty="0" err="1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접수</a:t>
            </a:r>
            <a:r>
              <a:rPr lang="en-US" sz="2199" spc="-43" dirty="0">
                <a:solidFill>
                  <a:srgbClr val="33333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2024년 1,795건 / </a:t>
            </a:r>
            <a:r>
              <a:rPr lang="en-US" sz="2199" b="1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전년</a:t>
            </a:r>
            <a:r>
              <a:rPr lang="en-US" sz="2199" b="1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2199" b="1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대비</a:t>
            </a:r>
            <a:r>
              <a:rPr lang="en-US" sz="2199" b="1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31% </a:t>
            </a:r>
            <a:r>
              <a:rPr lang="en-US" sz="2199" b="1" spc="-43" dirty="0" err="1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증가</a:t>
            </a:r>
            <a:r>
              <a:rPr lang="ko-KR" altLang="en-US" sz="2199" b="1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로</a:t>
            </a:r>
            <a:endParaRPr lang="en-US" altLang="ko-KR" sz="2199" b="1" spc="-43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27531" y="4404360"/>
            <a:ext cx="5557655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출처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: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한국공정거래조정원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2024년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분쟁조정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실적</a:t>
            </a:r>
            <a:r>
              <a:rPr lang="en-US" sz="1100" spc="-22" dirty="0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100" spc="-22" dirty="0" err="1">
                <a:solidFill>
                  <a:srgbClr val="333333">
                    <a:alpha val="8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발표</a:t>
            </a:r>
            <a:endParaRPr lang="en-US" sz="1100" spc="-22" dirty="0">
              <a:solidFill>
                <a:srgbClr val="333333">
                  <a:alpha val="89804"/>
                </a:srgbClr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B15CD995-7579-4583-A141-80F2CCC5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CD4735F-FCC7-62FC-144F-0F21547D35A1}"/>
              </a:ext>
            </a:extLst>
          </p:cNvPr>
          <p:cNvSpPr/>
          <p:nvPr/>
        </p:nvSpPr>
        <p:spPr>
          <a:xfrm flipV="1">
            <a:off x="838200" y="952500"/>
            <a:ext cx="1628743" cy="0"/>
          </a:xfrm>
          <a:prstGeom prst="line">
            <a:avLst/>
          </a:prstGeom>
          <a:ln w="9525" cap="flat">
            <a:solidFill>
              <a:srgbClr val="484B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0F967AD1-010E-06A3-F641-6EAE086FD77C}"/>
              </a:ext>
            </a:extLst>
          </p:cNvPr>
          <p:cNvSpPr txBox="1"/>
          <p:nvPr/>
        </p:nvSpPr>
        <p:spPr>
          <a:xfrm>
            <a:off x="2840291" y="538667"/>
            <a:ext cx="8917229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A.9 </a:t>
            </a:r>
            <a:r>
              <a:rPr lang="ko-KR" alt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사업화 및 투자 가능성</a:t>
            </a:r>
            <a:r>
              <a:rPr lang="en-US" sz="2830" b="1" spc="-56" dirty="0">
                <a:solidFill>
                  <a:srgbClr val="737373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592495D-0789-7491-5D74-B2A148D6E856}"/>
              </a:ext>
            </a:extLst>
          </p:cNvPr>
          <p:cNvSpPr txBox="1"/>
          <p:nvPr/>
        </p:nvSpPr>
        <p:spPr>
          <a:xfrm>
            <a:off x="881207" y="398628"/>
            <a:ext cx="1785793" cy="50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2876" b="1" spc="-132" dirty="0">
                <a:solidFill>
                  <a:srgbClr val="484BE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Appendix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4D82BD2-712D-0698-3C43-457EC1B4B56F}"/>
              </a:ext>
            </a:extLst>
          </p:cNvPr>
          <p:cNvSpPr txBox="1"/>
          <p:nvPr/>
        </p:nvSpPr>
        <p:spPr>
          <a:xfrm>
            <a:off x="8137192" y="2715927"/>
            <a:ext cx="7762423" cy="27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1"/>
              </a:lnSpc>
            </a:pPr>
            <a:r>
              <a:rPr lang="ko-KR" altLang="en-US" sz="2199" b="1" spc="-43" dirty="0">
                <a:solidFill>
                  <a:srgbClr val="333333"/>
                </a:solidFill>
                <a:latin typeface="프리텐다드 Bold"/>
                <a:ea typeface="프리텐다드 Bold"/>
                <a:cs typeface="프리텐다드 Bold"/>
                <a:sym typeface="프리텐다드"/>
              </a:rPr>
              <a:t>예방형 준법관리 수요 확대</a:t>
            </a:r>
            <a:endParaRPr lang="en-US" altLang="ko-KR" sz="2199" b="1" spc="-43" dirty="0">
              <a:solidFill>
                <a:srgbClr val="333333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41" name="Group 4">
            <a:extLst>
              <a:ext uri="{FF2B5EF4-FFF2-40B4-BE49-F238E27FC236}">
                <a16:creationId xmlns:a16="http://schemas.microsoft.com/office/drawing/2014/main" id="{89CDE58D-C12B-A3ED-6EBB-B79BC394A2AF}"/>
              </a:ext>
            </a:extLst>
          </p:cNvPr>
          <p:cNvGrpSpPr/>
          <p:nvPr/>
        </p:nvGrpSpPr>
        <p:grpSpPr>
          <a:xfrm>
            <a:off x="2665863" y="5122474"/>
            <a:ext cx="5471329" cy="2265248"/>
            <a:chOff x="0" y="0"/>
            <a:chExt cx="1441009" cy="685833"/>
          </a:xfrm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E2014D6B-7840-53DE-70E7-8ABFC5949223}"/>
                </a:ext>
              </a:extLst>
            </p:cNvPr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6">
              <a:extLst>
                <a:ext uri="{FF2B5EF4-FFF2-40B4-BE49-F238E27FC236}">
                  <a16:creationId xmlns:a16="http://schemas.microsoft.com/office/drawing/2014/main" id="{A8C84543-B226-A59B-FC50-1CCA6760CF99}"/>
                </a:ext>
              </a:extLst>
            </p:cNvPr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TextBox 23">
            <a:extLst>
              <a:ext uri="{FF2B5EF4-FFF2-40B4-BE49-F238E27FC236}">
                <a16:creationId xmlns:a16="http://schemas.microsoft.com/office/drawing/2014/main" id="{2B86D316-D164-C0B0-0333-F186D3349DC4}"/>
              </a:ext>
            </a:extLst>
          </p:cNvPr>
          <p:cNvSpPr txBox="1"/>
          <p:nvPr/>
        </p:nvSpPr>
        <p:spPr>
          <a:xfrm>
            <a:off x="2987666" y="5905179"/>
            <a:ext cx="2876550" cy="329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ko-KR" altLang="en-US" sz="1947" b="1" spc="-38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타겟 고객</a:t>
            </a:r>
            <a:endParaRPr lang="en-US" sz="1947" b="1" spc="-38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46" name="TextBox 23">
            <a:extLst>
              <a:ext uri="{FF2B5EF4-FFF2-40B4-BE49-F238E27FC236}">
                <a16:creationId xmlns:a16="http://schemas.microsoft.com/office/drawing/2014/main" id="{CEF991A6-B00B-EF53-7CFA-BA9CC0F85E54}"/>
              </a:ext>
            </a:extLst>
          </p:cNvPr>
          <p:cNvSpPr txBox="1"/>
          <p:nvPr/>
        </p:nvSpPr>
        <p:spPr>
          <a:xfrm>
            <a:off x="2979705" y="6397276"/>
            <a:ext cx="479155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ko-KR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기업 </a:t>
            </a:r>
            <a:r>
              <a:rPr lang="ko-KR" altLang="ko-KR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컴플라이언스·법무</a:t>
            </a:r>
            <a:r>
              <a:rPr lang="ko-KR" altLang="ko-KR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 담당자 → </a:t>
            </a:r>
            <a:endParaRPr lang="en-US" altLang="ko-KR" spc="-36" dirty="0">
              <a:solidFill>
                <a:srgbClr val="000000"/>
              </a:solidFill>
              <a:latin typeface="프리텐다드"/>
              <a:ea typeface="프리텐다드"/>
              <a:cs typeface="프리텐다드"/>
            </a:endParaRPr>
          </a:p>
          <a:p>
            <a:r>
              <a:rPr lang="ko-KR" altLang="ko-KR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전담 인력이 부족한 중소기업으로 확대</a:t>
            </a:r>
          </a:p>
        </p:txBody>
      </p:sp>
      <p:grpSp>
        <p:nvGrpSpPr>
          <p:cNvPr id="47" name="Group 4">
            <a:extLst>
              <a:ext uri="{FF2B5EF4-FFF2-40B4-BE49-F238E27FC236}">
                <a16:creationId xmlns:a16="http://schemas.microsoft.com/office/drawing/2014/main" id="{A2F16673-22E5-3BE4-A62B-8CD761A3876F}"/>
              </a:ext>
            </a:extLst>
          </p:cNvPr>
          <p:cNvGrpSpPr/>
          <p:nvPr/>
        </p:nvGrpSpPr>
        <p:grpSpPr>
          <a:xfrm>
            <a:off x="9066663" y="5122474"/>
            <a:ext cx="5471329" cy="2265248"/>
            <a:chOff x="0" y="0"/>
            <a:chExt cx="1441009" cy="685833"/>
          </a:xfrm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22DAAC87-28E9-5D35-CAB6-43DC3BF40D6B}"/>
                </a:ext>
              </a:extLst>
            </p:cNvPr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5D00A3D2-D9A2-D684-8A28-7870760AC92C}"/>
                </a:ext>
              </a:extLst>
            </p:cNvPr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23">
            <a:extLst>
              <a:ext uri="{FF2B5EF4-FFF2-40B4-BE49-F238E27FC236}">
                <a16:creationId xmlns:a16="http://schemas.microsoft.com/office/drawing/2014/main" id="{B87DC728-3102-62F7-46CC-1DC8C973E617}"/>
              </a:ext>
            </a:extLst>
          </p:cNvPr>
          <p:cNvSpPr txBox="1"/>
          <p:nvPr/>
        </p:nvSpPr>
        <p:spPr>
          <a:xfrm>
            <a:off x="9388466" y="5905179"/>
            <a:ext cx="2876550" cy="329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ko-KR" alt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수익 모델</a:t>
            </a:r>
            <a:endParaRPr lang="en-US" sz="1947" b="1" spc="-38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52" name="TextBox 23">
            <a:extLst>
              <a:ext uri="{FF2B5EF4-FFF2-40B4-BE49-F238E27FC236}">
                <a16:creationId xmlns:a16="http://schemas.microsoft.com/office/drawing/2014/main" id="{E4C51787-F3D5-319C-58C7-CEC3462FDB6B}"/>
              </a:ext>
            </a:extLst>
          </p:cNvPr>
          <p:cNvSpPr txBox="1"/>
          <p:nvPr/>
        </p:nvSpPr>
        <p:spPr>
          <a:xfrm>
            <a:off x="9380505" y="6397276"/>
            <a:ext cx="5248758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ko-KR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위험 </a:t>
            </a:r>
            <a:r>
              <a:rPr lang="ko-KR" altLang="ko-KR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진단·보고서</a:t>
            </a:r>
            <a:r>
              <a:rPr lang="ko-KR" altLang="ko-KR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 기능 중심의 구독형 서비스 등 검토 가능</a:t>
            </a:r>
          </a:p>
        </p:txBody>
      </p:sp>
      <p:grpSp>
        <p:nvGrpSpPr>
          <p:cNvPr id="53" name="Group 4">
            <a:extLst>
              <a:ext uri="{FF2B5EF4-FFF2-40B4-BE49-F238E27FC236}">
                <a16:creationId xmlns:a16="http://schemas.microsoft.com/office/drawing/2014/main" id="{7B2F8BD7-B819-DFB4-9DA2-55D52C520D13}"/>
              </a:ext>
            </a:extLst>
          </p:cNvPr>
          <p:cNvGrpSpPr/>
          <p:nvPr/>
        </p:nvGrpSpPr>
        <p:grpSpPr>
          <a:xfrm>
            <a:off x="2665863" y="7754823"/>
            <a:ext cx="5471329" cy="2265248"/>
            <a:chOff x="0" y="0"/>
            <a:chExt cx="1441009" cy="685833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949A8A67-E5C1-590D-4469-75A28553BA2B}"/>
                </a:ext>
              </a:extLst>
            </p:cNvPr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Box 6">
              <a:extLst>
                <a:ext uri="{FF2B5EF4-FFF2-40B4-BE49-F238E27FC236}">
                  <a16:creationId xmlns:a16="http://schemas.microsoft.com/office/drawing/2014/main" id="{94AECF59-BBC0-A2B6-99B0-82E235890B95}"/>
                </a:ext>
              </a:extLst>
            </p:cNvPr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6" name="Freeform 7">
            <a:extLst>
              <a:ext uri="{FF2B5EF4-FFF2-40B4-BE49-F238E27FC236}">
                <a16:creationId xmlns:a16="http://schemas.microsoft.com/office/drawing/2014/main" id="{8E2A3B56-D9EF-28BB-CE59-CCDCE301216D}"/>
              </a:ext>
            </a:extLst>
          </p:cNvPr>
          <p:cNvSpPr/>
          <p:nvPr/>
        </p:nvSpPr>
        <p:spPr>
          <a:xfrm>
            <a:off x="2919538" y="7996471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7" name="TextBox 23">
            <a:extLst>
              <a:ext uri="{FF2B5EF4-FFF2-40B4-BE49-F238E27FC236}">
                <a16:creationId xmlns:a16="http://schemas.microsoft.com/office/drawing/2014/main" id="{960D09A1-09D0-E38E-558D-3B5D063BC975}"/>
              </a:ext>
            </a:extLst>
          </p:cNvPr>
          <p:cNvSpPr txBox="1"/>
          <p:nvPr/>
        </p:nvSpPr>
        <p:spPr>
          <a:xfrm>
            <a:off x="2987666" y="8537528"/>
            <a:ext cx="2876550" cy="329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ko-KR" alt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추가 발전 방향</a:t>
            </a:r>
            <a:endParaRPr lang="en-US" sz="1947" b="1" spc="-38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58" name="TextBox 23">
            <a:extLst>
              <a:ext uri="{FF2B5EF4-FFF2-40B4-BE49-F238E27FC236}">
                <a16:creationId xmlns:a16="http://schemas.microsoft.com/office/drawing/2014/main" id="{D4FEE8EF-C3CD-77F9-9B37-90243C056DED}"/>
              </a:ext>
            </a:extLst>
          </p:cNvPr>
          <p:cNvSpPr txBox="1"/>
          <p:nvPr/>
        </p:nvSpPr>
        <p:spPr>
          <a:xfrm>
            <a:off x="2979705" y="9029625"/>
            <a:ext cx="4791558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ko-KR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기업 내부 </a:t>
            </a:r>
            <a:r>
              <a:rPr lang="ko-KR" altLang="ko-KR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계약·거래</a:t>
            </a:r>
            <a:r>
              <a:rPr lang="ko-KR" altLang="ko-KR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 데이터와 연계한 맞춤형 진단 기능</a:t>
            </a:r>
          </a:p>
        </p:txBody>
      </p:sp>
      <p:grpSp>
        <p:nvGrpSpPr>
          <p:cNvPr id="59" name="Group 4">
            <a:extLst>
              <a:ext uri="{FF2B5EF4-FFF2-40B4-BE49-F238E27FC236}">
                <a16:creationId xmlns:a16="http://schemas.microsoft.com/office/drawing/2014/main" id="{F0B3FEAF-1DD6-2D58-ED13-950D3139AD11}"/>
              </a:ext>
            </a:extLst>
          </p:cNvPr>
          <p:cNvGrpSpPr/>
          <p:nvPr/>
        </p:nvGrpSpPr>
        <p:grpSpPr>
          <a:xfrm>
            <a:off x="9070075" y="7765627"/>
            <a:ext cx="5471329" cy="2265248"/>
            <a:chOff x="0" y="0"/>
            <a:chExt cx="1441009" cy="685833"/>
          </a:xfrm>
        </p:grpSpPr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2F41C1EE-395E-8741-F3A4-8457AB45B86E}"/>
                </a:ext>
              </a:extLst>
            </p:cNvPr>
            <p:cNvSpPr/>
            <p:nvPr/>
          </p:nvSpPr>
          <p:spPr>
            <a:xfrm>
              <a:off x="0" y="0"/>
              <a:ext cx="1441009" cy="685833"/>
            </a:xfrm>
            <a:custGeom>
              <a:avLst/>
              <a:gdLst/>
              <a:ahLst/>
              <a:cxnLst/>
              <a:rect l="l" t="t" r="r" b="b"/>
              <a:pathLst>
                <a:path w="1441009" h="685833">
                  <a:moveTo>
                    <a:pt x="28300" y="0"/>
                  </a:moveTo>
                  <a:lnTo>
                    <a:pt x="1412709" y="0"/>
                  </a:lnTo>
                  <a:cubicBezTo>
                    <a:pt x="1420214" y="0"/>
                    <a:pt x="1427412" y="2982"/>
                    <a:pt x="1432720" y="8289"/>
                  </a:cubicBezTo>
                  <a:cubicBezTo>
                    <a:pt x="1438027" y="13596"/>
                    <a:pt x="1441009" y="20794"/>
                    <a:pt x="1441009" y="28300"/>
                  </a:cubicBezTo>
                  <a:lnTo>
                    <a:pt x="1441009" y="657533"/>
                  </a:lnTo>
                  <a:cubicBezTo>
                    <a:pt x="1441009" y="673163"/>
                    <a:pt x="1428338" y="685833"/>
                    <a:pt x="1412709" y="685833"/>
                  </a:cubicBezTo>
                  <a:lnTo>
                    <a:pt x="28300" y="685833"/>
                  </a:lnTo>
                  <a:cubicBezTo>
                    <a:pt x="20794" y="685833"/>
                    <a:pt x="13596" y="682851"/>
                    <a:pt x="8289" y="677544"/>
                  </a:cubicBezTo>
                  <a:cubicBezTo>
                    <a:pt x="2982" y="672237"/>
                    <a:pt x="0" y="665039"/>
                    <a:pt x="0" y="657533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5B5B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Box 6">
              <a:extLst>
                <a:ext uri="{FF2B5EF4-FFF2-40B4-BE49-F238E27FC236}">
                  <a16:creationId xmlns:a16="http://schemas.microsoft.com/office/drawing/2014/main" id="{404D19A6-3D02-9BC5-9DAD-C4782FCDA7CE}"/>
                </a:ext>
              </a:extLst>
            </p:cNvPr>
            <p:cNvSpPr txBox="1"/>
            <p:nvPr/>
          </p:nvSpPr>
          <p:spPr>
            <a:xfrm>
              <a:off x="0" y="28575"/>
              <a:ext cx="1441009" cy="657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3" name="TextBox 23">
            <a:extLst>
              <a:ext uri="{FF2B5EF4-FFF2-40B4-BE49-F238E27FC236}">
                <a16:creationId xmlns:a16="http://schemas.microsoft.com/office/drawing/2014/main" id="{5CE7C915-864D-8FFC-D04D-9D8824415E07}"/>
              </a:ext>
            </a:extLst>
          </p:cNvPr>
          <p:cNvSpPr txBox="1"/>
          <p:nvPr/>
        </p:nvSpPr>
        <p:spPr>
          <a:xfrm>
            <a:off x="9391878" y="8548332"/>
            <a:ext cx="2876550" cy="329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</a:pPr>
            <a:r>
              <a:rPr lang="ko-KR" altLang="en-US" sz="1947" b="1" spc="-38" dirty="0">
                <a:solidFill>
                  <a:srgbClr val="000000">
                    <a:alpha val="89804"/>
                  </a:srgbClr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확장 방향</a:t>
            </a:r>
            <a:endParaRPr lang="en-US" sz="1947" b="1" spc="-38" dirty="0">
              <a:solidFill>
                <a:srgbClr val="000000">
                  <a:alpha val="89804"/>
                </a:srgbClr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64" name="TextBox 23">
            <a:extLst>
              <a:ext uri="{FF2B5EF4-FFF2-40B4-BE49-F238E27FC236}">
                <a16:creationId xmlns:a16="http://schemas.microsoft.com/office/drawing/2014/main" id="{E47F19D7-CAC7-2CB7-5863-FCBE2F76C375}"/>
              </a:ext>
            </a:extLst>
          </p:cNvPr>
          <p:cNvSpPr txBox="1"/>
          <p:nvPr/>
        </p:nvSpPr>
        <p:spPr>
          <a:xfrm>
            <a:off x="9383917" y="9040429"/>
            <a:ext cx="479155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ko-KR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공정거래에서 축적한 진단 구조를 </a:t>
            </a:r>
            <a:endParaRPr lang="en-US" altLang="ko-KR" spc="-36" dirty="0">
              <a:solidFill>
                <a:srgbClr val="000000"/>
              </a:solidFill>
              <a:latin typeface="프리텐다드"/>
              <a:ea typeface="프리텐다드"/>
              <a:cs typeface="프리텐다드"/>
            </a:endParaRPr>
          </a:p>
          <a:p>
            <a:r>
              <a:rPr lang="ko-KR" altLang="ko-KR" spc="-36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개인정보보호·노동</a:t>
            </a:r>
            <a:r>
              <a:rPr lang="ko-KR" altLang="ko-KR" spc="-36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</a:rPr>
              <a:t> 등 타 규제 영역으로 확장</a:t>
            </a:r>
          </a:p>
        </p:txBody>
      </p:sp>
      <p:sp>
        <p:nvSpPr>
          <p:cNvPr id="66" name="Freeform 10">
            <a:extLst>
              <a:ext uri="{FF2B5EF4-FFF2-40B4-BE49-F238E27FC236}">
                <a16:creationId xmlns:a16="http://schemas.microsoft.com/office/drawing/2014/main" id="{D48A92F3-F47F-8D31-F453-331F0FD9254F}"/>
              </a:ext>
            </a:extLst>
          </p:cNvPr>
          <p:cNvSpPr>
            <a:spLocks noChangeAspect="1"/>
          </p:cNvSpPr>
          <p:nvPr/>
        </p:nvSpPr>
        <p:spPr>
          <a:xfrm>
            <a:off x="2919538" y="5352689"/>
            <a:ext cx="525600" cy="525600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68" name="Freeform 18">
            <a:extLst>
              <a:ext uri="{FF2B5EF4-FFF2-40B4-BE49-F238E27FC236}">
                <a16:creationId xmlns:a16="http://schemas.microsoft.com/office/drawing/2014/main" id="{9497BF5A-01DA-8DBA-D1B8-7E3EA2B8D8C5}"/>
              </a:ext>
            </a:extLst>
          </p:cNvPr>
          <p:cNvSpPr>
            <a:spLocks noChangeAspect="1"/>
          </p:cNvSpPr>
          <p:nvPr/>
        </p:nvSpPr>
        <p:spPr>
          <a:xfrm>
            <a:off x="9325475" y="7997045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2" name="Freeform 14">
            <a:extLst>
              <a:ext uri="{FF2B5EF4-FFF2-40B4-BE49-F238E27FC236}">
                <a16:creationId xmlns:a16="http://schemas.microsoft.com/office/drawing/2014/main" id="{30050872-A769-7F74-E854-6CDAF3F5ECE0}"/>
              </a:ext>
            </a:extLst>
          </p:cNvPr>
          <p:cNvSpPr>
            <a:spLocks noChangeAspect="1"/>
          </p:cNvSpPr>
          <p:nvPr/>
        </p:nvSpPr>
        <p:spPr>
          <a:xfrm>
            <a:off x="9323750" y="5379738"/>
            <a:ext cx="525600" cy="525600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0" y="0"/>
                </a:moveTo>
                <a:lnTo>
                  <a:pt x="542925" y="0"/>
                </a:lnTo>
                <a:lnTo>
                  <a:pt x="54292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2601</TotalTime>
  <Words>4650</Words>
  <Application>Microsoft Office PowerPoint</Application>
  <PresentationFormat>사용자 지정</PresentationFormat>
  <Paragraphs>836</Paragraphs>
  <Slides>68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5" baseType="lpstr">
      <vt:lpstr>프리텐다드</vt:lpstr>
      <vt:lpstr>맑은 고딕</vt:lpstr>
      <vt:lpstr>Calibri</vt:lpstr>
      <vt:lpstr>Pretendard SemiBold</vt:lpstr>
      <vt:lpstr>프리텐다드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헤아림</dc:title>
  <cp:lastModifiedBy>서준원(대학원생-비즈니스IT전공)</cp:lastModifiedBy>
  <cp:revision>21</cp:revision>
  <dcterms:created xsi:type="dcterms:W3CDTF">2006-08-16T00:00:00Z</dcterms:created>
  <dcterms:modified xsi:type="dcterms:W3CDTF">2026-08-21T16:52:21Z</dcterms:modified>
  <dc:identifier>DAHMspiiMZQ</dc:identifier>
</cp:coreProperties>
</file>