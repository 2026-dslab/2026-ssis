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384" autoAdjust="0"/>
  </p:normalViewPr>
  <p:slideViewPr>
    <p:cSldViewPr snapToGrid="0" snapToObjects="1">
      <p:cViewPr varScale="1">
        <p:scale>
          <a:sx n="133" d="100"/>
          <a:sy n="133" d="100"/>
        </p:scale>
        <p:origin x="31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C3E17C-EA54-4B6B-92DF-8A6AF273C9EF}" type="datetimeFigureOut">
              <a:rPr lang="ko-KR" altLang="en-US" smtClean="0"/>
              <a:t>2026-08-21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1E1FB9-C106-4BE2-A587-D71DAF3D5DB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985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1E1FB9-C106-4BE2-A587-D71DAF3D5DB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67157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ounded Rectangle 67"/>
          <p:cNvSpPr/>
          <p:nvPr/>
        </p:nvSpPr>
        <p:spPr>
          <a:xfrm>
            <a:off x="8935056" y="5686128"/>
            <a:ext cx="5440680" cy="2331720"/>
          </a:xfrm>
          <a:prstGeom prst="roundRect">
            <a:avLst>
              <a:gd name="adj" fmla="val 4000"/>
            </a:avLst>
          </a:prstGeom>
          <a:noFill/>
          <a:ln w="3175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089136" y="2147316"/>
            <a:ext cx="5010912" cy="890016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E678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089136" y="665988"/>
            <a:ext cx="5010912" cy="932688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3C404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869680" y="135635"/>
            <a:ext cx="5440680" cy="4118555"/>
          </a:xfrm>
          <a:prstGeom prst="roundRect">
            <a:avLst>
              <a:gd name="adj" fmla="val 4000"/>
            </a:avLst>
          </a:prstGeom>
          <a:noFill/>
          <a:ln w="31750">
            <a:solidFill>
              <a:srgbClr val="96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3968496" y="3931920"/>
            <a:ext cx="3703320" cy="3147059"/>
          </a:xfrm>
          <a:prstGeom prst="roundRect">
            <a:avLst>
              <a:gd name="adj" fmla="val 4000"/>
            </a:avLst>
          </a:prstGeom>
          <a:noFill/>
          <a:ln w="254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3224" y="4097520"/>
            <a:ext cx="3063240" cy="2935908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648456" y="283464"/>
            <a:ext cx="3246120" cy="23317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ocument 1"/>
          <p:cNvSpPr/>
          <p:nvPr/>
        </p:nvSpPr>
        <p:spPr>
          <a:xfrm>
            <a:off x="850392" y="310896"/>
            <a:ext cx="2377440" cy="713232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" name="Document 2"/>
          <p:cNvSpPr/>
          <p:nvPr/>
        </p:nvSpPr>
        <p:spPr>
          <a:xfrm>
            <a:off x="768096" y="393192"/>
            <a:ext cx="2377440" cy="713232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" name="Document 3"/>
          <p:cNvSpPr/>
          <p:nvPr/>
        </p:nvSpPr>
        <p:spPr>
          <a:xfrm>
            <a:off x="685800" y="475488"/>
            <a:ext cx="2377440" cy="713232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감시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대상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법령</a:t>
            </a:r>
            <a:r>
              <a:rPr lang="en-US" altLang="ko-KR"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</a:t>
            </a:r>
            <a:r>
              <a:rPr lang="ko-KR" altLang="en-US"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행정규칙</a:t>
            </a:r>
            <a:endParaRPr sz="12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1874519" y="1161289"/>
            <a:ext cx="0" cy="393191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76072" y="1578864"/>
            <a:ext cx="2606040" cy="731520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150" b="1" dirty="0" err="1">
                <a:solidFill>
                  <a:srgbClr val="17191E"/>
                </a:solidFill>
                <a:latin typeface="Pretendard"/>
              </a:rPr>
              <a:t>개정</a:t>
            </a:r>
            <a:r>
              <a:rPr sz="1150" b="1" dirty="0">
                <a:solidFill>
                  <a:srgbClr val="17191E"/>
                </a:solidFill>
                <a:latin typeface="Pretendard"/>
              </a:rPr>
              <a:t> </a:t>
            </a:r>
            <a:r>
              <a:rPr sz="1150" b="1" dirty="0" err="1">
                <a:solidFill>
                  <a:srgbClr val="17191E"/>
                </a:solidFill>
                <a:latin typeface="Pretendard"/>
              </a:rPr>
              <a:t>감지</a:t>
            </a:r>
            <a:endParaRPr sz="1150" b="1" dirty="0">
              <a:solidFill>
                <a:srgbClr val="17191E"/>
              </a:solidFill>
              <a:latin typeface="Pretendard"/>
            </a:endParaRPr>
          </a:p>
          <a:p>
            <a:pPr algn="ctr">
              <a:lnSpc>
                <a:spcPct val="105000"/>
              </a:lnSpc>
            </a:pPr>
            <a:r>
              <a:rPr sz="900" dirty="0" err="1">
                <a:solidFill>
                  <a:srgbClr val="6E7480"/>
                </a:solidFill>
                <a:latin typeface="Pretendard"/>
              </a:rPr>
              <a:t>일련번호</a:t>
            </a:r>
            <a:r>
              <a:rPr sz="900" dirty="0">
                <a:solidFill>
                  <a:srgbClr val="6E7480"/>
                </a:solidFill>
                <a:latin typeface="Pretendard"/>
              </a:rPr>
              <a:t> </a:t>
            </a:r>
            <a:r>
              <a:rPr sz="900" dirty="0" err="1">
                <a:solidFill>
                  <a:srgbClr val="6E7480"/>
                </a:solidFill>
                <a:latin typeface="Pretendard"/>
              </a:rPr>
              <a:t>대조</a:t>
            </a:r>
            <a:endParaRPr sz="900" dirty="0">
              <a:solidFill>
                <a:srgbClr val="6E7480"/>
              </a:solidFill>
              <a:latin typeface="Pretendard"/>
            </a:endParaRPr>
          </a:p>
        </p:txBody>
      </p:sp>
      <p:sp>
        <p:nvSpPr>
          <p:cNvPr id="10" name="Decision 9"/>
          <p:cNvSpPr/>
          <p:nvPr/>
        </p:nvSpPr>
        <p:spPr>
          <a:xfrm>
            <a:off x="466344" y="2587752"/>
            <a:ext cx="2834640" cy="914400"/>
          </a:xfrm>
          <a:prstGeom prst="flowChartDecision">
            <a:avLst/>
          </a:prstGeom>
          <a:solidFill>
            <a:srgbClr val="9678DC"/>
          </a:solidFill>
          <a:ln w="15875">
            <a:solidFill>
              <a:srgbClr val="967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보관</a:t>
            </a:r>
            <a:r>
              <a:rPr lang="ko-KR" altLang="en-US"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중인 일련번호</a:t>
            </a:r>
            <a:r>
              <a:rPr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와 </a:t>
            </a:r>
            <a:endParaRPr lang="en-US" sz="1050" b="1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05000"/>
              </a:lnSpc>
            </a:pPr>
            <a:r>
              <a:rPr sz="1050" b="1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같은가</a:t>
            </a:r>
            <a:r>
              <a:rPr sz="105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83664" y="2313432"/>
            <a:ext cx="0" cy="274320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cxnSpLocks/>
          </p:cNvCxnSpPr>
          <p:nvPr/>
        </p:nvCxnSpPr>
        <p:spPr>
          <a:xfrm>
            <a:off x="3293784" y="3037332"/>
            <a:ext cx="612648" cy="0"/>
          </a:xfrm>
          <a:prstGeom prst="line">
            <a:avLst/>
          </a:prstGeom>
          <a:ln w="19050">
            <a:solidFill>
              <a:srgbClr val="6E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68496" y="2963448"/>
            <a:ext cx="1737360" cy="1522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dirty="0" err="1">
                <a:solidFill>
                  <a:srgbClr val="6E7480"/>
                </a:solidFill>
                <a:latin typeface="Pretendard"/>
              </a:rPr>
              <a:t>같음</a:t>
            </a:r>
            <a:r>
              <a:rPr sz="1000" b="1" dirty="0">
                <a:solidFill>
                  <a:srgbClr val="6E7480"/>
                </a:solidFill>
                <a:latin typeface="Pretendard"/>
              </a:rPr>
              <a:t> — </a:t>
            </a:r>
            <a:r>
              <a:rPr sz="1000" b="1" dirty="0" err="1">
                <a:solidFill>
                  <a:srgbClr val="6E7480"/>
                </a:solidFill>
                <a:latin typeface="Pretendard"/>
              </a:rPr>
              <a:t>변경</a:t>
            </a:r>
            <a:r>
              <a:rPr sz="1000" b="1" dirty="0">
                <a:solidFill>
                  <a:srgbClr val="6E7480"/>
                </a:solidFill>
                <a:latin typeface="Pretendard"/>
              </a:rPr>
              <a:t> </a:t>
            </a:r>
            <a:r>
              <a:rPr sz="1000" b="1" dirty="0" err="1">
                <a:solidFill>
                  <a:srgbClr val="6E7480"/>
                </a:solidFill>
                <a:latin typeface="Pretendard"/>
              </a:rPr>
              <a:t>없음</a:t>
            </a:r>
            <a:endParaRPr sz="1000" b="1" dirty="0">
              <a:solidFill>
                <a:srgbClr val="6E7480"/>
              </a:solidFill>
              <a:latin typeface="Pretendard"/>
            </a:endParaRPr>
          </a:p>
        </p:txBody>
      </p:sp>
      <p:cxnSp>
        <p:nvCxnSpPr>
          <p:cNvPr id="15" name="Connector 14"/>
          <p:cNvCxnSpPr>
            <a:cxnSpLocks/>
          </p:cNvCxnSpPr>
          <p:nvPr/>
        </p:nvCxnSpPr>
        <p:spPr>
          <a:xfrm>
            <a:off x="1883664" y="3502152"/>
            <a:ext cx="0" cy="595368"/>
          </a:xfrm>
          <a:prstGeom prst="line">
            <a:avLst/>
          </a:prstGeom>
          <a:ln w="31750">
            <a:solidFill>
              <a:srgbClr val="965AC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75104" y="3663072"/>
            <a:ext cx="1280160" cy="1522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dirty="0" err="1">
                <a:solidFill>
                  <a:srgbClr val="965A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다름</a:t>
            </a:r>
            <a:r>
              <a:rPr sz="1000" b="1" dirty="0">
                <a:solidFill>
                  <a:srgbClr val="965A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</a:t>
            </a:r>
            <a:r>
              <a:rPr sz="1000" b="1" dirty="0" err="1">
                <a:solidFill>
                  <a:srgbClr val="965A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개정</a:t>
            </a:r>
            <a:r>
              <a:rPr lang="en-US" sz="1000" b="1" dirty="0">
                <a:solidFill>
                  <a:srgbClr val="965A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965AC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  <a:endParaRPr sz="1000" b="1" dirty="0">
              <a:solidFill>
                <a:srgbClr val="965AC8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846096" y="4114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17191E"/>
                </a:solidFill>
                <a:latin typeface="Pretendard"/>
              </a:rPr>
              <a:t>국가법령정보센터 Open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5344" y="832104"/>
            <a:ext cx="2743200" cy="420624"/>
          </a:xfrm>
          <a:prstGeom prst="roundRect">
            <a:avLst>
              <a:gd name="adj" fmla="val 20000"/>
            </a:avLst>
          </a:prstGeom>
          <a:solidFill>
            <a:srgbClr val="3A6EC8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 dirty="0" err="1">
                <a:solidFill>
                  <a:srgbClr val="FFFFFF"/>
                </a:solidFill>
                <a:latin typeface="Pretendard"/>
              </a:rPr>
              <a:t>현행</a:t>
            </a:r>
            <a:r>
              <a:rPr sz="105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Pretendard"/>
              </a:rPr>
              <a:t>버전</a:t>
            </a:r>
            <a:r>
              <a:rPr sz="1050" b="1" dirty="0">
                <a:solidFill>
                  <a:srgbClr val="FFFFFF"/>
                </a:solidFill>
                <a:latin typeface="Pretendard"/>
              </a:rPr>
              <a:t> · </a:t>
            </a:r>
            <a:r>
              <a:rPr sz="1050" b="1" dirty="0" err="1">
                <a:solidFill>
                  <a:srgbClr val="FFFFFF"/>
                </a:solidFill>
                <a:latin typeface="Pretendard"/>
              </a:rPr>
              <a:t>일련번호</a:t>
            </a:r>
            <a:endParaRPr sz="10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895344" y="1362456"/>
            <a:ext cx="2743200" cy="420624"/>
          </a:xfrm>
          <a:prstGeom prst="roundRect">
            <a:avLst>
              <a:gd name="adj" fmla="val 20000"/>
            </a:avLst>
          </a:prstGeom>
          <a:solidFill>
            <a:srgbClr val="3A6EC8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 dirty="0" err="1">
                <a:solidFill>
                  <a:srgbClr val="FFFFFF"/>
                </a:solidFill>
                <a:latin typeface="Pretendard"/>
              </a:rPr>
              <a:t>조문</a:t>
            </a:r>
            <a:r>
              <a:rPr sz="105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Pretendard"/>
              </a:rPr>
              <a:t>단위</a:t>
            </a:r>
            <a:r>
              <a:rPr sz="1050" b="1" dirty="0">
                <a:solidFill>
                  <a:srgbClr val="FFFFFF"/>
                </a:solidFill>
                <a:latin typeface="Pretendard"/>
              </a:rPr>
              <a:t> </a:t>
            </a:r>
            <a:r>
              <a:rPr sz="1050" b="1" dirty="0" err="1">
                <a:solidFill>
                  <a:srgbClr val="FFFFFF"/>
                </a:solidFill>
                <a:latin typeface="Pretendard"/>
              </a:rPr>
              <a:t>원문</a:t>
            </a:r>
            <a:endParaRPr sz="1050" b="1" dirty="0">
              <a:solidFill>
                <a:srgbClr val="FFFFFF"/>
              </a:solidFill>
              <a:latin typeface="Pretendard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895344" y="1892807"/>
            <a:ext cx="2743200" cy="420624"/>
          </a:xfrm>
          <a:prstGeom prst="roundRect">
            <a:avLst>
              <a:gd name="adj" fmla="val 20000"/>
            </a:avLst>
          </a:prstGeom>
          <a:solidFill>
            <a:srgbClr val="3A6EC8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FFFFF"/>
                </a:solidFill>
                <a:latin typeface="Pretendard"/>
              </a:rPr>
              <a:t>개정 전·후 대조 자료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419856" y="1453896"/>
            <a:ext cx="228600" cy="0"/>
          </a:xfrm>
          <a:prstGeom prst="line">
            <a:avLst/>
          </a:prstGeom>
          <a:ln w="19050">
            <a:solidFill>
              <a:srgbClr val="3C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cxnSpLocks/>
          </p:cNvCxnSpPr>
          <p:nvPr/>
        </p:nvCxnSpPr>
        <p:spPr>
          <a:xfrm>
            <a:off x="3427056" y="1461096"/>
            <a:ext cx="0" cy="484632"/>
          </a:xfrm>
          <a:prstGeom prst="line">
            <a:avLst/>
          </a:prstGeom>
          <a:ln w="19050">
            <a:solidFill>
              <a:srgbClr val="3C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3188208" y="1949196"/>
            <a:ext cx="246888" cy="0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99968" y="3951216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308" y="4179816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dirty="0" err="1">
                <a:solidFill>
                  <a:srgbClr val="17191E"/>
                </a:solidFill>
                <a:latin typeface="Pretendard"/>
              </a:rPr>
              <a:t>전문</a:t>
            </a:r>
            <a:r>
              <a:rPr sz="1200" b="1" dirty="0">
                <a:solidFill>
                  <a:srgbClr val="17191E"/>
                </a:solidFill>
                <a:latin typeface="Pretendard"/>
              </a:rPr>
              <a:t> </a:t>
            </a:r>
            <a:r>
              <a:rPr sz="1200" b="1" dirty="0" err="1">
                <a:solidFill>
                  <a:srgbClr val="17191E"/>
                </a:solidFill>
                <a:latin typeface="Pretendard"/>
              </a:rPr>
              <a:t>축적</a:t>
            </a:r>
            <a:endParaRPr sz="1200" b="1" dirty="0">
              <a:solidFill>
                <a:srgbClr val="17191E"/>
              </a:solidFill>
              <a:latin typeface="Pretendard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26104" y="4554720"/>
            <a:ext cx="2697480" cy="512064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개정된 법령의  전문 추가</a:t>
            </a:r>
            <a:endParaRPr sz="105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Can 29"/>
          <p:cNvSpPr/>
          <p:nvPr/>
        </p:nvSpPr>
        <p:spPr>
          <a:xfrm>
            <a:off x="571824" y="5313672"/>
            <a:ext cx="2606040" cy="1417320"/>
          </a:xfrm>
          <a:prstGeom prst="can">
            <a:avLst/>
          </a:prstGeom>
          <a:solidFill>
            <a:srgbClr val="CEE8CD"/>
          </a:solidFill>
          <a:ln w="15875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 sz="1150" b="1" dirty="0">
              <a:solidFill>
                <a:srgbClr val="17191E"/>
              </a:solidFill>
              <a:latin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9528" y="6373008"/>
            <a:ext cx="2834640" cy="2668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1" dirty="0" err="1">
                <a:solidFill>
                  <a:srgbClr val="6E7480"/>
                </a:solidFill>
                <a:latin typeface="Pretendard"/>
              </a:rPr>
              <a:t>감시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대상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·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전문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·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개정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이력</a:t>
            </a:r>
            <a:endParaRPr sz="850" b="1" dirty="0">
              <a:solidFill>
                <a:srgbClr val="6E7480"/>
              </a:solidFill>
              <a:latin typeface="Pretendard"/>
            </a:endParaRPr>
          </a:p>
          <a:p>
            <a:pPr algn="ctr">
              <a:lnSpc>
                <a:spcPct val="105000"/>
              </a:lnSpc>
            </a:pPr>
            <a:r>
              <a:rPr sz="850" b="1" dirty="0" err="1">
                <a:solidFill>
                  <a:srgbClr val="6E7480"/>
                </a:solidFill>
                <a:latin typeface="Pretendard"/>
              </a:rPr>
              <a:t>조문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변경</a:t>
            </a:r>
            <a:r>
              <a:rPr sz="850" b="1" dirty="0">
                <a:solidFill>
                  <a:srgbClr val="6E7480"/>
                </a:solidFill>
                <a:latin typeface="Pretendard"/>
              </a:rPr>
              <a:t> · </a:t>
            </a:r>
            <a:r>
              <a:rPr sz="850" b="1" dirty="0" err="1">
                <a:solidFill>
                  <a:srgbClr val="6E7480"/>
                </a:solidFill>
                <a:latin typeface="Pretendard"/>
              </a:rPr>
              <a:t>요약</a:t>
            </a:r>
            <a:endParaRPr sz="850" b="1" dirty="0">
              <a:solidFill>
                <a:srgbClr val="6E7480"/>
              </a:solidFill>
              <a:latin typeface="Pretendard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3838956" y="3771900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1696" y="4041648"/>
            <a:ext cx="3108960" cy="18274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조문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</a:t>
            </a:r>
            <a:r>
              <a:rPr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</a:t>
            </a:r>
            <a:endParaRPr sz="12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6" name="Document 35"/>
          <p:cNvSpPr/>
          <p:nvPr/>
        </p:nvSpPr>
        <p:spPr>
          <a:xfrm>
            <a:off x="4151376" y="4407408"/>
            <a:ext cx="3337560" cy="530352"/>
          </a:xfrm>
          <a:prstGeom prst="flowChartDocument">
            <a:avLst/>
          </a:prstGeom>
          <a:solidFill>
            <a:srgbClr val="F6BE9B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개정된 법령의 문장들</a:t>
            </a:r>
            <a:endParaRPr sz="105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7" name="Connector 36"/>
          <p:cNvCxnSpPr>
            <a:cxnSpLocks/>
            <a:stCxn id="36" idx="2"/>
            <a:endCxn id="38" idx="0"/>
          </p:cNvCxnSpPr>
          <p:nvPr/>
        </p:nvCxnSpPr>
        <p:spPr>
          <a:xfrm>
            <a:off x="5820156" y="4902698"/>
            <a:ext cx="0" cy="410650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151376" y="5313348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>
              <a:lnSpc>
                <a:spcPct val="105000"/>
              </a:lnSpc>
            </a:pPr>
            <a:r>
              <a:rPr sz="95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1단계 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표기 보정 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표기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띄어쓰기 통일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95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개정문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제외</a:t>
            </a:r>
            <a:endParaRPr sz="95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151376" y="5861988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>
              <a:lnSpc>
                <a:spcPct val="105000"/>
              </a:lnSpc>
            </a:pPr>
            <a:r>
              <a:rPr sz="95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2단계 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중복 해소 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 분할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항목 번호 결합</a:t>
            </a:r>
            <a:endParaRPr sz="95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151376" y="6410628"/>
            <a:ext cx="3337560" cy="457200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>
              <a:lnSpc>
                <a:spcPct val="105000"/>
              </a:lnSpc>
            </a:pPr>
            <a:r>
              <a:rPr sz="95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3단계  </a:t>
            </a:r>
            <a:r>
              <a:rPr lang="ko-KR" altLang="en-US" sz="950" b="1" dirty="0" err="1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미확정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처리 </a:t>
            </a:r>
            <a:r>
              <a:rPr lang="en-US" altLang="ko-KR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사유와 함께 기록</a:t>
            </a:r>
          </a:p>
        </p:txBody>
      </p:sp>
      <p:sp>
        <p:nvSpPr>
          <p:cNvPr id="43" name="Oval 42"/>
          <p:cNvSpPr/>
          <p:nvPr/>
        </p:nvSpPr>
        <p:spPr>
          <a:xfrm>
            <a:off x="8714232" y="15239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04376" y="230124"/>
            <a:ext cx="4389120" cy="1980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dirty="0" err="1">
                <a:solidFill>
                  <a:srgbClr val="17191E"/>
                </a:solidFill>
                <a:latin typeface="Pretendard"/>
              </a:rPr>
              <a:t>요약</a:t>
            </a:r>
            <a:r>
              <a:rPr sz="1300" b="1" dirty="0">
                <a:solidFill>
                  <a:srgbClr val="17191E"/>
                </a:solidFill>
                <a:latin typeface="Pretendard"/>
              </a:rPr>
              <a:t> — </a:t>
            </a:r>
            <a:r>
              <a:rPr lang="en-US" sz="13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</a:t>
            </a:r>
            <a:r>
              <a:rPr lang="ko-KR" altLang="en-US" sz="13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에이전트 적용</a:t>
            </a:r>
            <a:endParaRPr sz="13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Document 47"/>
          <p:cNvSpPr/>
          <p:nvPr/>
        </p:nvSpPr>
        <p:spPr>
          <a:xfrm>
            <a:off x="9372600" y="766571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9" name="Document 48"/>
          <p:cNvSpPr/>
          <p:nvPr/>
        </p:nvSpPr>
        <p:spPr>
          <a:xfrm>
            <a:off x="9290304" y="848868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확정된 조문</a:t>
            </a:r>
          </a:p>
        </p:txBody>
      </p:sp>
      <p:sp>
        <p:nvSpPr>
          <p:cNvPr id="50" name="Document 49"/>
          <p:cNvSpPr/>
          <p:nvPr/>
        </p:nvSpPr>
        <p:spPr>
          <a:xfrm>
            <a:off x="10981943" y="766571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51" name="Document 50"/>
          <p:cNvSpPr/>
          <p:nvPr/>
        </p:nvSpPr>
        <p:spPr>
          <a:xfrm>
            <a:off x="10899648" y="848868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개정 전·후 원문</a:t>
            </a:r>
          </a:p>
        </p:txBody>
      </p:sp>
      <p:sp>
        <p:nvSpPr>
          <p:cNvPr id="52" name="Document 51"/>
          <p:cNvSpPr/>
          <p:nvPr/>
        </p:nvSpPr>
        <p:spPr>
          <a:xfrm>
            <a:off x="12591287" y="766571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53" name="Document 52"/>
          <p:cNvSpPr/>
          <p:nvPr/>
        </p:nvSpPr>
        <p:spPr>
          <a:xfrm>
            <a:off x="12508991" y="848868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법령 정보</a:t>
            </a:r>
          </a:p>
        </p:txBody>
      </p:sp>
      <p:sp>
        <p:nvSpPr>
          <p:cNvPr id="54" name="Down Arrow 53"/>
          <p:cNvSpPr/>
          <p:nvPr/>
        </p:nvSpPr>
        <p:spPr>
          <a:xfrm>
            <a:off x="11411712" y="1690116"/>
            <a:ext cx="365760" cy="347472"/>
          </a:xfrm>
          <a:prstGeom prst="downArrow">
            <a:avLst/>
          </a:prstGeom>
          <a:solidFill>
            <a:srgbClr val="965AC8"/>
          </a:solidFill>
          <a:ln w="9525">
            <a:solidFill>
              <a:srgbClr val="96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290304" y="2311908"/>
            <a:ext cx="1499616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 sz="10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10881360" y="2311908"/>
            <a:ext cx="1499616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 sz="10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2472416" y="2311908"/>
            <a:ext cx="1499616" cy="56692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 sz="100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10956" y="4658160"/>
            <a:ext cx="4709160" cy="621792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 dirty="0" err="1">
                <a:solidFill>
                  <a:srgbClr val="17191E"/>
                </a:solidFill>
                <a:latin typeface="Pretendard"/>
              </a:rPr>
              <a:t>검증</a:t>
            </a:r>
            <a:r>
              <a:rPr sz="1400" b="1" dirty="0">
                <a:solidFill>
                  <a:srgbClr val="17191E"/>
                </a:solidFill>
                <a:latin typeface="Pretendard"/>
              </a:rPr>
              <a:t> </a:t>
            </a:r>
            <a:endParaRPr lang="en-US" sz="1400" b="1" dirty="0">
              <a:solidFill>
                <a:srgbClr val="17191E"/>
              </a:solidFill>
              <a:latin typeface="Pretendard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규칙기반으로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원문과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대조</a:t>
            </a:r>
            <a:endParaRPr sz="800" b="1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05000"/>
              </a:lnSpc>
            </a:pP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원문에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없는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내용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뒤바뀐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서술</a:t>
            </a:r>
            <a:r>
              <a:rPr sz="800" b="1" dirty="0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800" b="1" dirty="0" err="1">
                <a:solidFill>
                  <a:schemeClr val="bg1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제거</a:t>
            </a:r>
            <a:endParaRPr sz="800" b="1" dirty="0">
              <a:solidFill>
                <a:schemeClr val="bg1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8766288" y="5491764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FFFFFF"/>
                </a:solidFill>
                <a:latin typeface="Pretendard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117936" y="578476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dirty="0" err="1">
                <a:solidFill>
                  <a:srgbClr val="17191E"/>
                </a:solidFill>
                <a:latin typeface="Pretendard"/>
              </a:rPr>
              <a:t>보고서</a:t>
            </a:r>
            <a:r>
              <a:rPr sz="1300" b="1" dirty="0">
                <a:solidFill>
                  <a:srgbClr val="17191E"/>
                </a:solidFill>
                <a:latin typeface="Pretendard"/>
              </a:rPr>
              <a:t> </a:t>
            </a:r>
            <a:r>
              <a:rPr sz="1300" b="1" dirty="0" err="1">
                <a:solidFill>
                  <a:srgbClr val="17191E"/>
                </a:solidFill>
                <a:latin typeface="Pretendard"/>
              </a:rPr>
              <a:t>생성</a:t>
            </a:r>
            <a:r>
              <a:rPr sz="1300" b="1" dirty="0">
                <a:solidFill>
                  <a:srgbClr val="17191E"/>
                </a:solidFill>
                <a:latin typeface="Pretendard"/>
              </a:rPr>
              <a:t> · 웹 </a:t>
            </a:r>
            <a:r>
              <a:rPr sz="1300" b="1" dirty="0" err="1">
                <a:solidFill>
                  <a:srgbClr val="17191E"/>
                </a:solidFill>
                <a:latin typeface="Pretendard"/>
              </a:rPr>
              <a:t>제공</a:t>
            </a:r>
            <a:endParaRPr sz="1300" b="1" dirty="0">
              <a:solidFill>
                <a:srgbClr val="17191E"/>
              </a:solidFill>
              <a:latin typeface="Pretendard"/>
            </a:endParaRPr>
          </a:p>
        </p:txBody>
      </p:sp>
      <p:sp>
        <p:nvSpPr>
          <p:cNvPr id="70" name="Vertical Scroll 69"/>
          <p:cNvSpPr/>
          <p:nvPr/>
        </p:nvSpPr>
        <p:spPr>
          <a:xfrm>
            <a:off x="12638568" y="6400765"/>
            <a:ext cx="1112025" cy="990697"/>
          </a:xfrm>
          <a:prstGeom prst="verticalScroll">
            <a:avLst/>
          </a:prstGeom>
          <a:solidFill>
            <a:srgbClr val="FDDEC8"/>
          </a:solidFill>
          <a:ln w="15875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00" b="1" dirty="0" err="1">
                <a:solidFill>
                  <a:srgbClr val="17191E"/>
                </a:solidFill>
                <a:latin typeface="Pretendard"/>
              </a:rPr>
              <a:t>주간</a:t>
            </a:r>
            <a:r>
              <a:rPr sz="1000" b="1" dirty="0">
                <a:solidFill>
                  <a:srgbClr val="17191E"/>
                </a:solidFill>
                <a:latin typeface="Pretendard"/>
              </a:rPr>
              <a:t> </a:t>
            </a:r>
            <a:r>
              <a:rPr sz="1000" b="1" dirty="0" err="1">
                <a:solidFill>
                  <a:srgbClr val="17191E"/>
                </a:solidFill>
                <a:latin typeface="Pretendard"/>
              </a:rPr>
              <a:t>개정</a:t>
            </a:r>
            <a:endParaRPr sz="1000" b="1" dirty="0">
              <a:solidFill>
                <a:srgbClr val="17191E"/>
              </a:solidFill>
              <a:latin typeface="Pretendard"/>
            </a:endParaRPr>
          </a:p>
          <a:p>
            <a:pPr algn="ctr">
              <a:lnSpc>
                <a:spcPct val="105000"/>
              </a:lnSpc>
            </a:pPr>
            <a:r>
              <a:rPr sz="1000" b="1" dirty="0" err="1">
                <a:solidFill>
                  <a:srgbClr val="17191E"/>
                </a:solidFill>
                <a:latin typeface="Pretendard"/>
              </a:rPr>
              <a:t>보고서</a:t>
            </a:r>
            <a:endParaRPr sz="1000" b="1" dirty="0">
              <a:solidFill>
                <a:srgbClr val="17191E"/>
              </a:solidFill>
              <a:latin typeface="Pretendard"/>
            </a:endParaRPr>
          </a:p>
          <a:p>
            <a:pPr algn="ctr">
              <a:lnSpc>
                <a:spcPct val="105000"/>
              </a:lnSpc>
            </a:pPr>
            <a:r>
              <a:rPr sz="1000" b="1" dirty="0">
                <a:solidFill>
                  <a:srgbClr val="17191E"/>
                </a:solidFill>
                <a:latin typeface="Pretendard"/>
              </a:rPr>
              <a:t>(HWPX)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6100" y="6216480"/>
            <a:ext cx="2697480" cy="329184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846A0"/>
                </a:solidFill>
                <a:latin typeface="Pretendard"/>
              </a:rPr>
              <a:t>개정 요약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146100" y="6600528"/>
            <a:ext cx="2697480" cy="329184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846A0"/>
                </a:solidFill>
                <a:latin typeface="Pretendard"/>
              </a:rPr>
              <a:t>전문 조회 · 개정 전·후 비교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146100" y="6984576"/>
            <a:ext cx="2697480" cy="329184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846A0"/>
                </a:solidFill>
                <a:latin typeface="Pretendard"/>
              </a:rPr>
              <a:t>문서 인용 확인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46100" y="7368624"/>
            <a:ext cx="2697480" cy="329184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846A0"/>
                </a:solidFill>
                <a:latin typeface="Pretendard"/>
              </a:rPr>
              <a:t>보고서 내려받기</a:t>
            </a:r>
          </a:p>
        </p:txBody>
      </p:sp>
      <p:sp>
        <p:nvSpPr>
          <p:cNvPr id="7" name="Oval 6"/>
          <p:cNvSpPr/>
          <p:nvPr/>
        </p:nvSpPr>
        <p:spPr>
          <a:xfrm>
            <a:off x="420624" y="1459991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 dirty="0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34059A-6F1F-61C7-BBEE-9863B3588AC6}"/>
              </a:ext>
            </a:extLst>
          </p:cNvPr>
          <p:cNvSpPr txBox="1"/>
          <p:nvPr/>
        </p:nvSpPr>
        <p:spPr>
          <a:xfrm>
            <a:off x="608400" y="5806192"/>
            <a:ext cx="2506980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법령 개정 이력</a:t>
            </a:r>
          </a:p>
          <a:p>
            <a:pPr algn="ctr">
              <a:lnSpc>
                <a:spcPct val="105000"/>
              </a:lnSpc>
            </a:pPr>
            <a:r>
              <a:rPr lang="ko-KR" altLang="en-US" sz="12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데이터베이스</a:t>
            </a:r>
          </a:p>
        </p:txBody>
      </p:sp>
      <p:cxnSp>
        <p:nvCxnSpPr>
          <p:cNvPr id="91" name="Connector 21">
            <a:extLst>
              <a:ext uri="{FF2B5EF4-FFF2-40B4-BE49-F238E27FC236}">
                <a16:creationId xmlns:a16="http://schemas.microsoft.com/office/drawing/2014/main" id="{1119D728-AC4C-6D20-CD43-278FF777ED41}"/>
              </a:ext>
            </a:extLst>
          </p:cNvPr>
          <p:cNvCxnSpPr>
            <a:cxnSpLocks/>
          </p:cNvCxnSpPr>
          <p:nvPr/>
        </p:nvCxnSpPr>
        <p:spPr>
          <a:xfrm flipH="1">
            <a:off x="7670292" y="5548356"/>
            <a:ext cx="432816" cy="0"/>
          </a:xfrm>
          <a:prstGeom prst="line">
            <a:avLst/>
          </a:prstGeom>
          <a:ln w="19050">
            <a:solidFill>
              <a:srgbClr val="3C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22">
            <a:extLst>
              <a:ext uri="{FF2B5EF4-FFF2-40B4-BE49-F238E27FC236}">
                <a16:creationId xmlns:a16="http://schemas.microsoft.com/office/drawing/2014/main" id="{B98248BC-EA6E-F644-FC8A-F71583FC5EEC}"/>
              </a:ext>
            </a:extLst>
          </p:cNvPr>
          <p:cNvCxnSpPr>
            <a:cxnSpLocks/>
          </p:cNvCxnSpPr>
          <p:nvPr/>
        </p:nvCxnSpPr>
        <p:spPr>
          <a:xfrm>
            <a:off x="8103108" y="2112528"/>
            <a:ext cx="7698" cy="3443028"/>
          </a:xfrm>
          <a:prstGeom prst="line">
            <a:avLst/>
          </a:prstGeom>
          <a:ln w="19050">
            <a:solidFill>
              <a:srgbClr val="3C40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23">
            <a:extLst>
              <a:ext uri="{FF2B5EF4-FFF2-40B4-BE49-F238E27FC236}">
                <a16:creationId xmlns:a16="http://schemas.microsoft.com/office/drawing/2014/main" id="{70137523-803D-185F-D7CB-C79041017320}"/>
              </a:ext>
            </a:extLst>
          </p:cNvPr>
          <p:cNvCxnSpPr>
            <a:cxnSpLocks/>
          </p:cNvCxnSpPr>
          <p:nvPr/>
        </p:nvCxnSpPr>
        <p:spPr>
          <a:xfrm>
            <a:off x="8093964" y="2112528"/>
            <a:ext cx="757428" cy="0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5">
            <a:extLst>
              <a:ext uri="{FF2B5EF4-FFF2-40B4-BE49-F238E27FC236}">
                <a16:creationId xmlns:a16="http://schemas.microsoft.com/office/drawing/2014/main" id="{69C0F5E1-A07A-03A8-C1B7-9B035D57F6F1}"/>
              </a:ext>
            </a:extLst>
          </p:cNvPr>
          <p:cNvCxnSpPr/>
          <p:nvPr/>
        </p:nvCxnSpPr>
        <p:spPr>
          <a:xfrm>
            <a:off x="11658599" y="4254190"/>
            <a:ext cx="0" cy="393191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1" name="그림 100">
            <a:extLst>
              <a:ext uri="{FF2B5EF4-FFF2-40B4-BE49-F238E27FC236}">
                <a16:creationId xmlns:a16="http://schemas.microsoft.com/office/drawing/2014/main" id="{44EE58A5-EA2B-C603-21F7-EBC1596CE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0653" y="2433578"/>
            <a:ext cx="308347" cy="308347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8755B0D3-C320-D3A0-3627-D451C9604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1381" y="2427482"/>
            <a:ext cx="308347" cy="308347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A8FBBC79-EA6E-BE83-DD1B-5EF4D74FD4BA}"/>
              </a:ext>
            </a:extLst>
          </p:cNvPr>
          <p:cNvSpPr txBox="1"/>
          <p:nvPr/>
        </p:nvSpPr>
        <p:spPr>
          <a:xfrm>
            <a:off x="11204744" y="2391482"/>
            <a:ext cx="1110856" cy="40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조문 요약 에이전트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9B8EF-0C77-8330-CCE5-1F0FBC5CC33D}"/>
              </a:ext>
            </a:extLst>
          </p:cNvPr>
          <p:cNvSpPr txBox="1"/>
          <p:nvPr/>
        </p:nvSpPr>
        <p:spPr>
          <a:xfrm>
            <a:off x="9726528" y="2391482"/>
            <a:ext cx="911809" cy="40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신설</a:t>
            </a:r>
            <a:r>
              <a:rPr lang="en-US" altLang="ko-KR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 판정</a:t>
            </a:r>
          </a:p>
          <a:p>
            <a:pPr algn="ctr">
              <a:lnSpc>
                <a:spcPct val="105000"/>
              </a:lnSpc>
            </a:pPr>
            <a:r>
              <a:rPr lang="ko-KR" altLang="en-US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에이전트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E76123B-6CD4-3285-9B0D-ED8477613AFF}"/>
              </a:ext>
            </a:extLst>
          </p:cNvPr>
          <p:cNvSpPr txBox="1"/>
          <p:nvPr/>
        </p:nvSpPr>
        <p:spPr>
          <a:xfrm>
            <a:off x="12827376" y="2391482"/>
            <a:ext cx="1110856" cy="4062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lang="ko-KR" altLang="en-US" sz="100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법령 요약 에이전트</a:t>
            </a:r>
          </a:p>
        </p:txBody>
      </p:sp>
      <p:pic>
        <p:nvPicPr>
          <p:cNvPr id="115" name="그림 114">
            <a:extLst>
              <a:ext uri="{FF2B5EF4-FFF2-40B4-BE49-F238E27FC236}">
                <a16:creationId xmlns:a16="http://schemas.microsoft.com/office/drawing/2014/main" id="{DDF3567A-B9F4-6CC9-1953-CC52A3A36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8568" y="2438150"/>
            <a:ext cx="308347" cy="308347"/>
          </a:xfrm>
          <a:prstGeom prst="rect">
            <a:avLst/>
          </a:prstGeom>
        </p:spPr>
      </p:pic>
      <p:sp>
        <p:nvSpPr>
          <p:cNvPr id="117" name="Document 52">
            <a:extLst>
              <a:ext uri="{FF2B5EF4-FFF2-40B4-BE49-F238E27FC236}">
                <a16:creationId xmlns:a16="http://schemas.microsoft.com/office/drawing/2014/main" id="{151C80A0-F6D8-BF3D-B063-39D0C14225A9}"/>
              </a:ext>
            </a:extLst>
          </p:cNvPr>
          <p:cNvSpPr/>
          <p:nvPr/>
        </p:nvSpPr>
        <p:spPr>
          <a:xfrm>
            <a:off x="10895076" y="3549526"/>
            <a:ext cx="1389888" cy="585216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950" b="1" dirty="0">
                <a:solidFill>
                  <a:srgbClr val="17191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 보고서</a:t>
            </a:r>
            <a:endParaRPr sz="950" b="1" dirty="0">
              <a:solidFill>
                <a:srgbClr val="17191E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9" name="Down Arrow 53">
            <a:extLst>
              <a:ext uri="{FF2B5EF4-FFF2-40B4-BE49-F238E27FC236}">
                <a16:creationId xmlns:a16="http://schemas.microsoft.com/office/drawing/2014/main" id="{EBF961DD-2DD0-5643-971F-0982C127CCB4}"/>
              </a:ext>
            </a:extLst>
          </p:cNvPr>
          <p:cNvSpPr/>
          <p:nvPr/>
        </p:nvSpPr>
        <p:spPr>
          <a:xfrm>
            <a:off x="11411712" y="3139401"/>
            <a:ext cx="365760" cy="347472"/>
          </a:xfrm>
          <a:prstGeom prst="downArrow">
            <a:avLst/>
          </a:prstGeom>
          <a:solidFill>
            <a:srgbClr val="965AC8"/>
          </a:solidFill>
          <a:ln w="9525">
            <a:solidFill>
              <a:srgbClr val="96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64" name="Oval 63"/>
          <p:cNvSpPr/>
          <p:nvPr/>
        </p:nvSpPr>
        <p:spPr>
          <a:xfrm>
            <a:off x="9128076" y="4483342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5</a:t>
            </a:r>
          </a:p>
        </p:txBody>
      </p:sp>
      <p:cxnSp>
        <p:nvCxnSpPr>
          <p:cNvPr id="126" name="Connector 5">
            <a:extLst>
              <a:ext uri="{FF2B5EF4-FFF2-40B4-BE49-F238E27FC236}">
                <a16:creationId xmlns:a16="http://schemas.microsoft.com/office/drawing/2014/main" id="{4147BE6A-CEE0-0381-5853-9A061EF1B0BE}"/>
              </a:ext>
            </a:extLst>
          </p:cNvPr>
          <p:cNvCxnSpPr/>
          <p:nvPr/>
        </p:nvCxnSpPr>
        <p:spPr>
          <a:xfrm>
            <a:off x="11658599" y="5276377"/>
            <a:ext cx="0" cy="393191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23">
            <a:extLst>
              <a:ext uri="{FF2B5EF4-FFF2-40B4-BE49-F238E27FC236}">
                <a16:creationId xmlns:a16="http://schemas.microsoft.com/office/drawing/2014/main" id="{9B4A3E81-7035-5C87-DE50-EDD74CF9A598}"/>
              </a:ext>
            </a:extLst>
          </p:cNvPr>
          <p:cNvCxnSpPr>
            <a:cxnSpLocks/>
          </p:cNvCxnSpPr>
          <p:nvPr/>
        </p:nvCxnSpPr>
        <p:spPr>
          <a:xfrm>
            <a:off x="3403716" y="5541948"/>
            <a:ext cx="562032" cy="0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ounded Rectangle 40"/>
          <p:cNvSpPr/>
          <p:nvPr/>
        </p:nvSpPr>
        <p:spPr>
          <a:xfrm>
            <a:off x="11109960" y="2788920"/>
            <a:ext cx="3154680" cy="2697480"/>
          </a:xfrm>
          <a:prstGeom prst="roundRect">
            <a:avLst>
              <a:gd name="adj" fmla="val 4000"/>
            </a:avLst>
          </a:prstGeom>
          <a:noFill/>
          <a:ln w="31750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389120" y="5431536"/>
            <a:ext cx="5669280" cy="1060704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965A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89120" y="4096512"/>
            <a:ext cx="5669280" cy="1042415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2688336"/>
            <a:ext cx="5669280" cy="1115568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087368" y="1517904"/>
            <a:ext cx="6263640" cy="5669280"/>
          </a:xfrm>
          <a:prstGeom prst="roundRect">
            <a:avLst>
              <a:gd name="adj" fmla="val 4000"/>
            </a:avLst>
          </a:prstGeom>
          <a:noFill/>
          <a:ln w="31750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760" y="2788920"/>
            <a:ext cx="2971800" cy="2697480"/>
          </a:xfrm>
          <a:prstGeom prst="roundRect">
            <a:avLst>
              <a:gd name="adj" fmla="val 4000"/>
            </a:avLst>
          </a:prstGeom>
          <a:noFill/>
          <a:ln w="31750">
            <a:solidFill>
              <a:srgbClr val="967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val 1"/>
          <p:cNvSpPr/>
          <p:nvPr/>
        </p:nvSpPr>
        <p:spPr>
          <a:xfrm>
            <a:off x="320040" y="2395728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42316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191E"/>
                </a:solidFill>
                <a:latin typeface="Pretendard"/>
              </a:rPr>
              <a:t>감시 대상</a:t>
            </a:r>
          </a:p>
        </p:txBody>
      </p:sp>
      <p:sp>
        <p:nvSpPr>
          <p:cNvPr id="5" name="Document 4"/>
          <p:cNvSpPr/>
          <p:nvPr/>
        </p:nvSpPr>
        <p:spPr>
          <a:xfrm>
            <a:off x="877824" y="2962656"/>
            <a:ext cx="2286000" cy="694944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6" name="Document 5"/>
          <p:cNvSpPr/>
          <p:nvPr/>
        </p:nvSpPr>
        <p:spPr>
          <a:xfrm>
            <a:off x="795528" y="3044952"/>
            <a:ext cx="2286000" cy="694944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7" name="Document 6"/>
          <p:cNvSpPr/>
          <p:nvPr/>
        </p:nvSpPr>
        <p:spPr>
          <a:xfrm>
            <a:off x="713232" y="3127248"/>
            <a:ext cx="2286000" cy="694944"/>
          </a:xfrm>
          <a:prstGeom prst="flowChartDocument">
            <a:avLst/>
          </a:prstGeom>
          <a:solidFill>
            <a:srgbClr val="FDDEC8"/>
          </a:solidFill>
          <a:ln w="12700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7191E"/>
                </a:solidFill>
                <a:latin typeface="Pretendard"/>
              </a:rPr>
              <a:t>감시 대상 102건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09651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7191E"/>
                </a:solidFill>
                <a:latin typeface="Pretendard"/>
              </a:rPr>
              <a:t>· 법률 61 · 시행령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40740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7191E"/>
                </a:solidFill>
                <a:latin typeface="Pretendard"/>
              </a:rPr>
              <a:t>· 시행규칙 6 · 행정규칙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718304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7191E"/>
                </a:solidFill>
                <a:latin typeface="Pretendard"/>
              </a:rPr>
              <a:t>· 고유번호 + 일련번호 보관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29000" y="4114800"/>
            <a:ext cx="521208" cy="0"/>
          </a:xfrm>
          <a:prstGeom prst="line">
            <a:avLst/>
          </a:prstGeom>
          <a:ln w="2540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4041648" y="1115568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143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191E"/>
                </a:solidFill>
                <a:latin typeface="Pretendard"/>
              </a:rPr>
              <a:t>주 1회 자동 처리</a:t>
            </a:r>
          </a:p>
        </p:txBody>
      </p:sp>
      <p:sp>
        <p:nvSpPr>
          <p:cNvPr id="15" name="8-Point Star 14"/>
          <p:cNvSpPr/>
          <p:nvPr/>
        </p:nvSpPr>
        <p:spPr>
          <a:xfrm>
            <a:off x="5010912" y="1920240"/>
            <a:ext cx="274320" cy="274320"/>
          </a:xfrm>
          <a:prstGeom prst="star8">
            <a:avLst/>
          </a:prstGeom>
          <a:solidFill>
            <a:srgbClr val="F58220"/>
          </a:solidFill>
          <a:ln w="9525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76672" y="1828800"/>
            <a:ext cx="3611880" cy="566928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7191E"/>
                </a:solidFill>
                <a:latin typeface="Pretendard"/>
              </a:rPr>
              <a:t>① 개정 감지 — 일련번호 대조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187184" y="2395728"/>
            <a:ext cx="0" cy="292608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09160" y="2761488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② 전문 축적</a:t>
            </a:r>
          </a:p>
        </p:txBody>
      </p:sp>
      <p:sp>
        <p:nvSpPr>
          <p:cNvPr id="20" name="Can 19"/>
          <p:cNvSpPr/>
          <p:nvPr/>
        </p:nvSpPr>
        <p:spPr>
          <a:xfrm>
            <a:off x="6126480" y="2999232"/>
            <a:ext cx="2194560" cy="749808"/>
          </a:xfrm>
          <a:prstGeom prst="can">
            <a:avLst/>
          </a:prstGeom>
          <a:solidFill>
            <a:srgbClr val="CEE8CD"/>
          </a:solidFill>
          <a:ln w="15875">
            <a:solidFill>
              <a:srgbClr val="5A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법령 개정 이력</a:t>
            </a:r>
          </a:p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데이터베이스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87184" y="3803904"/>
            <a:ext cx="0" cy="292608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8-Point Star 22"/>
          <p:cNvSpPr/>
          <p:nvPr/>
        </p:nvSpPr>
        <p:spPr>
          <a:xfrm>
            <a:off x="4572000" y="4187952"/>
            <a:ext cx="274320" cy="274320"/>
          </a:xfrm>
          <a:prstGeom prst="star8">
            <a:avLst/>
          </a:prstGeom>
          <a:solidFill>
            <a:srgbClr val="F58220"/>
          </a:solidFill>
          <a:ln w="9525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9472" y="4169663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③ 조문 비교 — 위치 확정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4498848"/>
            <a:ext cx="1682496" cy="402336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표기 통일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1" y="4498848"/>
            <a:ext cx="1682496" cy="402336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항·호 분할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38744" y="4498848"/>
            <a:ext cx="1682496" cy="402336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950" b="1">
                <a:solidFill>
                  <a:srgbClr val="17191E"/>
                </a:solidFill>
                <a:latin typeface="Pretendard"/>
              </a:rPr>
              <a:t>미확정 기록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87184" y="5138928"/>
            <a:ext cx="0" cy="292608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8-Point Star 29"/>
          <p:cNvSpPr/>
          <p:nvPr/>
        </p:nvSpPr>
        <p:spPr>
          <a:xfrm>
            <a:off x="4572000" y="5522976"/>
            <a:ext cx="274320" cy="274320"/>
          </a:xfrm>
          <a:prstGeom prst="star8">
            <a:avLst/>
          </a:prstGeom>
          <a:solidFill>
            <a:srgbClr val="F58220"/>
          </a:solidFill>
          <a:ln w="9525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5504688"/>
            <a:ext cx="3108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④ 요약 — 역할을 나눈 LLM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7720" y="5815584"/>
            <a:ext cx="1755648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7191E"/>
                </a:solidFill>
                <a:latin typeface="Pretendard"/>
              </a:rPr>
              <a:t>대응 판정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19088" y="5815584"/>
            <a:ext cx="1755648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7191E"/>
                </a:solidFill>
                <a:latin typeface="Pretendard"/>
              </a:rPr>
              <a:t>조문 단위 요약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0456" y="5815584"/>
            <a:ext cx="1755648" cy="47548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875">
            <a:solidFill>
              <a:srgbClr val="E6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17191E"/>
                </a:solidFill>
                <a:latin typeface="Pretendard"/>
              </a:rPr>
              <a:t>법령 단위 개요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87184" y="6492240"/>
            <a:ext cx="0" cy="256032"/>
          </a:xfrm>
          <a:prstGeom prst="line">
            <a:avLst/>
          </a:prstGeom>
          <a:ln w="1905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8-Point Star 35"/>
          <p:cNvSpPr/>
          <p:nvPr/>
        </p:nvSpPr>
        <p:spPr>
          <a:xfrm>
            <a:off x="5010912" y="6839712"/>
            <a:ext cx="274320" cy="274320"/>
          </a:xfrm>
          <a:prstGeom prst="star8">
            <a:avLst/>
          </a:prstGeom>
          <a:solidFill>
            <a:srgbClr val="F58220"/>
          </a:solidFill>
          <a:ln w="9525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376672" y="6748272"/>
            <a:ext cx="3611880" cy="402336"/>
          </a:xfrm>
          <a:prstGeom prst="roundRect">
            <a:avLst>
              <a:gd name="adj" fmla="val 14000"/>
            </a:avLst>
          </a:prstGeom>
          <a:solidFill>
            <a:srgbClr val="FFC93C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⑤ 검증 — 프로그램이 원문과 대조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442448" y="4114800"/>
            <a:ext cx="530352" cy="0"/>
          </a:xfrm>
          <a:prstGeom prst="line">
            <a:avLst/>
          </a:prstGeom>
          <a:ln w="25400">
            <a:solidFill>
              <a:srgbClr val="3C4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11064240" y="2395728"/>
            <a:ext cx="365760" cy="365760"/>
          </a:xfrm>
          <a:prstGeom prst="ellipse">
            <a:avLst/>
          </a:prstGeom>
          <a:solidFill>
            <a:srgbClr val="E42F2F"/>
          </a:solidFill>
          <a:ln w="15875">
            <a:solidFill>
              <a:srgbClr val="E4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21440" y="2423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7191E"/>
                </a:solidFill>
                <a:latin typeface="Pretendard"/>
              </a:rPr>
              <a:t>담당자에게 제공</a:t>
            </a:r>
          </a:p>
        </p:txBody>
      </p:sp>
      <p:sp>
        <p:nvSpPr>
          <p:cNvPr id="42" name="Vertical Scroll 41"/>
          <p:cNvSpPr/>
          <p:nvPr/>
        </p:nvSpPr>
        <p:spPr>
          <a:xfrm>
            <a:off x="11384280" y="3063240"/>
            <a:ext cx="1280160" cy="1152144"/>
          </a:xfrm>
          <a:prstGeom prst="verticalScroll">
            <a:avLst/>
          </a:prstGeom>
          <a:solidFill>
            <a:srgbClr val="FDDEC8"/>
          </a:solidFill>
          <a:ln w="15875">
            <a:solidFill>
              <a:srgbClr val="3C4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주간</a:t>
            </a:r>
          </a:p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17191E"/>
                </a:solidFill>
                <a:latin typeface="Pretendard"/>
              </a:rPr>
              <a:t>보고서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0" y="3090672"/>
            <a:ext cx="1298448" cy="338328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846A0"/>
                </a:solidFill>
                <a:latin typeface="Pretendard"/>
              </a:rPr>
              <a:t>개정 요약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0" y="3493008"/>
            <a:ext cx="1298448" cy="338328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846A0"/>
                </a:solidFill>
                <a:latin typeface="Pretendard"/>
              </a:rPr>
              <a:t>전문 조회 · 비교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801600" y="3895344"/>
            <a:ext cx="1298448" cy="338328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 w="15875">
            <a:solidFill>
              <a:srgbClr val="3A6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1846A0"/>
                </a:solidFill>
                <a:latin typeface="Pretendard"/>
              </a:rPr>
              <a:t>문서 인용 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384280" y="4370832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17191E"/>
                </a:solidFill>
                <a:latin typeface="Pretendard"/>
              </a:rPr>
              <a:t>웹에서 확인하고</a:t>
            </a:r>
          </a:p>
          <a:p>
            <a:pPr algn="l">
              <a:lnSpc>
                <a:spcPct val="105000"/>
              </a:lnSpc>
            </a:pPr>
            <a:r>
              <a:rPr sz="1000" b="0">
                <a:solidFill>
                  <a:srgbClr val="17191E"/>
                </a:solidFill>
                <a:latin typeface="Pretendard"/>
              </a:rPr>
              <a:t>한글(HWPX) 보고서로 내려받음</a:t>
            </a:r>
          </a:p>
        </p:txBody>
      </p:sp>
      <p:sp>
        <p:nvSpPr>
          <p:cNvPr id="47" name="8-Point Star 46"/>
          <p:cNvSpPr/>
          <p:nvPr/>
        </p:nvSpPr>
        <p:spPr>
          <a:xfrm>
            <a:off x="11384280" y="5047488"/>
            <a:ext cx="182880" cy="182880"/>
          </a:xfrm>
          <a:prstGeom prst="star8">
            <a:avLst/>
          </a:prstGeom>
          <a:solidFill>
            <a:srgbClr val="F58220"/>
          </a:solidFill>
          <a:ln w="9525">
            <a:solidFill>
              <a:srgbClr val="F58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>
              <a:lnSpc>
                <a:spcPct val="105000"/>
              </a:lnSpc>
            </a:pPr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1640312" y="5038344"/>
            <a:ext cx="25603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6E7480"/>
                </a:solidFill>
                <a:latin typeface="Pretendard"/>
              </a:rPr>
              <a:t>별도 프로그램 설치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2858</TotalTime>
  <Words>278</Words>
  <Application>Microsoft Office PowerPoint</Application>
  <PresentationFormat>사용자 지정</PresentationFormat>
  <Paragraphs>80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Pretendard</vt:lpstr>
      <vt:lpstr>Arial</vt:lpstr>
      <vt:lpstr>Calibri</vt:lpstr>
      <vt:lpstr>맑은 고딕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서준원(대학원생-비즈니스IT전공)</cp:lastModifiedBy>
  <cp:revision>8</cp:revision>
  <dcterms:created xsi:type="dcterms:W3CDTF">2013-01-27T09:14:16Z</dcterms:created>
  <dcterms:modified xsi:type="dcterms:W3CDTF">2026-08-23T01:16:16Z</dcterms:modified>
  <cp:category/>
</cp:coreProperties>
</file>