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70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</p:sldIdLst>
  <p:sldSz cx="18288000" cy="10287000"/>
  <p:notesSz cx="6858000" cy="9144000"/>
  <p:embeddedFontLst>
    <p:embeddedFont>
      <p:font typeface="프리텐다드" panose="020B0600000101010101" charset="-127"/>
      <p:regular r:id="rId71"/>
    </p:embeddedFont>
    <p:embeddedFont>
      <p:font typeface="프리텐다드 Bold" panose="020B0600000101010101" charset="-127"/>
      <p:regular r:id="rId72"/>
    </p:embeddedFont>
    <p:embeddedFont>
      <p:font typeface="Pretendard SemiBold" panose="02000703000000020004" pitchFamily="2" charset="-127"/>
      <p:bold r:id="rId73"/>
    </p:embeddedFont>
    <p:embeddedFont>
      <p:font typeface="맑은 고딕" panose="020B0503020000020004" pitchFamily="50" charset="-127"/>
      <p:regular r:id="rId74"/>
      <p:bold r:id="rId7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1" d="100"/>
          <a:sy n="101" d="100"/>
        </p:scale>
        <p:origin x="65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70" Type="http://schemas.openxmlformats.org/officeDocument/2006/relationships/notesMaster" Target="notesMasters/notesMaster1.xml"/><Relationship Id="rId71" Type="http://schemas.openxmlformats.org/officeDocument/2006/relationships/font" Target="fonts/font1.fntdata"/><Relationship Id="rId72" Type="http://schemas.openxmlformats.org/officeDocument/2006/relationships/font" Target="fonts/font2.fntdata"/><Relationship Id="rId73" Type="http://schemas.openxmlformats.org/officeDocument/2006/relationships/font" Target="fonts/font3.fntdata"/><Relationship Id="rId74" Type="http://schemas.openxmlformats.org/officeDocument/2006/relationships/font" Target="fonts/font4.fntdata"/><Relationship Id="rId75" Type="http://schemas.openxmlformats.org/officeDocument/2006/relationships/font" Target="fonts/font5.fntdata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C5A1D-2CE7-479A-8854-AA8320BDD488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338380-A593-46E4-A533-F43A82C3D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573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017C1-49CE-427D-B9B6-47AC41D41349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7EF6-391B-4B50-8E00-D0035522ACB9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0D33-F54C-4D9A-8349-2089C3B9ECAD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>
            <a:lvl1pPr>
              <a:defRPr b="1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b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5982A-B14A-412C-B057-B0723FF26973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3280B-A909-41C7-AEA1-828BD9C0F77C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19CC-4D81-4777-BD4C-E397EF00C62A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6002000" y="9791700"/>
            <a:ext cx="2133600" cy="365125"/>
          </a:xfrm>
        </p:spPr>
        <p:txBody>
          <a:bodyPr/>
          <a:lstStyle>
            <a:lvl1pPr>
              <a:defRPr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F1D60-EAD9-46B1-9C4B-8C05046F9491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468600" y="9715500"/>
            <a:ext cx="2743200" cy="4413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프리텐다드 Bold" panose="020B0600000101010101" charset="-127"/>
                <a:ea typeface="프리텐다드 Bold" panose="020B0600000101010101" charset="-127"/>
                <a:cs typeface="프리텐다드 Bold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sz="16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BB15-7B69-4EF9-8EA0-FC298382E2CD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309CC-F1B9-4BFC-9B8A-1FD4749685BA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1B87-24BB-4714-AA95-17F2E63B2A94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38DDD-1018-4EB9-9D6E-805B595CA454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3A149-1791-424B-8657-493E85CF2F44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301752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33333"/>
                </a:solidFill>
                <a:latin typeface="프리텐다드 Bold"/>
              </a:rPr>
              <a:t>무엇이, 어디가 바뀌었는지까지 알려주는 법령 개정 감지 서비스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3840480"/>
            <a:ext cx="9144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454CDF"/>
                </a:solidFill>
                <a:latin typeface="프리텐다드 Bold"/>
              </a:rPr>
              <a:t>개정알리미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63550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33333"/>
                </a:solidFill>
                <a:latin typeface="프리텐다드 Bold"/>
              </a:rPr>
              <a:t>규칙 기반 개정 감지 · 조문 위치 확정 · LLM 멀티에이전트(MAS) 기반 구조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7004304"/>
            <a:ext cx="2322576" cy="585216"/>
          </a:xfrm>
          <a:prstGeom prst="roundRect">
            <a:avLst>
              <a:gd name="adj" fmla="val 3000"/>
            </a:avLst>
          </a:prstGeom>
          <a:solidFill>
            <a:srgbClr val="EE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4128" y="7004304"/>
            <a:ext cx="232257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484BEF"/>
                </a:solidFill>
                <a:latin typeface="프리텐다드 Bold"/>
              </a:rPr>
              <a:t>법인사이트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79024" y="2514600"/>
            <a:ext cx="7315200" cy="6400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5B5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79024" y="53949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737373"/>
                </a:solidFill>
                <a:latin typeface="프리텐다드"/>
              </a:rPr>
              <a:t>[서비스 화면 목업 자리]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35024" y="713232"/>
            <a:ext cx="65745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952" b="1">
                <a:solidFill>
                  <a:srgbClr val="333333"/>
                </a:solidFill>
                <a:latin typeface="프리텐다드 Bold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75104" y="225856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13" b="1">
                <a:solidFill>
                  <a:srgbClr val="454CDF"/>
                </a:solidFill>
                <a:latin typeface="프리텐다드 Bol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78608" y="2276856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66" b="1">
                <a:solidFill>
                  <a:srgbClr val="333333"/>
                </a:solidFill>
                <a:latin typeface="프리텐다드 Bold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6896" y="2825496"/>
            <a:ext cx="60350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1.1 활용 데이터</a:t>
            </a:r>
          </a:p>
          <a:p>
            <a:pPr algn="l">
              <a:lnSpc>
                <a:spcPct val="132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1.2 과제 배경</a:t>
            </a:r>
          </a:p>
          <a:p>
            <a:pPr algn="l">
              <a:lnSpc>
                <a:spcPct val="132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1.3 현행 확인 방식</a:t>
            </a:r>
          </a:p>
          <a:p>
            <a:pPr algn="l">
              <a:lnSpc>
                <a:spcPct val="132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1.4 요구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5104" y="463600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13" b="1">
                <a:solidFill>
                  <a:srgbClr val="454CDF"/>
                </a:solidFill>
                <a:latin typeface="프리텐다드 Bold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8608" y="4654296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66" b="1">
                <a:solidFill>
                  <a:srgbClr val="333333"/>
                </a:solidFill>
                <a:latin typeface="프리텐다드 Bold"/>
              </a:rPr>
              <a:t>제안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6896" y="5202936"/>
            <a:ext cx="60350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2.1 전체 처리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5104" y="701344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13" b="1">
                <a:solidFill>
                  <a:srgbClr val="454CDF"/>
                </a:solidFill>
                <a:latin typeface="프리텐다드 Bold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7031736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66" b="1">
                <a:solidFill>
                  <a:srgbClr val="333333"/>
                </a:solidFill>
                <a:latin typeface="프리텐다드 Bold"/>
              </a:rPr>
              <a:t>구현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896" y="7580375"/>
            <a:ext cx="60350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3.1 개정 감지</a:t>
            </a:r>
          </a:p>
          <a:p>
            <a:pPr algn="l">
              <a:lnSpc>
                <a:spcPct val="132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3.2 조문 위치 확정</a:t>
            </a:r>
          </a:p>
          <a:p>
            <a:pPr algn="l">
              <a:lnSpc>
                <a:spcPct val="132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3.3 단일 LLM 적용의 한계</a:t>
            </a:r>
          </a:p>
          <a:p>
            <a:pPr algn="l">
              <a:lnSpc>
                <a:spcPct val="132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3.4 에이전트 도입 배경</a:t>
            </a:r>
          </a:p>
          <a:p>
            <a:pPr algn="l">
              <a:lnSpc>
                <a:spcPct val="132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3.5 멀티 에이전트 구성</a:t>
            </a:r>
          </a:p>
          <a:p>
            <a:pPr algn="l">
              <a:lnSpc>
                <a:spcPct val="132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3.6 자체 검증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4472" y="225856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13" b="1">
                <a:solidFill>
                  <a:srgbClr val="454CDF"/>
                </a:solidFill>
                <a:latin typeface="프리텐다드 Bold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7976" y="2276856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66" b="1">
                <a:solidFill>
                  <a:srgbClr val="333333"/>
                </a:solidFill>
                <a:latin typeface="프리텐다드 Bold"/>
              </a:rPr>
              <a:t>시연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56264" y="2825496"/>
            <a:ext cx="60350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4.1 서비스 시연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4472" y="463600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13" b="1">
                <a:solidFill>
                  <a:srgbClr val="454CDF"/>
                </a:solidFill>
                <a:latin typeface="프리텐다드 Bold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37976" y="4654296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66" b="1">
                <a:solidFill>
                  <a:srgbClr val="333333"/>
                </a:solidFill>
                <a:latin typeface="프리텐다드 Bold"/>
              </a:rPr>
              <a:t>결과 및 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56264" y="5202936"/>
            <a:ext cx="60350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5.1 업무 개선 효과</a:t>
            </a:r>
          </a:p>
          <a:p>
            <a:pPr algn="l">
              <a:lnSpc>
                <a:spcPct val="132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5.2 검증 결과</a:t>
            </a:r>
          </a:p>
          <a:p>
            <a:pPr algn="l">
              <a:lnSpc>
                <a:spcPct val="132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5.3 원내 적용 및 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4472" y="701344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13" b="1">
                <a:solidFill>
                  <a:srgbClr val="454CDF"/>
                </a:solidFill>
                <a:latin typeface="프리텐다드 Bold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37976" y="7031736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66" b="1">
                <a:solidFill>
                  <a:srgbClr val="333333"/>
                </a:solidFill>
                <a:latin typeface="프리텐다드 Bold"/>
              </a:rPr>
              <a:t>결론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56264" y="7580375"/>
            <a:ext cx="60350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6.1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402336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1.</a:t>
            </a:r>
          </a:p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5394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30" b="1">
                <a:solidFill>
                  <a:srgbClr val="737373"/>
                </a:solidFill>
                <a:latin typeface="프리텐다드 Bold"/>
              </a:rPr>
              <a:t>1.1 활용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1792224"/>
            <a:ext cx="1417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52" b="1">
                <a:solidFill>
                  <a:srgbClr val="333333"/>
                </a:solidFill>
                <a:latin typeface="프리텐다드 Bold"/>
              </a:rPr>
              <a:t>국가법령정보센터 공개 데이터 기반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864" y="2670048"/>
            <a:ext cx="1508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0">
                <a:solidFill>
                  <a:srgbClr val="333333"/>
                </a:solidFill>
                <a:latin typeface="프리텐다드"/>
              </a:rPr>
              <a:t>외부 구매 데이터 없이 공공 개방 데이터와 기관 제공 목록만으로 구축함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" y="3931920"/>
            <a:ext cx="4892040" cy="429768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609344" y="42976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19" b="1">
                <a:solidFill>
                  <a:srgbClr val="484BEF"/>
                </a:solidFill>
                <a:latin typeface="프리텐다드 Bold"/>
              </a:rPr>
              <a:t>수집 원천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9344" y="4937760"/>
            <a:ext cx="41148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국가법령정보센터 Open API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· 법령 현행 버전 · 일련번호</a:t>
            </a:r>
          </a:p>
          <a:p>
            <a:pPr algn="l">
              <a:lnSpc>
                <a:spcPct val="130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· 조문 단위 원문</a:t>
            </a:r>
          </a:p>
          <a:p>
            <a:pPr algn="l">
              <a:lnSpc>
                <a:spcPct val="130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· 개정 전·후 대조 자료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01383" y="3931920"/>
            <a:ext cx="4892040" cy="429768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12864" y="42976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19" b="1">
                <a:solidFill>
                  <a:srgbClr val="484BEF"/>
                </a:solidFill>
                <a:latin typeface="프리텐다드 Bold"/>
              </a:rPr>
              <a:t>감시 대상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2864" y="4937760"/>
            <a:ext cx="41148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한국사회보장정보원 제공 목록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· 법률 61 · 시행령 9</a:t>
            </a:r>
          </a:p>
          <a:p>
            <a:pPr algn="l">
              <a:lnSpc>
                <a:spcPct val="130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· 시행규칙 6 · 행정규칙 26</a:t>
            </a:r>
          </a:p>
          <a:p>
            <a:pPr algn="l">
              <a:lnSpc>
                <a:spcPct val="130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· 합계 102건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04904" y="3931920"/>
            <a:ext cx="4892040" cy="429768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216384" y="42976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19" b="1">
                <a:solidFill>
                  <a:srgbClr val="484BEF"/>
                </a:solidFill>
                <a:latin typeface="프리텐다드 Bold"/>
              </a:rPr>
              <a:t>구축 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16384" y="4937760"/>
            <a:ext cx="41148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수집·가공 결과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· 법령 원문 201건</a:t>
            </a:r>
          </a:p>
          <a:p>
            <a:pPr algn="l">
              <a:lnSpc>
                <a:spcPct val="130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· 개정 이력 106건(2021~2026)</a:t>
            </a:r>
          </a:p>
          <a:p>
            <a:pPr algn="l">
              <a:lnSpc>
                <a:spcPct val="130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· 조문 변경 1,073건 · 요약 80건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4408" y="8750808"/>
            <a:ext cx="11759184" cy="566928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38728" y="8750808"/>
            <a:ext cx="112105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47" b="0">
                <a:solidFill>
                  <a:srgbClr val="000000"/>
                </a:solidFill>
                <a:latin typeface="프리텐다드"/>
              </a:rPr>
              <a:t>검증용으로 실제 공공기관 문서 3건(총 848쪽)을 별도 확보함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9555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프리텐다드"/>
              </a:rPr>
              <a:t>출처 : 국가법령정보센터 Open API(law.go.kr), 한국사회보장정보원 제공 감시 대상 목록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402336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1.</a:t>
            </a:r>
          </a:p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5394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30" b="1">
                <a:solidFill>
                  <a:srgbClr val="737373"/>
                </a:solidFill>
                <a:latin typeface="프리텐다드 Bold"/>
              </a:rPr>
              <a:t>1.2 과제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1792224"/>
            <a:ext cx="1417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52" b="1">
                <a:solidFill>
                  <a:srgbClr val="333333"/>
                </a:solidFill>
                <a:latin typeface="프리텐다드 Bold"/>
              </a:rPr>
              <a:t>기관 업무의 근거가 되는 법령·행정규칙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864" y="2670048"/>
            <a:ext cx="1508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0">
                <a:solidFill>
                  <a:srgbClr val="333333"/>
                </a:solidFill>
                <a:latin typeface="프리텐다드"/>
              </a:rPr>
              <a:t>한국사회보장정보원의 업무는 사회보장기본법을 정점으로 하는 다부처 소관 법령을 근거로 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" y="4114800"/>
            <a:ext cx="15087600" cy="1170432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691640" y="4114800"/>
            <a:ext cx="365760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1">
                <a:solidFill>
                  <a:srgbClr val="484BEF"/>
                </a:solidFill>
                <a:latin typeface="프리텐다드 Bold"/>
              </a:rPr>
              <a:t>사회보장 관련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4114800"/>
            <a:ext cx="1024128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48" b="0">
                <a:solidFill>
                  <a:srgbClr val="000000"/>
                </a:solidFill>
                <a:latin typeface="프리텐다드"/>
              </a:rPr>
              <a:t>사회보험 · 공공부조 · 사회서비스 법령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97864" y="5532120"/>
            <a:ext cx="15087600" cy="1170432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691640" y="5532120"/>
            <a:ext cx="365760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1">
                <a:solidFill>
                  <a:srgbClr val="484BEF"/>
                </a:solidFill>
                <a:latin typeface="프리텐다드 Bold"/>
              </a:rPr>
              <a:t>기관 운영 관련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5532120"/>
            <a:ext cx="1024128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48" b="0">
                <a:solidFill>
                  <a:srgbClr val="000000"/>
                </a:solidFill>
                <a:latin typeface="프리텐다드"/>
              </a:rPr>
              <a:t>계약 · 정보보호 · 정보화 등 기관 운영 법령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97864" y="6949440"/>
            <a:ext cx="15087600" cy="1170432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691640" y="6949440"/>
            <a:ext cx="365760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1">
                <a:solidFill>
                  <a:srgbClr val="484BEF"/>
                </a:solidFill>
                <a:latin typeface="프리텐다드 Bold"/>
              </a:rPr>
              <a:t>소관 부처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6949440"/>
            <a:ext cx="1024128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48" b="0">
                <a:solidFill>
                  <a:srgbClr val="000000"/>
                </a:solidFill>
                <a:latin typeface="프리텐다드"/>
              </a:rPr>
              <a:t>보건복지부 외 다부처 — 개정 시점이 제각각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4408" y="8750808"/>
            <a:ext cx="11759184" cy="566928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38728" y="8750808"/>
            <a:ext cx="112105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47" b="0">
                <a:solidFill>
                  <a:srgbClr val="000000"/>
                </a:solidFill>
                <a:latin typeface="프리텐다드"/>
              </a:rPr>
              <a:t>상위법 한 건이 개정되면 시행령·시행규칙·행정규칙까지 연쇄적으로 변경됨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402336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1.</a:t>
            </a:r>
          </a:p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5394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30" b="1">
                <a:solidFill>
                  <a:srgbClr val="737373"/>
                </a:solidFill>
                <a:latin typeface="프리텐다드 Bold"/>
              </a:rPr>
              <a:t>1.3 현행 확인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1792224"/>
            <a:ext cx="1417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52" b="1">
                <a:solidFill>
                  <a:srgbClr val="333333"/>
                </a:solidFill>
                <a:latin typeface="프리텐다드 Bold"/>
              </a:rPr>
              <a:t>사람이 102건을 하나씩 대조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864" y="2670048"/>
            <a:ext cx="1508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0">
                <a:solidFill>
                  <a:srgbClr val="333333"/>
                </a:solidFill>
                <a:latin typeface="프리텐다드"/>
              </a:rPr>
              <a:t>담당자가 국가법령정보센터에서 법령을 개별 검색하여 직접 대조하고 있음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" y="4023360"/>
            <a:ext cx="7315200" cy="420624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700784" y="44348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19" b="1">
                <a:solidFill>
                  <a:srgbClr val="484BEF"/>
                </a:solidFill>
                <a:latin typeface="프리텐다드 Bold"/>
              </a:rPr>
              <a:t>소요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784" y="521208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333333"/>
                </a:solidFill>
                <a:latin typeface="프리텐다드 Bold"/>
              </a:rPr>
              <a:t>주 8시간 30분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784" y="658368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· 법령 1건당 조회 · 비교 · 기록에 약 5분</a:t>
            </a:r>
          </a:p>
          <a:p>
            <a:pPr algn="l">
              <a:lnSpc>
                <a:spcPct val="135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· 102건 × 5분 ≈ 510분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9408" y="4023360"/>
            <a:ext cx="7315200" cy="420624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482328" y="44348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19" b="1">
                <a:solidFill>
                  <a:srgbClr val="484BEF"/>
                </a:solidFill>
                <a:latin typeface="프리텐다드 Bold"/>
              </a:rPr>
              <a:t>확인이 밀리면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82328" y="521208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2048" b="0">
                <a:solidFill>
                  <a:srgbClr val="000000"/>
                </a:solidFill>
                <a:latin typeface="프리텐다드"/>
              </a:rPr>
              <a:t>· 구법 기준으로 문서가 작성·배포됨</a:t>
            </a:r>
          </a:p>
          <a:p>
            <a:pPr algn="l">
              <a:lnSpc>
                <a:spcPct val="155000"/>
              </a:lnSpc>
            </a:pPr>
            <a:r>
              <a:rPr sz="2048" b="0">
                <a:solidFill>
                  <a:srgbClr val="000000"/>
                </a:solidFill>
                <a:latin typeface="프리텐다드"/>
              </a:rPr>
              <a:t>· 배포한 문서를 회수하거나 정정해야 함</a:t>
            </a:r>
          </a:p>
          <a:p>
            <a:pPr algn="l">
              <a:lnSpc>
                <a:spcPct val="155000"/>
              </a:lnSpc>
            </a:pPr>
            <a:r>
              <a:rPr sz="2048" b="0">
                <a:solidFill>
                  <a:srgbClr val="000000"/>
                </a:solidFill>
                <a:latin typeface="프리텐다드"/>
              </a:rPr>
              <a:t>· 확인 주기가 담당자 사정에 좌우됨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4408" y="8750808"/>
            <a:ext cx="11759184" cy="566928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38728" y="8750808"/>
            <a:ext cx="112105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47" b="0">
                <a:solidFill>
                  <a:srgbClr val="000000"/>
                </a:solidFill>
                <a:latin typeface="프리텐다드"/>
              </a:rPr>
              <a:t>확인의 지연·누락이 곧 업무 위험으로 이어지는 구조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402336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1.</a:t>
            </a:r>
          </a:p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5394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30" b="1">
                <a:solidFill>
                  <a:srgbClr val="737373"/>
                </a:solidFill>
                <a:latin typeface="프리텐다드 Bold"/>
              </a:rPr>
              <a:t>1.4 요구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1792224"/>
            <a:ext cx="1417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52" b="1">
                <a:solidFill>
                  <a:srgbClr val="333333"/>
                </a:solidFill>
                <a:latin typeface="프리텐다드 Bold"/>
              </a:rPr>
              <a:t>자동화에 필요한 네 가지 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864" y="2670048"/>
            <a:ext cx="1508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0">
                <a:solidFill>
                  <a:srgbClr val="333333"/>
                </a:solidFill>
                <a:latin typeface="프리텐다드"/>
              </a:rPr>
              <a:t>현행 방식의 문제를 해소하기 위해 다음 네 가지를 설계 조건으로 설정함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" y="4023360"/>
            <a:ext cx="3611880" cy="393192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563624" y="4389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454CDF"/>
                </a:solidFill>
                <a:latin typeface="프리텐다드 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3624" y="50292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19" b="1">
                <a:solidFill>
                  <a:srgbClr val="333333"/>
                </a:solidFill>
                <a:latin typeface="프리텐다드 Bold"/>
              </a:rPr>
              <a:t>자동 감지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3624" y="580644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사람이 확인하지 않아도</a:t>
            </a:r>
          </a:p>
          <a:p>
            <a:pPr algn="l">
              <a:lnSpc>
                <a:spcPct val="135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개정을 포착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9783" y="4023360"/>
            <a:ext cx="3611880" cy="393192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95544" y="4389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454CDF"/>
                </a:solidFill>
                <a:latin typeface="프리텐다드 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95544" y="50292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19" b="1">
                <a:solidFill>
                  <a:srgbClr val="333333"/>
                </a:solidFill>
                <a:latin typeface="프리텐다드 Bold"/>
              </a:rPr>
              <a:t>조문 위치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5544" y="580644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몇 조 몇 항이 바뀌었는지</a:t>
            </a:r>
          </a:p>
          <a:p>
            <a:pPr algn="l">
              <a:lnSpc>
                <a:spcPct val="135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까지 제시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1704" y="4023360"/>
            <a:ext cx="3611880" cy="393192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427464" y="4389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454CDF"/>
                </a:solidFill>
                <a:latin typeface="프리텐다드 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7464" y="50292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19" b="1">
                <a:solidFill>
                  <a:srgbClr val="333333"/>
                </a:solidFill>
                <a:latin typeface="프리텐다드 Bold"/>
              </a:rPr>
              <a:t>상시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7464" y="580644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정기 실행을 기다리지 않고</a:t>
            </a:r>
          </a:p>
          <a:p>
            <a:pPr algn="l">
              <a:lnSpc>
                <a:spcPct val="135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필요 시 조회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993624" y="4023360"/>
            <a:ext cx="3611880" cy="393192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359384" y="4389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454CDF"/>
                </a:solidFill>
                <a:latin typeface="프리텐다드 Bol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9384" y="50292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19" b="1">
                <a:solidFill>
                  <a:srgbClr val="333333"/>
                </a:solidFill>
                <a:latin typeface="프리텐다드 Bold"/>
              </a:rPr>
              <a:t>원내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9384" y="580644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외부 서비스에 업무 문서를</a:t>
            </a:r>
          </a:p>
          <a:p>
            <a:pPr algn="l">
              <a:lnSpc>
                <a:spcPct val="135000"/>
              </a:lnSpc>
            </a:pPr>
            <a:r>
              <a:rPr sz="1898" b="0">
                <a:solidFill>
                  <a:srgbClr val="000000"/>
                </a:solidFill>
                <a:latin typeface="프리텐다드"/>
              </a:rPr>
              <a:t>올리지 않음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64408" y="8750808"/>
            <a:ext cx="11759184" cy="566928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538728" y="8750808"/>
            <a:ext cx="112105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47" b="0">
                <a:solidFill>
                  <a:srgbClr val="000000"/>
                </a:solidFill>
                <a:latin typeface="프리텐다드"/>
              </a:rPr>
              <a:t>네 조건을 모두 충족하는 체계를 설계·구현함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402336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2.</a:t>
            </a:r>
          </a:p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5394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30" b="1">
                <a:solidFill>
                  <a:srgbClr val="737373"/>
                </a:solidFill>
                <a:latin typeface="프리텐다드 Bold"/>
              </a:rPr>
              <a:t>2.1 전체 처리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1463040"/>
            <a:ext cx="1417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52" b="1">
                <a:solidFill>
                  <a:srgbClr val="333333"/>
                </a:solidFill>
                <a:latin typeface="프리텐다드 Bold"/>
              </a:rPr>
              <a:t>전체 처리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864" y="2103120"/>
            <a:ext cx="1508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737373"/>
                </a:solidFill>
                <a:latin typeface="프리텐다드 Bold"/>
              </a:rPr>
              <a:t>규칙 기반 개정 감지 · 조문 위치 확정 · LLM 멀티에이전트(MAS) 기반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" y="2743200"/>
            <a:ext cx="15910559" cy="5760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5B5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97864" y="5440680"/>
            <a:ext cx="159105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737373"/>
                </a:solidFill>
                <a:latin typeface="프리텐다드"/>
              </a:rPr>
              <a:t>[그림 1] 전체 처리 구조 — 직접 삽입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402336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3.</a:t>
            </a:r>
          </a:p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5394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30" b="1">
                <a:solidFill>
                  <a:srgbClr val="737373"/>
                </a:solidFill>
                <a:latin typeface="프리텐다드 Bold"/>
              </a:rPr>
              <a:t>3.1 개정 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1792224"/>
            <a:ext cx="1417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52" b="1">
                <a:solidFill>
                  <a:srgbClr val="333333"/>
                </a:solidFill>
                <a:latin typeface="프리텐다드 Bold"/>
              </a:rPr>
              <a:t>일련번호 대조로 개정 여부 판정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864" y="2670048"/>
            <a:ext cx="1508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0">
                <a:solidFill>
                  <a:srgbClr val="333333"/>
                </a:solidFill>
                <a:latin typeface="프리텐다드"/>
              </a:rPr>
              <a:t>원문을 비교하지 않고 번호 하나로 개정 여부를 가려냄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" y="3931920"/>
            <a:ext cx="3017520" cy="960120"/>
          </a:xfrm>
          <a:prstGeom prst="roundRect">
            <a:avLst>
              <a:gd name="adj" fmla="val 14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25880" y="3931920"/>
            <a:ext cx="2761487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0000"/>
                </a:solidFill>
                <a:latin typeface="프리텐다드 Bold"/>
              </a:rPr>
              <a:t>감시 대상</a:t>
            </a:r>
          </a:p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0000"/>
                </a:solidFill>
                <a:latin typeface="프리텐다드 Bold"/>
              </a:rPr>
              <a:t>102건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06824" y="4407408"/>
            <a:ext cx="356616" cy="0"/>
          </a:xfrm>
          <a:prstGeom prst="line">
            <a:avLst/>
          </a:prstGeom>
          <a:ln w="25400">
            <a:solidFill>
              <a:srgbClr val="888C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54880" y="3931920"/>
            <a:ext cx="3291840" cy="960120"/>
          </a:xfrm>
          <a:prstGeom prst="roundRect">
            <a:avLst>
              <a:gd name="adj" fmla="val 14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82896" y="3931920"/>
            <a:ext cx="30358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000000"/>
                </a:solidFill>
                <a:latin typeface="프리텐다드"/>
              </a:rPr>
              <a:t>법령명으로 조회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38160" y="4407408"/>
            <a:ext cx="1097280" cy="0"/>
          </a:xfrm>
          <a:prstGeom prst="line">
            <a:avLst/>
          </a:prstGeom>
          <a:ln w="25400">
            <a:solidFill>
              <a:srgbClr val="888C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326880" y="3931920"/>
            <a:ext cx="3291840" cy="960120"/>
          </a:xfrm>
          <a:prstGeom prst="roundRect">
            <a:avLst>
              <a:gd name="adj" fmla="val 14000"/>
            </a:avLst>
          </a:prstGeom>
          <a:solidFill>
            <a:srgbClr val="EE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54896" y="3931920"/>
            <a:ext cx="30358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484BEF"/>
                </a:solidFill>
                <a:latin typeface="프리텐다드 Bold"/>
              </a:rPr>
              <a:t>현재 일련번호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350240" y="3931920"/>
            <a:ext cx="3291840" cy="960120"/>
          </a:xfrm>
          <a:prstGeom prst="roundRect">
            <a:avLst>
              <a:gd name="adj" fmla="val 14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478256" y="3931920"/>
            <a:ext cx="30358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0000"/>
                </a:solidFill>
                <a:latin typeface="프리텐다드 Bold"/>
              </a:rPr>
              <a:t>보관 중인 번호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502920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>
                <a:solidFill>
                  <a:srgbClr val="737373"/>
                </a:solidFill>
                <a:latin typeface="프리텐다드"/>
              </a:rPr>
              <a:t>보관 번호로 조회하면 그 버전만 회신되어</a:t>
            </a:r>
          </a:p>
          <a:p>
            <a:pPr algn="ctr">
              <a:lnSpc>
                <a:spcPct val="125000"/>
              </a:lnSpc>
            </a:pPr>
            <a:r>
              <a:rPr sz="1350" b="0">
                <a:solidFill>
                  <a:srgbClr val="737373"/>
                </a:solidFill>
                <a:latin typeface="프리텐다드"/>
              </a:rPr>
              <a:t>새 번호가 생겼는지 알 수 없음</a:t>
            </a:r>
          </a:p>
        </p:txBody>
      </p:sp>
      <p:sp>
        <p:nvSpPr>
          <p:cNvPr id="17" name="Decision 16"/>
          <p:cNvSpPr/>
          <p:nvPr/>
        </p:nvSpPr>
        <p:spPr>
          <a:xfrm>
            <a:off x="11247120" y="5440680"/>
            <a:ext cx="3474720" cy="1874519"/>
          </a:xfrm>
          <a:prstGeom prst="flowChartDecision">
            <a:avLst/>
          </a:prstGeom>
          <a:solidFill>
            <a:srgbClr val="484BEF"/>
          </a:solidFill>
          <a:ln>
            <a:solidFill>
              <a:srgbClr val="484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1440" y="5440680"/>
            <a:ext cx="2926079" cy="1874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프리텐다드 Bold"/>
              </a:rPr>
              <a:t>같은가?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972800" y="4892040"/>
            <a:ext cx="1188720" cy="868680"/>
          </a:xfrm>
          <a:prstGeom prst="line">
            <a:avLst/>
          </a:prstGeom>
          <a:ln w="25400">
            <a:solidFill>
              <a:srgbClr val="888C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3807440" y="4892040"/>
            <a:ext cx="1188719" cy="868680"/>
          </a:xfrm>
          <a:prstGeom prst="line">
            <a:avLst/>
          </a:prstGeom>
          <a:ln w="25400">
            <a:solidFill>
              <a:srgbClr val="888C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95360" y="7635240"/>
            <a:ext cx="3840480" cy="822960"/>
          </a:xfrm>
          <a:prstGeom prst="roundRect">
            <a:avLst>
              <a:gd name="adj" fmla="val 14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723376" y="7635240"/>
            <a:ext cx="35844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737373"/>
                </a:solidFill>
                <a:latin typeface="프리텐다드"/>
              </a:rPr>
              <a:t>같음 — 변경 없음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075920" y="7635240"/>
            <a:ext cx="4023360" cy="822960"/>
          </a:xfrm>
          <a:prstGeom prst="roundRect">
            <a:avLst>
              <a:gd name="adj" fmla="val 14000"/>
            </a:avLst>
          </a:prstGeom>
          <a:solidFill>
            <a:srgbClr val="EE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203936" y="7635240"/>
            <a:ext cx="376732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484BEF"/>
                </a:solidFill>
                <a:latin typeface="프리텐다드 Bold"/>
              </a:rPr>
              <a:t>다름 — 개정 판정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1155680" y="6949440"/>
            <a:ext cx="1005840" cy="640080"/>
          </a:xfrm>
          <a:prstGeom prst="line">
            <a:avLst/>
          </a:prstGeom>
          <a:ln w="25400">
            <a:solidFill>
              <a:srgbClr val="888C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3807440" y="6949440"/>
            <a:ext cx="1005840" cy="640080"/>
          </a:xfrm>
          <a:prstGeom prst="line">
            <a:avLst/>
          </a:prstGeom>
          <a:ln w="25400">
            <a:solidFill>
              <a:srgbClr val="888C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264408" y="8750808"/>
            <a:ext cx="11759184" cy="566928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538728" y="8750808"/>
            <a:ext cx="112105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47" b="0">
                <a:solidFill>
                  <a:srgbClr val="000000"/>
                </a:solidFill>
                <a:latin typeface="프리텐다드"/>
              </a:rPr>
              <a:t>일련번호는 개정 시마다 새로 부여되므로, 번호만 확인하면 원문 대조가 불필요함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402336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3.</a:t>
            </a:r>
          </a:p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5394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30" b="1">
                <a:solidFill>
                  <a:srgbClr val="737373"/>
                </a:solidFill>
                <a:latin typeface="프리텐다드 Bold"/>
              </a:rPr>
              <a:t>3.2 조문 위치 확정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1792224"/>
            <a:ext cx="1417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52" b="1">
                <a:solidFill>
                  <a:srgbClr val="333333"/>
                </a:solidFill>
                <a:latin typeface="프리텐다드 Bold"/>
              </a:rPr>
              <a:t>변경 문장의 조·항·호 위치 판별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864" y="2670048"/>
            <a:ext cx="1508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0">
                <a:solidFill>
                  <a:srgbClr val="333333"/>
                </a:solidFill>
                <a:latin typeface="프리텐다드"/>
              </a:rPr>
              <a:t>대조 자료에는 변경 문장만 있고 위치 정보가 없어, 전문에서 역으로 찾아야 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" y="3794760"/>
            <a:ext cx="6583680" cy="251460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609344" y="40233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737373"/>
                </a:solidFill>
                <a:latin typeface="프리텐다드 Bold"/>
              </a:rPr>
              <a:t>법제처 개정 전·후 대조 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9344" y="452628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000000"/>
                </a:solidFill>
                <a:latin typeface="프리텐다드"/>
              </a:rPr>
              <a:t>개정 전   기획재정부장관, 행정안전부장관 …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000000"/>
                </a:solidFill>
                <a:latin typeface="프리텐다드"/>
              </a:rPr>
              <a:t>개정 후   행정안전부장관, 기획예산처장관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9344" y="5577840"/>
            <a:ext cx="3291840" cy="50292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37360" y="5577840"/>
            <a:ext cx="303580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>
                <a:solidFill>
                  <a:srgbClr val="C0392B"/>
                </a:solidFill>
                <a:latin typeface="프리텐다드 Bold"/>
              </a:rPr>
              <a:t>조·항 위치 정보 없음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55279" y="5029200"/>
            <a:ext cx="1874521" cy="0"/>
          </a:xfrm>
          <a:prstGeom prst="line">
            <a:avLst/>
          </a:prstGeom>
          <a:ln w="38100">
            <a:solidFill>
              <a:srgbClr val="484BE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8120" y="5138928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>
                <a:solidFill>
                  <a:srgbClr val="484BEF"/>
                </a:solidFill>
                <a:latin typeface="프리텐다드"/>
              </a:rPr>
              <a:t>전문에서 역탐색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12680" y="3794760"/>
            <a:ext cx="7086600" cy="251460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424160" y="402336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737373"/>
                </a:solidFill>
                <a:latin typeface="프리텐다드 Bold"/>
              </a:rPr>
              <a:t>법령 전문 — 조·항·호로 구분됨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4526280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000000"/>
                </a:solidFill>
                <a:latin typeface="프리텐다드"/>
              </a:rPr>
              <a:t>제10조</a:t>
            </a:r>
          </a:p>
          <a:p>
            <a:pPr algn="l">
              <a:lnSpc>
                <a:spcPct val="125000"/>
              </a:lnSpc>
            </a:pPr>
            <a:r>
              <a:rPr sz="1550" b="0">
                <a:solidFill>
                  <a:srgbClr val="000000"/>
                </a:solidFill>
                <a:latin typeface="프리텐다드"/>
              </a:rPr>
              <a:t>     ①  …</a:t>
            </a:r>
          </a:p>
          <a:p>
            <a:pPr algn="l">
              <a:lnSpc>
                <a:spcPct val="125000"/>
              </a:lnSpc>
            </a:pPr>
            <a:r>
              <a:rPr sz="1550" b="0">
                <a:solidFill>
                  <a:srgbClr val="000000"/>
                </a:solidFill>
                <a:latin typeface="프리텐다드"/>
              </a:rPr>
              <a:t>     ②  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24160" y="5577840"/>
            <a:ext cx="6217920" cy="530352"/>
          </a:xfrm>
          <a:prstGeom prst="roundRect">
            <a:avLst>
              <a:gd name="adj" fmla="val 14000"/>
            </a:avLst>
          </a:prstGeom>
          <a:solidFill>
            <a:srgbClr val="EE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552176" y="5577840"/>
            <a:ext cx="59618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>
                <a:solidFill>
                  <a:srgbClr val="484BEF"/>
                </a:solidFill>
                <a:latin typeface="프리텐다드 Bold"/>
              </a:rPr>
              <a:t>③  1. 기획재정부장관, 행정안전부장관 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97864" y="6766560"/>
            <a:ext cx="4892040" cy="1188720"/>
          </a:xfrm>
          <a:prstGeom prst="roundRect">
            <a:avLst>
              <a:gd name="adj" fmla="val 14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25880" y="6766560"/>
            <a:ext cx="4636007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1단계   표기·띄어쓰기 통일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개정문 영역 제외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81344" y="7360920"/>
            <a:ext cx="457200" cy="0"/>
          </a:xfrm>
          <a:prstGeom prst="line">
            <a:avLst/>
          </a:prstGeom>
          <a:ln w="25400">
            <a:solidFill>
              <a:srgbClr val="888C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29983" y="6766560"/>
            <a:ext cx="4892040" cy="1188720"/>
          </a:xfrm>
          <a:prstGeom prst="roundRect">
            <a:avLst>
              <a:gd name="adj" fmla="val 14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57999" y="6766560"/>
            <a:ext cx="4636007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2단계   여러 곳 일치 시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항·호 분할 · 번호 결합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713463" y="7360920"/>
            <a:ext cx="457200" cy="0"/>
          </a:xfrm>
          <a:prstGeom prst="line">
            <a:avLst/>
          </a:prstGeom>
          <a:ln w="25400">
            <a:solidFill>
              <a:srgbClr val="888C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2262104" y="6766560"/>
            <a:ext cx="4892040" cy="1188720"/>
          </a:xfrm>
          <a:prstGeom prst="roundRect">
            <a:avLst>
              <a:gd name="adj" fmla="val 14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390120" y="6766560"/>
            <a:ext cx="4636007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3단계   좁혀지지 않으면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사유와 함께 미확정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64408" y="8750808"/>
            <a:ext cx="11759184" cy="566928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538728" y="8750808"/>
            <a:ext cx="112105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47" b="0">
                <a:solidFill>
                  <a:srgbClr val="000000"/>
                </a:solidFill>
                <a:latin typeface="프리텐다드"/>
              </a:rPr>
              <a:t>표기 6종 · 띄어쓰기 · 중복 일치를 보정하여 변경 1,073건 중 96.2% 확정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402336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3.</a:t>
            </a:r>
          </a:p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5394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30" b="1">
                <a:solidFill>
                  <a:srgbClr val="737373"/>
                </a:solidFill>
                <a:latin typeface="프리텐다드 Bold"/>
              </a:rPr>
              <a:t>3.3 단일 LLM 적용의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1792224"/>
            <a:ext cx="1417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52" b="1">
                <a:solidFill>
                  <a:srgbClr val="333333"/>
                </a:solidFill>
                <a:latin typeface="프리텐다드 Bold"/>
              </a:rPr>
              <a:t>구조 변경 오판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864" y="2670048"/>
            <a:ext cx="1508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0">
                <a:solidFill>
                  <a:srgbClr val="333333"/>
                </a:solidFill>
                <a:latin typeface="프리텐다드"/>
              </a:rPr>
              <a:t>항 신설 시 후속 항이 밀리나, 법제처 대조 자료는 이를 구분하지 않음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" y="3931920"/>
            <a:ext cx="15910559" cy="1554480"/>
          </a:xfrm>
          <a:prstGeom prst="roundRect">
            <a:avLst>
              <a:gd name="adj" fmla="val 3000"/>
            </a:avLst>
          </a:prstGeom>
          <a:solidFill>
            <a:srgbClr val="EE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97864" y="393192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333333"/>
                </a:solidFill>
                <a:latin typeface="프리텐다드 Bold"/>
              </a:rPr>
              <a:t>  “제47조제4항이 신설되었습니다”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0" y="3931920"/>
            <a:ext cx="438912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3600" b="1">
                <a:solidFill>
                  <a:srgbClr val="C0392B"/>
                </a:solidFill>
                <a:latin typeface="프리텐다드 Bold"/>
              </a:rPr>
              <a:t>오류 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97864" y="5806440"/>
            <a:ext cx="7635240" cy="242316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00784" y="6126480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1">
                <a:solidFill>
                  <a:srgbClr val="484BEF"/>
                </a:solidFill>
                <a:latin typeface="프리텐다드 Bold"/>
              </a:rPr>
              <a:t>실제 대응 관계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6720840"/>
            <a:ext cx="6675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000000"/>
                </a:solidFill>
                <a:latin typeface="프리텐다드"/>
              </a:rPr>
              <a:t>구①  →  신②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000000"/>
                </a:solidFill>
                <a:latin typeface="프리텐다드"/>
              </a:rPr>
              <a:t>구②  →  신④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000000"/>
                </a:solidFill>
                <a:latin typeface="프리텐다드"/>
              </a:rPr>
              <a:t>신①③ 만 실제 신설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5806440"/>
            <a:ext cx="7635240" cy="242316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0" y="6126480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1">
                <a:solidFill>
                  <a:srgbClr val="484BEF"/>
                </a:solidFill>
                <a:latin typeface="프리텐다드 Bold"/>
              </a:rPr>
              <a:t>대조 자료 라벨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720840"/>
            <a:ext cx="6675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000000"/>
                </a:solidFill>
                <a:latin typeface="프리텐다드"/>
              </a:rPr>
              <a:t>신④  =  “신설”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000000"/>
                </a:solidFill>
                <a:latin typeface="프리텐다드"/>
              </a:rPr>
              <a:t>신②  =  “개정”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000000"/>
                </a:solidFill>
                <a:latin typeface="프리텐다드"/>
              </a:rPr>
              <a:t>자리 순서로만 짝지음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4408" y="8750808"/>
            <a:ext cx="11759184" cy="566928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38728" y="8750808"/>
            <a:ext cx="112105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47" b="0">
                <a:solidFill>
                  <a:srgbClr val="000000"/>
                </a:solidFill>
                <a:latin typeface="프리텐다드"/>
              </a:rPr>
              <a:t>밀려난 조항을 신설로 보고할 경우, 없던 의무·처벌 조항이 생긴 것으로 오인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402336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3.</a:t>
            </a:r>
          </a:p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5394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30" b="1">
                <a:solidFill>
                  <a:srgbClr val="737373"/>
                </a:solidFill>
                <a:latin typeface="프리텐다드 Bold"/>
              </a:rPr>
              <a:t>3.4 에이전트 도입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1792224"/>
            <a:ext cx="1417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52" b="1">
                <a:solidFill>
                  <a:srgbClr val="333333"/>
                </a:solidFill>
                <a:latin typeface="프리텐다드 Bold"/>
              </a:rPr>
              <a:t>한 번의 호출에 겹치는 네 가지 판단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864" y="2670048"/>
            <a:ext cx="1508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0">
                <a:solidFill>
                  <a:srgbClr val="333333"/>
                </a:solidFill>
                <a:latin typeface="프리텐다드"/>
              </a:rPr>
              <a:t>성격이 다른 판단이 한 곳에 모여 있어, 오류가 나도 원인을 분리할 수 없음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" y="3840480"/>
            <a:ext cx="7635240" cy="438912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700784" y="411480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737373"/>
                </a:solidFill>
                <a:latin typeface="프리텐다드 Bold"/>
              </a:rPr>
              <a:t>단일 호출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00784" y="4617720"/>
            <a:ext cx="6629400" cy="566928"/>
          </a:xfrm>
          <a:prstGeom prst="roundRect">
            <a:avLst>
              <a:gd name="adj" fmla="val 14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828800" y="4617720"/>
            <a:ext cx="63733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원문에서 변경 지점 탐색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00784" y="5330952"/>
            <a:ext cx="6629400" cy="566928"/>
          </a:xfrm>
          <a:prstGeom prst="roundRect">
            <a:avLst>
              <a:gd name="adj" fmla="val 14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828800" y="5330952"/>
            <a:ext cx="63733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어느 항이 어디로 갔는지 판단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00784" y="6044183"/>
            <a:ext cx="6629400" cy="566928"/>
          </a:xfrm>
          <a:prstGeom prst="roundRect">
            <a:avLst>
              <a:gd name="adj" fmla="val 14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828800" y="6044183"/>
            <a:ext cx="63733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업무 문장으로 표현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00784" y="6757416"/>
            <a:ext cx="6629400" cy="566928"/>
          </a:xfrm>
          <a:prstGeom prst="roundRect">
            <a:avLst>
              <a:gd name="adj" fmla="val 14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28800" y="6757416"/>
            <a:ext cx="63733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사실 여부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00784" y="7543800"/>
            <a:ext cx="6629400" cy="50292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828800" y="7543800"/>
            <a:ext cx="63733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50" b="1">
                <a:solidFill>
                  <a:srgbClr val="C0392B"/>
                </a:solidFill>
                <a:latin typeface="프리텐다드 Bold"/>
              </a:rPr>
              <a:t>어느 판단에서 틀렸는지 알 수 없음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06840" y="5989320"/>
            <a:ext cx="365760" cy="0"/>
          </a:xfrm>
          <a:prstGeom prst="line">
            <a:avLst/>
          </a:prstGeom>
          <a:ln w="38100">
            <a:solidFill>
              <a:srgbClr val="484BE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464040" y="3840480"/>
            <a:ext cx="7635240" cy="4389120"/>
          </a:xfrm>
          <a:prstGeom prst="roundRect">
            <a:avLst>
              <a:gd name="adj" fmla="val 3000"/>
            </a:avLst>
          </a:prstGeom>
          <a:solidFill>
            <a:srgbClr val="EE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966960" y="411480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484BEF"/>
                </a:solidFill>
                <a:latin typeface="프리텐다드 Bold"/>
              </a:rPr>
              <a:t>역할 분리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4617720"/>
            <a:ext cx="6629400" cy="6766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287000" y="4617720"/>
            <a:ext cx="23317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84BEF"/>
                </a:solidFill>
                <a:latin typeface="프리텐다드 Bold"/>
              </a:rPr>
              <a:t>사실을 정하는 판단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0" y="4617720"/>
            <a:ext cx="37033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000000"/>
                </a:solidFill>
                <a:latin typeface="프리텐다드"/>
              </a:rPr>
              <a:t>규칙으로 이관 — 감지 · 위치 · 검증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5440680"/>
            <a:ext cx="6629400" cy="6766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287000" y="5440680"/>
            <a:ext cx="23317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84BEF"/>
                </a:solidFill>
                <a:latin typeface="프리텐다드 Bold"/>
              </a:rPr>
              <a:t>문장을 쓰는 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0160" y="5440680"/>
            <a:ext cx="37033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000000"/>
                </a:solidFill>
                <a:latin typeface="프리텐다드"/>
              </a:rPr>
              <a:t>역할별 에이전트로 분리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6263640"/>
            <a:ext cx="6629400" cy="6766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287000" y="6263640"/>
            <a:ext cx="23317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84BEF"/>
                </a:solidFill>
                <a:latin typeface="프리텐다드 Bold"/>
              </a:rPr>
              <a:t>각 에이전트의 입력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10160" y="6263640"/>
            <a:ext cx="37033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000000"/>
                </a:solidFill>
                <a:latin typeface="프리텐다드"/>
              </a:rPr>
              <a:t>그 일에 필요한 자료만 전달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7086600"/>
            <a:ext cx="6629400" cy="6766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287000" y="7086600"/>
            <a:ext cx="23317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84BEF"/>
                </a:solidFill>
                <a:latin typeface="프리텐다드 Bold"/>
              </a:rPr>
              <a:t>단계별 산출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710160" y="7086600"/>
            <a:ext cx="37033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000000"/>
                </a:solidFill>
                <a:latin typeface="프리텐다드"/>
              </a:rPr>
              <a:t>어느 단계에서 어긋났는지 확인 가능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64408" y="8750808"/>
            <a:ext cx="11759184" cy="566928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538728" y="8750808"/>
            <a:ext cx="112105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47" b="0">
                <a:solidFill>
                  <a:srgbClr val="000000"/>
                </a:solidFill>
                <a:latin typeface="프리텐다드"/>
              </a:rPr>
              <a:t>사실 판단은 규칙으로 옮기고, 문장 작성만 역할별 에이전트로 나눔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402336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3.</a:t>
            </a:r>
          </a:p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5394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30" b="1">
                <a:solidFill>
                  <a:srgbClr val="737373"/>
                </a:solidFill>
                <a:latin typeface="프리텐다드 Bold"/>
              </a:rPr>
              <a:t>3.5 멀티 에이전트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1792224"/>
            <a:ext cx="1417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52" b="1">
                <a:solidFill>
                  <a:srgbClr val="333333"/>
                </a:solidFill>
                <a:latin typeface="프리텐다드 Bold"/>
              </a:rPr>
              <a:t>역할별 3개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864" y="2670048"/>
            <a:ext cx="1508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0">
                <a:solidFill>
                  <a:srgbClr val="333333"/>
                </a:solidFill>
                <a:latin typeface="프리텐다드"/>
              </a:rPr>
              <a:t>각 에이전트는 자기 일에 필요한 자료만 받아 하나의 산출물을 생성함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" y="3794760"/>
            <a:ext cx="4892040" cy="452628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17904" y="4041648"/>
            <a:ext cx="566928" cy="566928"/>
          </a:xfrm>
          <a:prstGeom prst="ellipse">
            <a:avLst/>
          </a:prstGeom>
          <a:solidFill>
            <a:srgbClr val="484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7904" y="40416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프리텐다드 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3704" y="4041648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484BEF"/>
                </a:solidFill>
                <a:latin typeface="프리텐다드 Bold"/>
              </a:rPr>
              <a:t>신설·이동 판정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3624" y="484632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37373"/>
                </a:solidFill>
                <a:latin typeface="프리텐다드"/>
              </a:rPr>
              <a:t>입력</a:t>
            </a:r>
          </a:p>
        </p:txBody>
      </p:sp>
      <p:sp>
        <p:nvSpPr>
          <p:cNvPr id="11" name="Document 10"/>
          <p:cNvSpPr/>
          <p:nvPr/>
        </p:nvSpPr>
        <p:spPr>
          <a:xfrm>
            <a:off x="1563624" y="5138928"/>
            <a:ext cx="4160520" cy="658368"/>
          </a:xfrm>
          <a:prstGeom prst="flowChartDocument">
            <a:avLst/>
          </a:prstGeom>
          <a:solidFill>
            <a:srgbClr val="FDEEE4"/>
          </a:solidFill>
          <a:ln w="12700">
            <a:solidFill>
              <a:srgbClr val="E0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73352" y="5138928"/>
            <a:ext cx="394106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50" b="0">
                <a:solidFill>
                  <a:srgbClr val="000000"/>
                </a:solidFill>
                <a:latin typeface="프리텐다드"/>
              </a:rPr>
              <a:t>개정 전·후 항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39312" y="5852160"/>
            <a:ext cx="0" cy="292608"/>
          </a:xfrm>
          <a:prstGeom prst="line">
            <a:avLst/>
          </a:prstGeom>
          <a:ln w="25400">
            <a:solidFill>
              <a:srgbClr val="888C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63624" y="6181344"/>
            <a:ext cx="4160520" cy="914400"/>
          </a:xfrm>
          <a:prstGeom prst="roundRect">
            <a:avLst>
              <a:gd name="adj" fmla="val 14000"/>
            </a:avLst>
          </a:prstGeom>
          <a:solidFill>
            <a:srgbClr val="EE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691640" y="6181344"/>
            <a:ext cx="3904487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0">
                <a:solidFill>
                  <a:srgbClr val="484BEF"/>
                </a:solidFill>
                <a:latin typeface="프리텐다드"/>
              </a:rPr>
              <a:t>개정 전 항이 개정 후</a:t>
            </a:r>
          </a:p>
          <a:p>
            <a:pPr algn="ctr">
              <a:lnSpc>
                <a:spcPct val="125000"/>
              </a:lnSpc>
            </a:pPr>
            <a:r>
              <a:rPr sz="1450" b="0">
                <a:solidFill>
                  <a:srgbClr val="484BEF"/>
                </a:solidFill>
                <a:latin typeface="프리텐다드"/>
              </a:rPr>
              <a:t>어디에 대응하는지 대조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39312" y="7132320"/>
            <a:ext cx="0" cy="292607"/>
          </a:xfrm>
          <a:prstGeom prst="line">
            <a:avLst/>
          </a:prstGeom>
          <a:ln w="25400">
            <a:solidFill>
              <a:srgbClr val="888C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63624" y="740664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37373"/>
                </a:solidFill>
                <a:latin typeface="프리텐다드"/>
              </a:rPr>
              <a:t>출력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63624" y="7680960"/>
            <a:ext cx="4160520" cy="502920"/>
          </a:xfrm>
          <a:prstGeom prst="roundRect">
            <a:avLst>
              <a:gd name="adj" fmla="val 14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691640" y="7680960"/>
            <a:ext cx="390448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00000"/>
                </a:solidFill>
                <a:latin typeface="프리텐다드 Bold"/>
              </a:rPr>
              <a:t>신설 · 이동 · 삭제 구분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81344" y="6035040"/>
            <a:ext cx="457200" cy="0"/>
          </a:xfrm>
          <a:prstGeom prst="line">
            <a:avLst/>
          </a:prstGeom>
          <a:ln w="31750">
            <a:solidFill>
              <a:srgbClr val="484BE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29983" y="3794760"/>
            <a:ext cx="4892040" cy="452628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050023" y="4041648"/>
            <a:ext cx="566928" cy="566928"/>
          </a:xfrm>
          <a:prstGeom prst="ellipse">
            <a:avLst/>
          </a:prstGeom>
          <a:solidFill>
            <a:srgbClr val="484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0023" y="40416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프리텐다드 Bold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3" y="4041648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484BEF"/>
                </a:solidFill>
                <a:latin typeface="프리텐다드 Bold"/>
              </a:rPr>
              <a:t>조문 요약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744" y="484632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37373"/>
                </a:solidFill>
                <a:latin typeface="프리텐다드"/>
              </a:rPr>
              <a:t>입력</a:t>
            </a:r>
          </a:p>
        </p:txBody>
      </p:sp>
      <p:sp>
        <p:nvSpPr>
          <p:cNvPr id="26" name="Document 25"/>
          <p:cNvSpPr/>
          <p:nvPr/>
        </p:nvSpPr>
        <p:spPr>
          <a:xfrm>
            <a:off x="7095744" y="5138928"/>
            <a:ext cx="4160520" cy="658368"/>
          </a:xfrm>
          <a:prstGeom prst="flowChartDocument">
            <a:avLst/>
          </a:prstGeom>
          <a:solidFill>
            <a:srgbClr val="FDEEE4"/>
          </a:solidFill>
          <a:ln w="12700">
            <a:solidFill>
              <a:srgbClr val="E0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5472" y="5138928"/>
            <a:ext cx="394106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50" b="0">
                <a:solidFill>
                  <a:srgbClr val="000000"/>
                </a:solidFill>
                <a:latin typeface="프리텐다드"/>
              </a:rPr>
              <a:t>확정된 변경 부분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71432" y="5852160"/>
            <a:ext cx="0" cy="292608"/>
          </a:xfrm>
          <a:prstGeom prst="line">
            <a:avLst/>
          </a:prstGeom>
          <a:ln w="25400">
            <a:solidFill>
              <a:srgbClr val="888C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095744" y="6181344"/>
            <a:ext cx="4160520" cy="914400"/>
          </a:xfrm>
          <a:prstGeom prst="roundRect">
            <a:avLst>
              <a:gd name="adj" fmla="val 14000"/>
            </a:avLst>
          </a:prstGeom>
          <a:solidFill>
            <a:srgbClr val="EE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223759" y="6181344"/>
            <a:ext cx="3904487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0">
                <a:solidFill>
                  <a:srgbClr val="484BEF"/>
                </a:solidFill>
                <a:latin typeface="프리텐다드"/>
              </a:rPr>
              <a:t>확정된 조각만 받아</a:t>
            </a:r>
          </a:p>
          <a:p>
            <a:pPr algn="ctr">
              <a:lnSpc>
                <a:spcPct val="125000"/>
              </a:lnSpc>
            </a:pPr>
            <a:r>
              <a:rPr sz="1450" b="0">
                <a:solidFill>
                  <a:srgbClr val="484BEF"/>
                </a:solidFill>
                <a:latin typeface="프리텐다드"/>
              </a:rPr>
              <a:t>한 문장으로 정리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71432" y="7132320"/>
            <a:ext cx="0" cy="292607"/>
          </a:xfrm>
          <a:prstGeom prst="line">
            <a:avLst/>
          </a:prstGeom>
          <a:ln w="25400">
            <a:solidFill>
              <a:srgbClr val="888C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95744" y="740664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37373"/>
                </a:solidFill>
                <a:latin typeface="프리텐다드"/>
              </a:rPr>
              <a:t>출력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95744" y="7680960"/>
            <a:ext cx="4160520" cy="502920"/>
          </a:xfrm>
          <a:prstGeom prst="roundRect">
            <a:avLst>
              <a:gd name="adj" fmla="val 14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223759" y="7680960"/>
            <a:ext cx="390448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00000"/>
                </a:solidFill>
                <a:latin typeface="프리텐다드 Bold"/>
              </a:rPr>
              <a:t>조문마다 한 문장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713463" y="6035040"/>
            <a:ext cx="457200" cy="0"/>
          </a:xfrm>
          <a:prstGeom prst="line">
            <a:avLst/>
          </a:prstGeom>
          <a:ln w="31750">
            <a:solidFill>
              <a:srgbClr val="484BE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2262104" y="3794760"/>
            <a:ext cx="4892040" cy="452628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12582144" y="4041648"/>
            <a:ext cx="566928" cy="566928"/>
          </a:xfrm>
          <a:prstGeom prst="ellipse">
            <a:avLst/>
          </a:prstGeom>
          <a:solidFill>
            <a:srgbClr val="484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582144" y="40416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프리텐다드 Bold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67944" y="4041648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484BEF"/>
                </a:solidFill>
                <a:latin typeface="프리텐다드 Bold"/>
              </a:rPr>
              <a:t>법령 요약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27864" y="484632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37373"/>
                </a:solidFill>
                <a:latin typeface="프리텐다드"/>
              </a:rPr>
              <a:t>입력</a:t>
            </a:r>
          </a:p>
        </p:txBody>
      </p:sp>
      <p:sp>
        <p:nvSpPr>
          <p:cNvPr id="41" name="Document 40"/>
          <p:cNvSpPr/>
          <p:nvPr/>
        </p:nvSpPr>
        <p:spPr>
          <a:xfrm>
            <a:off x="12627864" y="5138928"/>
            <a:ext cx="4160520" cy="658368"/>
          </a:xfrm>
          <a:prstGeom prst="flowChartDocument">
            <a:avLst/>
          </a:prstGeom>
          <a:solidFill>
            <a:srgbClr val="FDEEE4"/>
          </a:solidFill>
          <a:ln w="12700">
            <a:solidFill>
              <a:srgbClr val="E0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737592" y="5138928"/>
            <a:ext cx="394106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50" b="0">
                <a:solidFill>
                  <a:srgbClr val="000000"/>
                </a:solidFill>
                <a:latin typeface="프리텐다드"/>
              </a:rPr>
              <a:t>조문 요약 전체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703551" y="5852160"/>
            <a:ext cx="0" cy="292608"/>
          </a:xfrm>
          <a:prstGeom prst="line">
            <a:avLst/>
          </a:prstGeom>
          <a:ln w="25400">
            <a:solidFill>
              <a:srgbClr val="888C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2627864" y="6181344"/>
            <a:ext cx="4160520" cy="914400"/>
          </a:xfrm>
          <a:prstGeom prst="roundRect">
            <a:avLst>
              <a:gd name="adj" fmla="val 14000"/>
            </a:avLst>
          </a:prstGeom>
          <a:solidFill>
            <a:srgbClr val="EE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2755880" y="6181344"/>
            <a:ext cx="3904487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0">
                <a:solidFill>
                  <a:srgbClr val="484BEF"/>
                </a:solidFill>
                <a:latin typeface="프리텐다드"/>
              </a:rPr>
              <a:t>조문 요약을 모아</a:t>
            </a:r>
          </a:p>
          <a:p>
            <a:pPr algn="ctr">
              <a:lnSpc>
                <a:spcPct val="125000"/>
              </a:lnSpc>
            </a:pPr>
            <a:r>
              <a:rPr sz="1450" b="0">
                <a:solidFill>
                  <a:srgbClr val="484BEF"/>
                </a:solidFill>
                <a:latin typeface="프리텐다드"/>
              </a:rPr>
              <a:t>개정 취지를 정리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4703551" y="7132320"/>
            <a:ext cx="0" cy="292607"/>
          </a:xfrm>
          <a:prstGeom prst="line">
            <a:avLst/>
          </a:prstGeom>
          <a:ln w="25400">
            <a:solidFill>
              <a:srgbClr val="888C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2627864" y="740664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37373"/>
                </a:solidFill>
                <a:latin typeface="프리텐다드"/>
              </a:rPr>
              <a:t>출력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627864" y="7680960"/>
            <a:ext cx="4160520" cy="502920"/>
          </a:xfrm>
          <a:prstGeom prst="roundRect">
            <a:avLst>
              <a:gd name="adj" fmla="val 14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2755880" y="7680960"/>
            <a:ext cx="390448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00000"/>
                </a:solidFill>
                <a:latin typeface="프리텐다드 Bold"/>
              </a:rPr>
              <a:t>법령마다 취지 한 문단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64408" y="8750808"/>
            <a:ext cx="11759184" cy="566928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538728" y="8750808"/>
            <a:ext cx="112105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47" b="0">
                <a:solidFill>
                  <a:srgbClr val="000000"/>
                </a:solidFill>
                <a:latin typeface="프리텐다드"/>
              </a:rPr>
              <a:t>개정 752건 중 191건(25%)은 기관 명칭 변경으로, 규칙 선별 후 LLM 미호출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402336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3.</a:t>
            </a:r>
          </a:p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5394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30" b="1">
                <a:solidFill>
                  <a:srgbClr val="737373"/>
                </a:solidFill>
                <a:latin typeface="프리텐다드 Bold"/>
              </a:rPr>
              <a:t>3.6 자체 검증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1792224"/>
            <a:ext cx="1417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52" b="1">
                <a:solidFill>
                  <a:srgbClr val="333333"/>
                </a:solidFill>
                <a:latin typeface="프리텐다드 Bold"/>
              </a:rPr>
              <a:t>규칙 기반 원문 대조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864" y="2670048"/>
            <a:ext cx="1508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0">
                <a:solidFill>
                  <a:srgbClr val="333333"/>
                </a:solidFill>
                <a:latin typeface="프리텐다드"/>
              </a:rPr>
              <a:t>요약이 원문과 어긋나는 두 유형을 규칙으로 걸러 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" y="3931920"/>
            <a:ext cx="7726679" cy="214884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655064" y="4224528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1">
                <a:solidFill>
                  <a:srgbClr val="484BEF"/>
                </a:solidFill>
                <a:latin typeface="프리텐다드 Bold"/>
              </a:rPr>
              <a:t>유형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5064" y="4800600"/>
            <a:ext cx="6766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000000"/>
                </a:solidFill>
                <a:latin typeface="프리텐다드"/>
              </a:rPr>
              <a:t>요약에 나온 번호 · 수치 · 표현이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000000"/>
                </a:solidFill>
                <a:latin typeface="프리텐다드"/>
              </a:rPr>
              <a:t>원문에 존재하지 않는 경우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81744" y="3931920"/>
            <a:ext cx="7726679" cy="214884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838944" y="4224528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1">
                <a:solidFill>
                  <a:srgbClr val="484BEF"/>
                </a:solidFill>
                <a:latin typeface="프리텐다드 Bold"/>
              </a:rPr>
              <a:t>유형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38944" y="4800600"/>
            <a:ext cx="6766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000000"/>
                </a:solidFill>
                <a:latin typeface="프리텐다드"/>
              </a:rPr>
              <a:t>개정 전 내용과 후 내용을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000000"/>
                </a:solidFill>
                <a:latin typeface="프리텐다드"/>
              </a:rPr>
              <a:t>뒤바꾸어 서술한 경우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97864" y="6400800"/>
            <a:ext cx="15910559" cy="1874519"/>
          </a:xfrm>
          <a:prstGeom prst="roundRect">
            <a:avLst>
              <a:gd name="adj" fmla="val 3000"/>
            </a:avLst>
          </a:prstGeom>
          <a:solidFill>
            <a:srgbClr val="EE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700784" y="6675120"/>
            <a:ext cx="1490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1">
                <a:solidFill>
                  <a:srgbClr val="484BEF"/>
                </a:solidFill>
                <a:latin typeface="프리텐다드 Bold"/>
              </a:rPr>
              <a:t>설계 판단 — LLM 감수 에이전트 미적용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7269480"/>
            <a:ext cx="14904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50" b="0">
                <a:solidFill>
                  <a:srgbClr val="000000"/>
                </a:solidFill>
                <a:latin typeface="프리텐다드"/>
              </a:rPr>
              <a:t>두 유형 모두 원문에 정답이 있으므로 규칙이 원문과 직접 대조함</a:t>
            </a:r>
          </a:p>
          <a:p>
            <a:pPr algn="l">
              <a:lnSpc>
                <a:spcPct val="135000"/>
              </a:lnSpc>
            </a:pPr>
            <a:r>
              <a:rPr sz="1850" b="0">
                <a:solidFill>
                  <a:srgbClr val="000000"/>
                </a:solidFill>
                <a:latin typeface="프리텐다드"/>
              </a:rPr>
              <a:t>LLM 감수 에이전트를 시험 후 폐기 — 정확한 요약에도 지적이 발생하여 오류 구분이 흐려짐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4408" y="8750808"/>
            <a:ext cx="11759184" cy="566928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38728" y="8750808"/>
            <a:ext cx="112105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47" b="0">
                <a:solidFill>
                  <a:srgbClr val="000000"/>
                </a:solidFill>
                <a:latin typeface="프리텐다드"/>
              </a:rPr>
              <a:t>걸러진 문장은 반영하지 않고 해당 조문을 원문 확인 대상으로 표기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402336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4.</a:t>
            </a:r>
          </a:p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시연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5394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30" b="1">
                <a:solidFill>
                  <a:srgbClr val="737373"/>
                </a:solidFill>
                <a:latin typeface="프리텐다드 Bold"/>
              </a:rPr>
              <a:t>4.1 서비스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108960"/>
            <a:ext cx="1417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0" b="1">
                <a:solidFill>
                  <a:srgbClr val="454CDF"/>
                </a:solidFill>
                <a:latin typeface="프리텐다드 Bold"/>
              </a:rPr>
              <a:t>서비스 시연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97864" y="5303520"/>
            <a:ext cx="3611880" cy="292608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563624" y="56235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454CDF"/>
                </a:solidFill>
                <a:latin typeface="프리텐다드 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3624" y="62179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33333"/>
                </a:solidFill>
                <a:latin typeface="프리텐다드 Bold"/>
              </a:rPr>
              <a:t>개정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3624" y="690372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이번 주 개정 법령과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조문별 개정 전·후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9783" y="5303520"/>
            <a:ext cx="3611880" cy="292608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95544" y="56235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454CDF"/>
                </a:solidFill>
                <a:latin typeface="프리텐다드 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95544" y="62179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33333"/>
                </a:solidFill>
                <a:latin typeface="프리텐다드 Bold"/>
              </a:rPr>
              <a:t>전문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95544" y="690372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개정 전·후 전문을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나란히 대조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1704" y="5303520"/>
            <a:ext cx="3611880" cy="292608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427464" y="56235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454CDF"/>
                </a:solidFill>
                <a:latin typeface="프리텐다드 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7464" y="62179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33333"/>
                </a:solidFill>
                <a:latin typeface="프리텐다드 Bold"/>
              </a:rPr>
              <a:t>문서 인용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7464" y="690372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업무 문서에 인용된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감시 대상 법령 탐지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993624" y="5303520"/>
            <a:ext cx="3611880" cy="292608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359384" y="56235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454CDF"/>
                </a:solidFill>
                <a:latin typeface="프리텐다드 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9384" y="62179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33333"/>
                </a:solidFill>
                <a:latin typeface="프리텐다드 Bold"/>
              </a:rPr>
              <a:t>보고서 내려받기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9384" y="690372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기관 양식 한글(HWPX)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보고서 산출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64408" y="8750808"/>
            <a:ext cx="11759184" cy="566928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538728" y="8750808"/>
            <a:ext cx="112105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47" b="0">
                <a:solidFill>
                  <a:srgbClr val="000000"/>
                </a:solidFill>
                <a:latin typeface="프리텐다드"/>
              </a:rPr>
              <a:t>별도 프로그램 설치 없이 웹 브라우저에서 이용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402336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5.</a:t>
            </a:r>
          </a:p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5394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30" b="1">
                <a:solidFill>
                  <a:srgbClr val="737373"/>
                </a:solidFill>
                <a:latin typeface="프리텐다드 Bold"/>
              </a:rPr>
              <a:t>5.1 업무 개선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1792224"/>
            <a:ext cx="1417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52" b="1">
                <a:solidFill>
                  <a:srgbClr val="333333"/>
                </a:solidFill>
                <a:latin typeface="프리텐다드 Bold"/>
              </a:rPr>
              <a:t>소요 시간 97% 감축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864" y="2670048"/>
            <a:ext cx="1508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0">
                <a:solidFill>
                  <a:srgbClr val="333333"/>
                </a:solidFill>
                <a:latin typeface="프리텐다드"/>
              </a:rPr>
              <a:t>감시 대상 102건 기준, 담당자는 결과 검토에만 시간을 투입함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" y="3931920"/>
            <a:ext cx="15910559" cy="1920240"/>
          </a:xfrm>
          <a:prstGeom prst="roundRect">
            <a:avLst>
              <a:gd name="adj" fmla="val 3000"/>
            </a:avLst>
          </a:prstGeom>
          <a:solidFill>
            <a:srgbClr val="EE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011680" y="3931920"/>
            <a:ext cx="594360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737373"/>
                </a:solidFill>
                <a:latin typeface="프리텐다드 Bold"/>
              </a:rPr>
              <a:t>주 8시간 30분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931920"/>
            <a:ext cx="182880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333333"/>
                </a:solidFill>
                <a:latin typeface="프리텐다드 Bold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3931920"/>
            <a:ext cx="667512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5200" b="1">
                <a:solidFill>
                  <a:srgbClr val="454CDF"/>
                </a:solidFill>
                <a:latin typeface="프리텐다드 Bold"/>
              </a:rPr>
              <a:t>15분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97864" y="6172200"/>
            <a:ext cx="3611880" cy="210312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97864" y="644652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484BEF"/>
                </a:solidFill>
                <a:latin typeface="프리텐다드 Bold"/>
              </a:rPr>
              <a:t>96.2%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2184" y="722376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변경 1,073건 중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조·항·호 확정 비율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9783" y="6172200"/>
            <a:ext cx="3611880" cy="210312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129783" y="644652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484BEF"/>
                </a:solidFill>
                <a:latin typeface="프리텐다드 Bold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3" y="722376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형식 정비 191건을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규칙 선별해 LLM 미호출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1704" y="6172200"/>
            <a:ext cx="3611880" cy="210312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61704" y="644652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484BEF"/>
                </a:solidFill>
                <a:latin typeface="프리텐다드 Bold"/>
              </a:rPr>
              <a:t>102건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6024" y="722376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감시 대상 전건을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주 1회 자동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993624" y="6172200"/>
            <a:ext cx="3611880" cy="210312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993624" y="644652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484BEF"/>
                </a:solidFill>
                <a:latin typeface="프리텐다드 Bold"/>
              </a:rPr>
              <a:t>0건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67944" y="722376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누락·지연으로 인한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구법 적용 위험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64408" y="8750808"/>
            <a:ext cx="11759184" cy="566928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538728" y="8750808"/>
            <a:ext cx="112105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47" b="0">
                <a:solidFill>
                  <a:srgbClr val="000000"/>
                </a:solidFill>
                <a:latin typeface="프리텐다드"/>
              </a:rPr>
              <a:t>산정 근거 : 법령 1건당 조회·비교·기록 약 5분 가정 (102건 × 5분 ≈ 510분)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402336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5.</a:t>
            </a:r>
          </a:p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5394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30" b="1">
                <a:solidFill>
                  <a:srgbClr val="737373"/>
                </a:solidFill>
                <a:latin typeface="프리텐다드 Bold"/>
              </a:rPr>
              <a:t>5.2 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1792224"/>
            <a:ext cx="1417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52" b="1">
                <a:solidFill>
                  <a:srgbClr val="333333"/>
                </a:solidFill>
                <a:latin typeface="프리텐다드 Bold"/>
              </a:rPr>
              <a:t>표본이 아닌 전건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864" y="2670048"/>
            <a:ext cx="1508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0">
                <a:solidFill>
                  <a:srgbClr val="333333"/>
                </a:solidFill>
                <a:latin typeface="프리텐다드"/>
              </a:rPr>
              <a:t>감시 대상 102건 전건에 실행하여 수집부터 보고서 생성까지 확인함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" y="3931920"/>
            <a:ext cx="4892040" cy="429768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609344" y="42976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737373"/>
                </a:solidFill>
                <a:latin typeface="프리텐다드 Bold"/>
              </a:rPr>
              <a:t>전건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9344" y="480060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484BEF"/>
                </a:solidFill>
                <a:latin typeface="프리텐다드 Bold"/>
              </a:rPr>
              <a:t>감시 대상 102건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5623560"/>
            <a:ext cx="4114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>
                <a:solidFill>
                  <a:srgbClr val="000000"/>
                </a:solidFill>
                <a:latin typeface="프리텐다드"/>
              </a:rPr>
              <a:t>· 수집 → 감지 → 비교 → 요약 →</a:t>
            </a:r>
          </a:p>
          <a:p>
            <a:pPr algn="l">
              <a:lnSpc>
                <a:spcPct val="135000"/>
              </a:lnSpc>
            </a:pPr>
            <a:r>
              <a:rPr sz="1650" b="0">
                <a:solidFill>
                  <a:srgbClr val="000000"/>
                </a:solidFill>
                <a:latin typeface="프리텐다드"/>
              </a:rPr>
              <a:t>  검증 → 보고서 생성 전 과정</a:t>
            </a:r>
          </a:p>
          <a:p>
            <a:pPr algn="l">
              <a:lnSpc>
                <a:spcPct val="135000"/>
              </a:lnSpc>
            </a:pPr>
            <a:r>
              <a:rPr sz="1650" b="0">
                <a:solidFill>
                  <a:srgbClr val="000000"/>
                </a:solidFill>
                <a:latin typeface="프리텐다드"/>
              </a:rPr>
              <a:t>· 표본이 아니므로 대상을 넓혀도</a:t>
            </a:r>
          </a:p>
          <a:p>
            <a:pPr algn="l">
              <a:lnSpc>
                <a:spcPct val="135000"/>
              </a:lnSpc>
            </a:pPr>
            <a:r>
              <a:rPr sz="1650" b="0">
                <a:solidFill>
                  <a:srgbClr val="000000"/>
                </a:solidFill>
                <a:latin typeface="프리텐다드"/>
              </a:rPr>
              <a:t>  같은 절차가 그대로 적용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01383" y="3931920"/>
            <a:ext cx="4892040" cy="429768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912864" y="42976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737373"/>
                </a:solidFill>
                <a:latin typeface="프리텐다드 Bold"/>
              </a:rPr>
              <a:t>자동 검사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2864" y="480060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484BEF"/>
                </a:solidFill>
                <a:latin typeface="프리텐다드 Bold"/>
              </a:rPr>
              <a:t>453건 전건 통과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2864" y="5623560"/>
            <a:ext cx="4114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>
                <a:solidFill>
                  <a:srgbClr val="000000"/>
                </a:solidFill>
                <a:latin typeface="프리텐다드"/>
              </a:rPr>
              <a:t>· 조문 매칭 · 요약 검증 ·</a:t>
            </a:r>
          </a:p>
          <a:p>
            <a:pPr algn="l">
              <a:lnSpc>
                <a:spcPct val="135000"/>
              </a:lnSpc>
            </a:pPr>
            <a:r>
              <a:rPr sz="1650" b="0">
                <a:solidFill>
                  <a:srgbClr val="000000"/>
                </a:solidFill>
                <a:latin typeface="프리텐다드"/>
              </a:rPr>
              <a:t>  보고서 생성 등 단위 검사</a:t>
            </a:r>
          </a:p>
          <a:p>
            <a:pPr algn="l">
              <a:lnSpc>
                <a:spcPct val="135000"/>
              </a:lnSpc>
            </a:pPr>
            <a:r>
              <a:rPr sz="1650" b="0">
                <a:solidFill>
                  <a:srgbClr val="000000"/>
                </a:solidFill>
                <a:latin typeface="프리텐다드"/>
              </a:rPr>
              <a:t>· 회귀 검사로 재현성 확보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04904" y="3931920"/>
            <a:ext cx="4892040" cy="429768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216384" y="42976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737373"/>
                </a:solidFill>
                <a:latin typeface="프리텐다드 Bold"/>
              </a:rPr>
              <a:t>문서 인용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16384" y="480060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484BEF"/>
                </a:solidFill>
                <a:latin typeface="프리텐다드 Bold"/>
              </a:rPr>
              <a:t>3건 · 848쪽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16384" y="5623560"/>
            <a:ext cx="4114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>
                <a:solidFill>
                  <a:srgbClr val="000000"/>
                </a:solidFill>
                <a:latin typeface="프리텐다드"/>
              </a:rPr>
              <a:t>· 실제 공공 문서에 적용</a:t>
            </a:r>
          </a:p>
          <a:p>
            <a:pPr algn="l">
              <a:lnSpc>
                <a:spcPct val="135000"/>
              </a:lnSpc>
            </a:pPr>
            <a:r>
              <a:rPr sz="1650" b="0">
                <a:solidFill>
                  <a:srgbClr val="000000"/>
                </a:solidFill>
                <a:latin typeface="프리텐다드"/>
              </a:rPr>
              <a:t>· 문서별 26건 · 18건 · 10건</a:t>
            </a:r>
          </a:p>
          <a:p>
            <a:pPr algn="l">
              <a:lnSpc>
                <a:spcPct val="135000"/>
              </a:lnSpc>
            </a:pPr>
            <a:r>
              <a:rPr sz="1650" b="0">
                <a:solidFill>
                  <a:srgbClr val="000000"/>
                </a:solidFill>
                <a:latin typeface="프리텐다드"/>
              </a:rPr>
              <a:t>  인용 법령 탐지</a:t>
            </a:r>
          </a:p>
          <a:p>
            <a:pPr algn="l">
              <a:lnSpc>
                <a:spcPct val="135000"/>
              </a:lnSpc>
            </a:pPr>
            <a:r>
              <a:rPr sz="1650" b="0">
                <a:solidFill>
                  <a:srgbClr val="000000"/>
                </a:solidFill>
                <a:latin typeface="프리텐다드"/>
              </a:rPr>
              <a:t>· 표기 차이 · 이름 겹침 보정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64408" y="8750808"/>
            <a:ext cx="11759184" cy="566928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38728" y="8750808"/>
            <a:ext cx="112105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47" b="0">
                <a:solidFill>
                  <a:srgbClr val="000000"/>
                </a:solidFill>
                <a:latin typeface="프리텐다드"/>
              </a:rPr>
              <a:t>요약 문장이 어색하게 나와도 개정 사실과 조문 위치는 그대로 유지됨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402336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5.</a:t>
            </a:r>
          </a:p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5394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30" b="1">
                <a:solidFill>
                  <a:srgbClr val="737373"/>
                </a:solidFill>
                <a:latin typeface="프리텐다드 Bold"/>
              </a:rPr>
              <a:t>5.3 원내 적용 및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1792224"/>
            <a:ext cx="1417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52" b="1">
                <a:solidFill>
                  <a:srgbClr val="333333"/>
                </a:solidFill>
                <a:latin typeface="프리텐다드 Bold"/>
              </a:rPr>
              <a:t>원내 설치·운영을 전제로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864" y="2670048"/>
            <a:ext cx="1508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99" b="0">
                <a:solidFill>
                  <a:srgbClr val="333333"/>
                </a:solidFill>
                <a:latin typeface="프리텐다드"/>
              </a:rPr>
              <a:t>내부망 접속 가능 여부와 무관하게 동일한 화면과 보고서를 제공함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" y="3931920"/>
            <a:ext cx="7726679" cy="210312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655064" y="4224528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484BEF"/>
                </a:solidFill>
                <a:latin typeface="프리텐다드 Bold"/>
              </a:rPr>
              <a:t>내부망에서 접속 가능한 경우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5064" y="4800600"/>
            <a:ext cx="6766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000000"/>
                </a:solidFill>
                <a:latin typeface="프리텐다드"/>
              </a:rPr>
              <a:t>내부망에서 직접 수집하고 원내 모델로 요약하여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000000"/>
                </a:solidFill>
                <a:latin typeface="프리텐다드"/>
              </a:rPr>
              <a:t>모든 처리를 원내에서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81744" y="3931920"/>
            <a:ext cx="7726679" cy="210312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838944" y="4224528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484BEF"/>
                </a:solidFill>
                <a:latin typeface="프리텐다드 Bold"/>
              </a:rPr>
              <a:t>접속이 불가능한 경우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38944" y="4800600"/>
            <a:ext cx="6766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000000"/>
                </a:solidFill>
                <a:latin typeface="프리텐다드"/>
              </a:rPr>
              <a:t>외부망에서 수집·요약한 결과를 원내로 옮겨 열람하며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000000"/>
                </a:solidFill>
                <a:latin typeface="프리텐다드"/>
              </a:rPr>
              <a:t>화면과 보고서는 동일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97864" y="6355080"/>
            <a:ext cx="4892040" cy="192024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609344" y="65836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454CDF"/>
                </a:solidFill>
                <a:latin typeface="프리텐다드 Bold"/>
              </a:rPr>
              <a:t>모델 교체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708660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gpt-4o-mini → 원내 Qwen 3.5 122B(FP8)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호출부만 교체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01383" y="6355080"/>
            <a:ext cx="4892040" cy="192024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912864" y="65836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454CDF"/>
                </a:solidFill>
                <a:latin typeface="프리텐다드 Bold"/>
              </a:rPr>
              <a:t>감시 대상 확대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708660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대상을 프로그램이 아니라 목록 데이터로 관리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102건 밖으로 넓혀도 처리 절차 불변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04904" y="6355080"/>
            <a:ext cx="4892040" cy="192024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216384" y="65836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454CDF"/>
                </a:solidFill>
                <a:latin typeface="프리텐다드 Bold"/>
              </a:rPr>
              <a:t>타 기관 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16384" y="708660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감시 대상 목록만 바꾸어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프리텐다드"/>
              </a:rPr>
              <a:t>다른 공공기관에 적용 가능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64408" y="8750808"/>
            <a:ext cx="11759184" cy="566928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538728" y="8750808"/>
            <a:ext cx="112105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47" b="0">
                <a:solidFill>
                  <a:srgbClr val="000000"/>
                </a:solidFill>
                <a:latin typeface="프리텐다드"/>
              </a:rPr>
              <a:t>주 1회 자동 실행 외에 유지 작업이 없어 전담 인력이 필요하지 않음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402336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6.</a:t>
            </a:r>
          </a:p>
          <a:p>
            <a:pPr algn="l">
              <a:lnSpc>
                <a:spcPct val="105000"/>
              </a:lnSpc>
            </a:pPr>
            <a:r>
              <a:rPr sz="2876" b="1">
                <a:solidFill>
                  <a:srgbClr val="484BEF"/>
                </a:solidFill>
                <a:latin typeface="프리텐다드 Bold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5394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30" b="1">
                <a:solidFill>
                  <a:srgbClr val="737373"/>
                </a:solidFill>
                <a:latin typeface="프리텐다드 Bold"/>
              </a:rPr>
              <a:t>6.1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2834640"/>
            <a:ext cx="15544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333333"/>
                </a:solidFill>
                <a:latin typeface="프리텐다드 Bold"/>
              </a:rPr>
              <a:t>요약해 주는 서비스가 아니라,</a:t>
            </a:r>
          </a:p>
          <a:p>
            <a:pPr algn="l">
              <a:lnSpc>
                <a:spcPct val="130000"/>
              </a:lnSpc>
            </a:pPr>
            <a:r>
              <a:rPr sz="4400" b="1">
                <a:solidFill>
                  <a:srgbClr val="333333"/>
                </a:solidFill>
                <a:latin typeface="프리텐다드 Bold"/>
              </a:rPr>
              <a:t>틀린 요약이 나가지 않게 막는 체계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97864" y="5577840"/>
            <a:ext cx="3611880" cy="237744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563624" y="589788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484BEF"/>
                </a:solidFill>
                <a:latin typeface="프리텐다드 Bold"/>
              </a:rPr>
              <a:t>자동 감지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3624" y="653796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사람이 확인하지 않아도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개정을 포착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9783" y="5577840"/>
            <a:ext cx="3611880" cy="237744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95544" y="589788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484BEF"/>
                </a:solidFill>
                <a:latin typeface="프리텐다드 Bold"/>
              </a:rPr>
              <a:t>조문 위치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95544" y="653796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변경 1,073건 중 96.2%를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조·항·호까지 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1704" y="5577840"/>
            <a:ext cx="3611880" cy="237744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427464" y="589788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484BEF"/>
                </a:solidFill>
                <a:latin typeface="프리텐다드 Bold"/>
              </a:rPr>
              <a:t>상시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7464" y="653796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정기 실행 사이의 개정도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요청 시점에 바로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993624" y="5577840"/>
            <a:ext cx="3611880" cy="2377440"/>
          </a:xfrm>
          <a:prstGeom prst="roundRect">
            <a:avLst>
              <a:gd name="adj" fmla="val 3000"/>
            </a:avLst>
          </a:prstGeom>
          <a:solidFill>
            <a:srgbClr val="FDFDFB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359384" y="589788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484BEF"/>
                </a:solidFill>
                <a:latin typeface="프리텐다드 Bold"/>
              </a:rPr>
              <a:t>원내 운영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9384" y="653796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외부 서비스 없이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0000"/>
                </a:solidFill>
                <a:latin typeface="프리텐다드"/>
              </a:rPr>
              <a:t>원내에서 전 과정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7864" y="8412480"/>
            <a:ext cx="1554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737373"/>
                </a:solidFill>
                <a:latin typeface="프리텐다드"/>
              </a:rPr>
              <a:t>1.4 에서 세운 네 가지 조건을 모두 충족함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2601</TotalTime>
  <Words>4650</Words>
  <Application>Microsoft Office PowerPoint</Application>
  <PresentationFormat>사용자 지정</PresentationFormat>
  <Paragraphs>836</Paragraphs>
  <Slides>68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68</vt:i4>
      </vt:variant>
    </vt:vector>
  </HeadingPairs>
  <TitlesOfParts>
    <vt:vector size="75" baseType="lpstr">
      <vt:lpstr>프리텐다드</vt:lpstr>
      <vt:lpstr>맑은 고딕</vt:lpstr>
      <vt:lpstr>Calibri</vt:lpstr>
      <vt:lpstr>Pretendard SemiBold</vt:lpstr>
      <vt:lpstr>프리텐다드 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헤아림</dc:title>
  <cp:lastModifiedBy>서준원(대학원생-비즈니스IT전공)</cp:lastModifiedBy>
  <cp:revision>21</cp:revision>
  <dcterms:created xsi:type="dcterms:W3CDTF">2006-08-16T00:00:00Z</dcterms:created>
  <dcterms:modified xsi:type="dcterms:W3CDTF">2026-08-21T16:52:21Z</dcterms:modified>
  <dc:identifier>DAHMspiiMZQ</dc:identifier>
</cp:coreProperties>
</file>